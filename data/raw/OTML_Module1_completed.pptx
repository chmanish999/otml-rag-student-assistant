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9"/>
  </p:notesMasterIdLst>
  <p:sldIdLst>
    <p:sldId id="257" r:id="rId2"/>
    <p:sldId id="258" r:id="rId3"/>
    <p:sldId id="283" r:id="rId4"/>
    <p:sldId id="284" r:id="rId5"/>
    <p:sldId id="282" r:id="rId6"/>
    <p:sldId id="286" r:id="rId7"/>
    <p:sldId id="285" r:id="rId8"/>
    <p:sldId id="281" r:id="rId9"/>
    <p:sldId id="475" r:id="rId10"/>
    <p:sldId id="482" r:id="rId11"/>
    <p:sldId id="479" r:id="rId12"/>
    <p:sldId id="480" r:id="rId13"/>
    <p:sldId id="481" r:id="rId14"/>
    <p:sldId id="476" r:id="rId15"/>
    <p:sldId id="259" r:id="rId16"/>
    <p:sldId id="400" r:id="rId17"/>
    <p:sldId id="401" r:id="rId18"/>
    <p:sldId id="402" r:id="rId19"/>
    <p:sldId id="389" r:id="rId20"/>
    <p:sldId id="445" r:id="rId21"/>
    <p:sldId id="446" r:id="rId22"/>
    <p:sldId id="447" r:id="rId23"/>
    <p:sldId id="352" r:id="rId24"/>
    <p:sldId id="364" r:id="rId25"/>
    <p:sldId id="388" r:id="rId26"/>
    <p:sldId id="461" r:id="rId27"/>
    <p:sldId id="368" r:id="rId28"/>
    <p:sldId id="260" r:id="rId29"/>
    <p:sldId id="456" r:id="rId30"/>
    <p:sldId id="463" r:id="rId31"/>
    <p:sldId id="468" r:id="rId32"/>
    <p:sldId id="467" r:id="rId33"/>
    <p:sldId id="466" r:id="rId34"/>
    <p:sldId id="465" r:id="rId35"/>
    <p:sldId id="470" r:id="rId36"/>
    <p:sldId id="462" r:id="rId37"/>
    <p:sldId id="448" r:id="rId38"/>
    <p:sldId id="449" r:id="rId39"/>
    <p:sldId id="450" r:id="rId40"/>
    <p:sldId id="451" r:id="rId41"/>
    <p:sldId id="503" r:id="rId42"/>
    <p:sldId id="483" r:id="rId43"/>
    <p:sldId id="486" r:id="rId44"/>
    <p:sldId id="485" r:id="rId45"/>
    <p:sldId id="484" r:id="rId46"/>
    <p:sldId id="453" r:id="rId47"/>
    <p:sldId id="454" r:id="rId48"/>
    <p:sldId id="455" r:id="rId49"/>
    <p:sldId id="457" r:id="rId50"/>
    <p:sldId id="460" r:id="rId51"/>
    <p:sldId id="616" r:id="rId52"/>
    <p:sldId id="618" r:id="rId53"/>
    <p:sldId id="617" r:id="rId54"/>
    <p:sldId id="262" r:id="rId55"/>
    <p:sldId id="504" r:id="rId56"/>
    <p:sldId id="263" r:id="rId57"/>
    <p:sldId id="477" r:id="rId58"/>
    <p:sldId id="513" r:id="rId59"/>
    <p:sldId id="478" r:id="rId60"/>
    <p:sldId id="619" r:id="rId61"/>
    <p:sldId id="266" r:id="rId62"/>
    <p:sldId id="267" r:id="rId63"/>
    <p:sldId id="268" r:id="rId64"/>
    <p:sldId id="500" r:id="rId65"/>
    <p:sldId id="499" r:id="rId66"/>
    <p:sldId id="498" r:id="rId67"/>
    <p:sldId id="514" r:id="rId68"/>
    <p:sldId id="501" r:id="rId69"/>
    <p:sldId id="505" r:id="rId70"/>
    <p:sldId id="506" r:id="rId71"/>
    <p:sldId id="507" r:id="rId72"/>
    <p:sldId id="508" r:id="rId73"/>
    <p:sldId id="510" r:id="rId74"/>
    <p:sldId id="511" r:id="rId75"/>
    <p:sldId id="512" r:id="rId76"/>
    <p:sldId id="509" r:id="rId77"/>
    <p:sldId id="620" r:id="rId78"/>
    <p:sldId id="622" r:id="rId79"/>
    <p:sldId id="624" r:id="rId80"/>
    <p:sldId id="625" r:id="rId81"/>
    <p:sldId id="623" r:id="rId82"/>
    <p:sldId id="621" r:id="rId83"/>
    <p:sldId id="487" r:id="rId84"/>
    <p:sldId id="488" r:id="rId85"/>
    <p:sldId id="489" r:id="rId86"/>
    <p:sldId id="490" r:id="rId87"/>
    <p:sldId id="516" r:id="rId88"/>
    <p:sldId id="515" r:id="rId89"/>
    <p:sldId id="492" r:id="rId90"/>
    <p:sldId id="491" r:id="rId91"/>
    <p:sldId id="517" r:id="rId92"/>
    <p:sldId id="264" r:id="rId93"/>
    <p:sldId id="563" r:id="rId94"/>
    <p:sldId id="626" r:id="rId95"/>
    <p:sldId id="564" r:id="rId96"/>
    <p:sldId id="565" r:id="rId97"/>
    <p:sldId id="518" r:id="rId98"/>
    <p:sldId id="265" r:id="rId99"/>
    <p:sldId id="272" r:id="rId100"/>
    <p:sldId id="273" r:id="rId101"/>
    <p:sldId id="567" r:id="rId102"/>
    <p:sldId id="568" r:id="rId103"/>
    <p:sldId id="574" r:id="rId104"/>
    <p:sldId id="573" r:id="rId105"/>
    <p:sldId id="572" r:id="rId106"/>
    <p:sldId id="575" r:id="rId107"/>
    <p:sldId id="571" r:id="rId108"/>
    <p:sldId id="570" r:id="rId109"/>
    <p:sldId id="569" r:id="rId110"/>
    <p:sldId id="566" r:id="rId111"/>
    <p:sldId id="520" r:id="rId112"/>
    <p:sldId id="525" r:id="rId113"/>
    <p:sldId id="521" r:id="rId114"/>
    <p:sldId id="519" r:id="rId115"/>
    <p:sldId id="274" r:id="rId116"/>
    <p:sldId id="576" r:id="rId117"/>
    <p:sldId id="577" r:id="rId118"/>
    <p:sldId id="578" r:id="rId119"/>
    <p:sldId id="579" r:id="rId120"/>
    <p:sldId id="580" r:id="rId121"/>
    <p:sldId id="582" r:id="rId122"/>
    <p:sldId id="581" r:id="rId123"/>
    <p:sldId id="583" r:id="rId124"/>
    <p:sldId id="584" r:id="rId125"/>
    <p:sldId id="585" r:id="rId126"/>
    <p:sldId id="586" r:id="rId127"/>
    <p:sldId id="587" r:id="rId128"/>
    <p:sldId id="590" r:id="rId129"/>
    <p:sldId id="271" r:id="rId130"/>
    <p:sldId id="600" r:id="rId131"/>
    <p:sldId id="589" r:id="rId132"/>
    <p:sldId id="588" r:id="rId133"/>
    <p:sldId id="591" r:id="rId134"/>
    <p:sldId id="594" r:id="rId135"/>
    <p:sldId id="595" r:id="rId136"/>
    <p:sldId id="593" r:id="rId137"/>
    <p:sldId id="598" r:id="rId138"/>
    <p:sldId id="597" r:id="rId139"/>
    <p:sldId id="596" r:id="rId140"/>
    <p:sldId id="524" r:id="rId141"/>
    <p:sldId id="529" r:id="rId142"/>
    <p:sldId id="528" r:id="rId143"/>
    <p:sldId id="530" r:id="rId144"/>
    <p:sldId id="531" r:id="rId145"/>
    <p:sldId id="523" r:id="rId146"/>
    <p:sldId id="599" r:id="rId147"/>
    <p:sldId id="602" r:id="rId148"/>
    <p:sldId id="603" r:id="rId149"/>
    <p:sldId id="604" r:id="rId150"/>
    <p:sldId id="532" r:id="rId151"/>
    <p:sldId id="472" r:id="rId152"/>
    <p:sldId id="473" r:id="rId153"/>
    <p:sldId id="276" r:id="rId154"/>
    <p:sldId id="549" r:id="rId155"/>
    <p:sldId id="534" r:id="rId156"/>
    <p:sldId id="550" r:id="rId157"/>
    <p:sldId id="535" r:id="rId158"/>
    <p:sldId id="537" r:id="rId159"/>
    <p:sldId id="533" r:id="rId160"/>
    <p:sldId id="605" r:id="rId161"/>
    <p:sldId id="606" r:id="rId162"/>
    <p:sldId id="608" r:id="rId163"/>
    <p:sldId id="607" r:id="rId164"/>
    <p:sldId id="612" r:id="rId165"/>
    <p:sldId id="611" r:id="rId166"/>
    <p:sldId id="613" r:id="rId167"/>
    <p:sldId id="614" r:id="rId168"/>
    <p:sldId id="615" r:id="rId169"/>
    <p:sldId id="277" r:id="rId170"/>
    <p:sldId id="278" r:id="rId171"/>
    <p:sldId id="279" r:id="rId172"/>
    <p:sldId id="280" r:id="rId173"/>
    <p:sldId id="474" r:id="rId174"/>
    <p:sldId id="538" r:id="rId175"/>
    <p:sldId id="540" r:id="rId176"/>
    <p:sldId id="541" r:id="rId177"/>
    <p:sldId id="542" r:id="rId178"/>
    <p:sldId id="543" r:id="rId179"/>
    <p:sldId id="544" r:id="rId180"/>
    <p:sldId id="601" r:id="rId181"/>
    <p:sldId id="545" r:id="rId182"/>
    <p:sldId id="546" r:id="rId183"/>
    <p:sldId id="547" r:id="rId184"/>
    <p:sldId id="555" r:id="rId185"/>
    <p:sldId id="609" r:id="rId186"/>
    <p:sldId id="610" r:id="rId187"/>
    <p:sldId id="554" r:id="rId188"/>
    <p:sldId id="553" r:id="rId189"/>
    <p:sldId id="552" r:id="rId190"/>
    <p:sldId id="551" r:id="rId191"/>
    <p:sldId id="548" r:id="rId192"/>
    <p:sldId id="558" r:id="rId193"/>
    <p:sldId id="559" r:id="rId194"/>
    <p:sldId id="557" r:id="rId195"/>
    <p:sldId id="556" r:id="rId196"/>
    <p:sldId id="560" r:id="rId197"/>
    <p:sldId id="562" r:id="rId1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316" autoAdjust="0"/>
  </p:normalViewPr>
  <p:slideViewPr>
    <p:cSldViewPr snapToGrid="0">
      <p:cViewPr varScale="1">
        <p:scale>
          <a:sx n="53" d="100"/>
          <a:sy n="53" d="100"/>
        </p:scale>
        <p:origin x="117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notesMaster" Target="notesMasters/notesMaster1.xml"/><Relationship Id="rId20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039F64-48A8-40E8-AE68-66EA0882495E}"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D0F7A9-0D12-4539-BF88-C90255E31EDF}" type="slidenum">
              <a:rPr lang="en-IN" smtClean="0"/>
              <a:t>‹#›</a:t>
            </a:fld>
            <a:endParaRPr lang="en-IN"/>
          </a:p>
        </p:txBody>
      </p:sp>
    </p:spTree>
    <p:extLst>
      <p:ext uri="{BB962C8B-B14F-4D97-AF65-F5344CB8AC3E}">
        <p14:creationId xmlns:p14="http://schemas.microsoft.com/office/powerpoint/2010/main" val="1395064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D0F7A9-0D12-4539-BF88-C90255E31EDF}" type="slidenum">
              <a:rPr lang="en-IN" smtClean="0"/>
              <a:t>131</a:t>
            </a:fld>
            <a:endParaRPr lang="en-IN"/>
          </a:p>
        </p:txBody>
      </p:sp>
    </p:spTree>
    <p:extLst>
      <p:ext uri="{BB962C8B-B14F-4D97-AF65-F5344CB8AC3E}">
        <p14:creationId xmlns:p14="http://schemas.microsoft.com/office/powerpoint/2010/main" val="592940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CD5A6-F32A-C94B-F8A2-12B8964166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4E487C-01B0-5AA6-153B-2A05646854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E3B83E-BFAD-F349-BE81-BB923377ABC5}"/>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118347BC-9C6C-2B3D-6A8A-EF1F259794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216D76-7E67-69D3-865D-652904AC5B49}"/>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3997122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8442-0117-95E0-BDCB-DCD5F8FCA3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B54FEB-F0C5-D234-3C59-0495BC3E89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8F68C-9516-7DC5-62EF-94F4CA5EB8C6}"/>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2BDC9AB9-F65A-D32D-6871-915452F92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79FFCA-1A4C-BC70-E130-CC6C8044AF97}"/>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3753193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361C2-7BC1-57F6-9E76-B5CC73DAB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A0F0C7-1C88-506B-F48A-BC6668524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3ED45-EA9F-5314-6767-193D69E75768}"/>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59BEB8CA-FB25-02C5-5E55-A3A02E092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FCAF28-E3B2-05E4-6E02-8ED16C1B467F}"/>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1567389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C4A60-48A4-60C2-BAAB-920D70F7FD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9AA0DF-E52A-CAEB-50A1-1B20D76B6B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E5B89D-07FD-DD14-C704-3F45C97042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DCE18E-15C1-F712-65C8-64E4CF1296E7}"/>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6" name="Footer Placeholder 5">
            <a:extLst>
              <a:ext uri="{FF2B5EF4-FFF2-40B4-BE49-F238E27FC236}">
                <a16:creationId xmlns:a16="http://schemas.microsoft.com/office/drawing/2014/main" id="{43538BAC-7EB7-9211-6B62-52047F8C4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C3604D-238C-CA71-0C5C-D7CDB192D9EB}"/>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170117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4D3F7-D204-8930-C8FB-C4EC22AA2D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50572E-6CFE-CDF9-8F62-E4B1B7C28B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F2062-A341-8C13-037B-06EF7CE17A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43AA66-47BC-81AD-090F-809FC62A61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04956C-017D-03EF-94E2-9CFB385D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838BA7-EBB3-B9CA-BB03-B49867742697}"/>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8" name="Footer Placeholder 7">
            <a:extLst>
              <a:ext uri="{FF2B5EF4-FFF2-40B4-BE49-F238E27FC236}">
                <a16:creationId xmlns:a16="http://schemas.microsoft.com/office/drawing/2014/main" id="{83945617-4C04-02A6-3C94-DBF5E22378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79F33A-683C-DA3A-1D1D-8F6A2180E745}"/>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21463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B9F83-F01C-9FAA-3083-C60C09B4DF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D87E208-3823-EDEB-4958-C57E96E9ADAF}"/>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4" name="Footer Placeholder 3">
            <a:extLst>
              <a:ext uri="{FF2B5EF4-FFF2-40B4-BE49-F238E27FC236}">
                <a16:creationId xmlns:a16="http://schemas.microsoft.com/office/drawing/2014/main" id="{5A037F8D-B1ED-C0DE-FDB4-EEC22F7D5C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4C0E60-8002-D64D-ECCA-6FC5951A571D}"/>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2541766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8FC811-0868-628A-AFCC-544699FD380C}"/>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3" name="Footer Placeholder 2">
            <a:extLst>
              <a:ext uri="{FF2B5EF4-FFF2-40B4-BE49-F238E27FC236}">
                <a16:creationId xmlns:a16="http://schemas.microsoft.com/office/drawing/2014/main" id="{A0D6C048-BC44-687E-39B3-1DED1E7E43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83A287-D031-BB8A-F101-38EF3B4D9EAC}"/>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349826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C5383-D727-179E-72E8-571768E31D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717103-A6BC-510D-6086-EA2DABD7CD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EE5D44-C234-7493-9811-F66D93FAB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98CE0D-34D4-F9EB-168F-58D7150798EB}"/>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6" name="Footer Placeholder 5">
            <a:extLst>
              <a:ext uri="{FF2B5EF4-FFF2-40B4-BE49-F238E27FC236}">
                <a16:creationId xmlns:a16="http://schemas.microsoft.com/office/drawing/2014/main" id="{2559DFCE-6B8F-2ABC-938A-7D6813CA8F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43BF8D-EA5D-D9CC-0D16-58D3C22828F7}"/>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224547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17A2-9509-1432-6420-900794A31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B5457E-D332-E3D1-F2C6-EDD3F0930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E5EE2B-3AD7-211A-CC14-478961108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AF04ED-FA3B-4FAC-5183-0A645CB71F4E}"/>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6" name="Footer Placeholder 5">
            <a:extLst>
              <a:ext uri="{FF2B5EF4-FFF2-40B4-BE49-F238E27FC236}">
                <a16:creationId xmlns:a16="http://schemas.microsoft.com/office/drawing/2014/main" id="{C9978D44-A3BE-A26C-FC59-A338843A10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18939D-78E5-427D-6442-63819DBFABAA}"/>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870775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25CA-6846-FF7E-2780-72E42F2241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5A4EFE-E4F2-B730-28BC-A4261F4C4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18A972-4A70-D68D-4EE9-983DCB5834EB}"/>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CF1AB863-9BD0-B204-887A-2E9FCCFC2C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44A9F4-7B60-DCBA-A011-7FDDBF145A97}"/>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3921055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C334CC-DD99-4B95-0AF0-6403B48396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46724C-2864-A89A-19AB-71043F3139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29C48A-9512-697A-FBEA-B9CAA45CEBD6}"/>
              </a:ext>
            </a:extLst>
          </p:cNvPr>
          <p:cNvSpPr>
            <a:spLocks noGrp="1"/>
          </p:cNvSpPr>
          <p:nvPr>
            <p:ph type="dt" sz="half" idx="10"/>
          </p:nvPr>
        </p:nvSpPr>
        <p:spPr/>
        <p:txBody>
          <a:body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698116EC-5281-3094-0983-0E5B60D12B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A6B4BA-7367-6A84-92DB-666F1F7C2532}"/>
              </a:ext>
            </a:extLst>
          </p:cNvPr>
          <p:cNvSpPr>
            <a:spLocks noGrp="1"/>
          </p:cNvSpPr>
          <p:nvPr>
            <p:ph type="sldNum" sz="quarter" idx="12"/>
          </p:nvPr>
        </p:nvSpPr>
        <p:spPr/>
        <p:txBody>
          <a:bodyPr/>
          <a:lstStyle/>
          <a:p>
            <a:fld id="{E93819C7-5453-444B-8865-2D4C2D59EA72}" type="slidenum">
              <a:rPr lang="en-IN" smtClean="0"/>
              <a:t>‹#›</a:t>
            </a:fld>
            <a:endParaRPr lang="en-IN"/>
          </a:p>
        </p:txBody>
      </p:sp>
    </p:spTree>
    <p:extLst>
      <p:ext uri="{BB962C8B-B14F-4D97-AF65-F5344CB8AC3E}">
        <p14:creationId xmlns:p14="http://schemas.microsoft.com/office/powerpoint/2010/main" val="1036362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AB520-A39D-9E32-06C1-483394390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1D6084-A771-63B4-4012-F7138758FF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D8AC8E-9B14-C078-61AD-CE0BB8CCDC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E5E3F0-823D-45D2-BFCF-A5C47BEDFB7B}" type="datetimeFigureOut">
              <a:rPr lang="en-IN" smtClean="0"/>
              <a:t>13-04-2026</a:t>
            </a:fld>
            <a:endParaRPr lang="en-IN"/>
          </a:p>
        </p:txBody>
      </p:sp>
      <p:sp>
        <p:nvSpPr>
          <p:cNvPr id="5" name="Footer Placeholder 4">
            <a:extLst>
              <a:ext uri="{FF2B5EF4-FFF2-40B4-BE49-F238E27FC236}">
                <a16:creationId xmlns:a16="http://schemas.microsoft.com/office/drawing/2014/main" id="{58099C05-DF34-E672-1A58-84365ED02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56F157-C708-019F-3EBE-2047183B9F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819C7-5453-444B-8865-2D4C2D59EA72}" type="slidenum">
              <a:rPr lang="en-IN" smtClean="0"/>
              <a:t>‹#›</a:t>
            </a:fld>
            <a:endParaRPr lang="en-IN"/>
          </a:p>
        </p:txBody>
      </p:sp>
    </p:spTree>
    <p:extLst>
      <p:ext uri="{BB962C8B-B14F-4D97-AF65-F5344CB8AC3E}">
        <p14:creationId xmlns:p14="http://schemas.microsoft.com/office/powerpoint/2010/main" val="3309208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23B88F-E3D8-D362-544E-1DF189B42C48}"/>
              </a:ext>
            </a:extLst>
          </p:cNvPr>
          <p:cNvSpPr txBox="1"/>
          <p:nvPr/>
        </p:nvSpPr>
        <p:spPr>
          <a:xfrm>
            <a:off x="206829" y="239486"/>
            <a:ext cx="10678885" cy="5170646"/>
          </a:xfrm>
          <a:prstGeom prst="rect">
            <a:avLst/>
          </a:prstGeom>
          <a:noFill/>
        </p:spPr>
        <p:txBody>
          <a:bodyPr wrap="square">
            <a:spAutoFit/>
          </a:bodyPr>
          <a:lstStyle/>
          <a:p>
            <a:pPr lvl="0" algn="ctr"/>
            <a:endParaRPr lang="en-US" sz="3000" b="1" dirty="0">
              <a:effectLst>
                <a:outerShdw blurRad="38100" dist="38100" dir="2700000" algn="tl">
                  <a:srgbClr val="000000">
                    <a:alpha val="43137"/>
                  </a:srgbClr>
                </a:outerShdw>
              </a:effectLst>
            </a:endParaRPr>
          </a:p>
          <a:p>
            <a:pPr lvl="0" algn="ctr"/>
            <a:r>
              <a:rPr lang="en-US" sz="4500" b="1" dirty="0">
                <a:effectLst>
                  <a:outerShdw blurRad="38100" dist="38100" dir="2700000" algn="tl">
                    <a:srgbClr val="000000">
                      <a:alpha val="43137"/>
                    </a:srgbClr>
                  </a:outerShdw>
                </a:effectLst>
                <a:highlight>
                  <a:srgbClr val="00FF00"/>
                </a:highlight>
              </a:rPr>
              <a:t>A8751 – Optimization Techniques in Machine Learning</a:t>
            </a:r>
          </a:p>
          <a:p>
            <a:endParaRPr lang="en-IN" sz="3000" dirty="0"/>
          </a:p>
          <a:p>
            <a:pPr algn="ctr"/>
            <a:r>
              <a:rPr lang="en-IN" sz="3000" b="1" dirty="0"/>
              <a:t>Course Overview:</a:t>
            </a:r>
          </a:p>
          <a:p>
            <a:pPr algn="just"/>
            <a:r>
              <a:rPr lang="en-US" sz="3000" b="1" dirty="0">
                <a:highlight>
                  <a:srgbClr val="00FFFF"/>
                </a:highlight>
              </a:rPr>
              <a:t>The students will be able to understand and analyze how to deal with changing data. They will also be able to identify and interpret potential unintended effects in your project. They will understand and define procedures to operationalize and maintain your applied machine </a:t>
            </a:r>
            <a:r>
              <a:rPr lang="en-IN" sz="3000" b="1" dirty="0">
                <a:highlight>
                  <a:srgbClr val="00FFFF"/>
                </a:highlight>
              </a:rPr>
              <a:t>learning model.</a:t>
            </a:r>
            <a:endParaRPr kumimoji="0" lang="en-IN" sz="3000" b="1" i="0" u="none" strike="noStrike" kern="1200" cap="none" spc="0" normalizeH="0" baseline="0" noProof="0" dirty="0">
              <a:ln>
                <a:noFill/>
              </a:ln>
              <a:solidFill>
                <a:prstClr val="black"/>
              </a:solidFill>
              <a:effectLst/>
              <a:highlight>
                <a:srgbClr val="00FFFF"/>
              </a:highlight>
              <a:uLnTx/>
              <a:uFillTx/>
              <a:ea typeface="+mn-ea"/>
              <a:cs typeface="+mn-cs"/>
            </a:endParaRPr>
          </a:p>
        </p:txBody>
      </p:sp>
      <p:sp>
        <p:nvSpPr>
          <p:cNvPr id="7" name="TextBox 6">
            <a:extLst>
              <a:ext uri="{FF2B5EF4-FFF2-40B4-BE49-F238E27FC236}">
                <a16:creationId xmlns:a16="http://schemas.microsoft.com/office/drawing/2014/main" id="{D4B15646-C923-18C6-A8E7-CB15C5F64284}"/>
              </a:ext>
            </a:extLst>
          </p:cNvPr>
          <p:cNvSpPr txBox="1"/>
          <p:nvPr/>
        </p:nvSpPr>
        <p:spPr>
          <a:xfrm>
            <a:off x="480786" y="5698680"/>
            <a:ext cx="113538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ED7D31">
                    <a:lumMod val="75000"/>
                  </a:srgbClr>
                </a:solidFill>
                <a:effectLst/>
                <a:uLnTx/>
                <a:uFillTx/>
                <a:latin typeface="Arial Rounded MT Bold" panose="020F0704030504030204" pitchFamily="34" charset="0"/>
                <a:ea typeface="+mn-ea"/>
                <a:cs typeface="Arial" pitchFamily="34" charset="0"/>
              </a:rPr>
              <a:t>Prepared by : Manish Chhabra ,MSc. CS, MCA Gold Medalist, M. Tech. CSE,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ED7D31">
                    <a:lumMod val="75000"/>
                  </a:srgbClr>
                </a:solidFill>
                <a:effectLst/>
                <a:uLnTx/>
                <a:uFillTx/>
                <a:latin typeface="Arial Rounded MT Bold" panose="020F0704030504030204" pitchFamily="34" charset="0"/>
                <a:ea typeface="+mn-ea"/>
                <a:cs typeface="Arial" pitchFamily="34" charset="0"/>
              </a:rPr>
              <a:t>                           PhD. CSE(Cloud Computing using ML/NLP)**</a:t>
            </a:r>
            <a:endParaRPr kumimoji="0" lang="en-IN" sz="2400" b="1" i="1"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endParaRPr>
          </a:p>
        </p:txBody>
      </p:sp>
    </p:spTree>
    <p:extLst>
      <p:ext uri="{BB962C8B-B14F-4D97-AF65-F5344CB8AC3E}">
        <p14:creationId xmlns:p14="http://schemas.microsoft.com/office/powerpoint/2010/main" val="2485281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2D049-EF12-76EF-565F-0D5A56371B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E21A2C7-F6E7-7234-6498-F86B673705F6}"/>
              </a:ext>
            </a:extLst>
          </p:cNvPr>
          <p:cNvPicPr>
            <a:picLocks noChangeAspect="1"/>
          </p:cNvPicPr>
          <p:nvPr/>
        </p:nvPicPr>
        <p:blipFill>
          <a:blip r:embed="rId2"/>
          <a:stretch>
            <a:fillRect/>
          </a:stretch>
        </p:blipFill>
        <p:spPr>
          <a:xfrm>
            <a:off x="1763486" y="1110342"/>
            <a:ext cx="8305800" cy="5506627"/>
          </a:xfrm>
          <a:prstGeom prst="rect">
            <a:avLst/>
          </a:prstGeom>
        </p:spPr>
      </p:pic>
      <p:sp>
        <p:nvSpPr>
          <p:cNvPr id="5" name="TextBox 4">
            <a:extLst>
              <a:ext uri="{FF2B5EF4-FFF2-40B4-BE49-F238E27FC236}">
                <a16:creationId xmlns:a16="http://schemas.microsoft.com/office/drawing/2014/main" id="{1ACDC4A2-1E7E-CC8B-B00C-61FB380AA263}"/>
              </a:ext>
            </a:extLst>
          </p:cNvPr>
          <p:cNvSpPr txBox="1"/>
          <p:nvPr/>
        </p:nvSpPr>
        <p:spPr>
          <a:xfrm>
            <a:off x="783770" y="228600"/>
            <a:ext cx="10504715" cy="830997"/>
          </a:xfrm>
          <a:prstGeom prst="rect">
            <a:avLst/>
          </a:prstGeom>
          <a:noFill/>
        </p:spPr>
        <p:txBody>
          <a:bodyPr wrap="square" rtlCol="0">
            <a:spAutoFit/>
          </a:bodyPr>
          <a:lstStyle/>
          <a:p>
            <a:r>
              <a:rPr lang="en-US" sz="2400" b="1" dirty="0">
                <a:solidFill>
                  <a:srgbClr val="FF0000"/>
                </a:solidFill>
              </a:rPr>
              <a:t>Strong mathematical prerequisites to be clear by  the students  themselves  for understanding  this A8751 Optimization Techniques in ML  subject for all of you -</a:t>
            </a:r>
            <a:endParaRPr lang="en-IN" sz="2400" b="1" dirty="0">
              <a:solidFill>
                <a:srgbClr val="FF0000"/>
              </a:solidFill>
            </a:endParaRPr>
          </a:p>
        </p:txBody>
      </p:sp>
    </p:spTree>
    <p:extLst>
      <p:ext uri="{BB962C8B-B14F-4D97-AF65-F5344CB8AC3E}">
        <p14:creationId xmlns:p14="http://schemas.microsoft.com/office/powerpoint/2010/main" val="1817367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2963-A086-BF97-A1A8-8E53D14C00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C54BBA-7CBD-C0B4-CCB5-0EC0EE367D18}"/>
              </a:ext>
            </a:extLst>
          </p:cNvPr>
          <p:cNvSpPr txBox="1"/>
          <p:nvPr/>
        </p:nvSpPr>
        <p:spPr>
          <a:xfrm>
            <a:off x="783771" y="152401"/>
            <a:ext cx="10515600" cy="830997"/>
          </a:xfrm>
          <a:prstGeom prst="rect">
            <a:avLst/>
          </a:prstGeom>
          <a:noFill/>
        </p:spPr>
        <p:txBody>
          <a:bodyPr wrap="square" rtlCol="0">
            <a:spAutoFit/>
          </a:bodyPr>
          <a:lstStyle/>
          <a:p>
            <a:r>
              <a:rPr lang="en-US" sz="2400" b="1" dirty="0">
                <a:solidFill>
                  <a:srgbClr val="FF0000"/>
                </a:solidFill>
              </a:rPr>
              <a:t>Strong mathematical prerequisites to be clear by  the students  themselves  for understanding  this A8751 Optimization Techniques in ML  subject for all of you -</a:t>
            </a:r>
            <a:endParaRPr lang="en-IN" sz="2400" b="1" dirty="0">
              <a:solidFill>
                <a:srgbClr val="FF0000"/>
              </a:solidFill>
            </a:endParaRPr>
          </a:p>
        </p:txBody>
      </p:sp>
      <p:pic>
        <p:nvPicPr>
          <p:cNvPr id="6" name="Picture 5">
            <a:extLst>
              <a:ext uri="{FF2B5EF4-FFF2-40B4-BE49-F238E27FC236}">
                <a16:creationId xmlns:a16="http://schemas.microsoft.com/office/drawing/2014/main" id="{6E2063EA-5C4A-A642-F9B3-BA1B37087A92}"/>
              </a:ext>
            </a:extLst>
          </p:cNvPr>
          <p:cNvPicPr>
            <a:picLocks noChangeAspect="1"/>
          </p:cNvPicPr>
          <p:nvPr/>
        </p:nvPicPr>
        <p:blipFill>
          <a:blip r:embed="rId2"/>
          <a:stretch>
            <a:fillRect/>
          </a:stretch>
        </p:blipFill>
        <p:spPr>
          <a:xfrm>
            <a:off x="1908896" y="1023257"/>
            <a:ext cx="8007990" cy="5617029"/>
          </a:xfrm>
          <a:prstGeom prst="rect">
            <a:avLst/>
          </a:prstGeom>
        </p:spPr>
      </p:pic>
    </p:spTree>
    <p:extLst>
      <p:ext uri="{BB962C8B-B14F-4D97-AF65-F5344CB8AC3E}">
        <p14:creationId xmlns:p14="http://schemas.microsoft.com/office/powerpoint/2010/main" val="138850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7772A-40F7-A8AE-457E-AFCFD8ED36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5AED84-8AAB-31C8-4440-936B5F8FBC27}"/>
              </a:ext>
            </a:extLst>
          </p:cNvPr>
          <p:cNvPicPr>
            <a:picLocks noChangeAspect="1"/>
          </p:cNvPicPr>
          <p:nvPr/>
        </p:nvPicPr>
        <p:blipFill>
          <a:blip r:embed="rId2"/>
          <a:stretch>
            <a:fillRect/>
          </a:stretch>
        </p:blipFill>
        <p:spPr>
          <a:xfrm>
            <a:off x="1949903" y="1676398"/>
            <a:ext cx="7912554" cy="4962987"/>
          </a:xfrm>
          <a:prstGeom prst="rect">
            <a:avLst/>
          </a:prstGeom>
        </p:spPr>
      </p:pic>
      <p:sp>
        <p:nvSpPr>
          <p:cNvPr id="4" name="TextBox 3">
            <a:extLst>
              <a:ext uri="{FF2B5EF4-FFF2-40B4-BE49-F238E27FC236}">
                <a16:creationId xmlns:a16="http://schemas.microsoft.com/office/drawing/2014/main" id="{34EA8CE3-9A54-46CC-5D8B-CD10B096FB9D}"/>
              </a:ext>
            </a:extLst>
          </p:cNvPr>
          <p:cNvSpPr txBox="1"/>
          <p:nvPr/>
        </p:nvSpPr>
        <p:spPr>
          <a:xfrm>
            <a:off x="413657" y="206830"/>
            <a:ext cx="11691257" cy="1384995"/>
          </a:xfrm>
          <a:prstGeom prst="rect">
            <a:avLst/>
          </a:prstGeom>
          <a:noFill/>
        </p:spPr>
        <p:txBody>
          <a:bodyPr wrap="square" rtlCol="0">
            <a:spAutoFit/>
          </a:bodyPr>
          <a:lstStyle/>
          <a:p>
            <a:r>
              <a:rPr lang="en-US" sz="2800" b="1" dirty="0">
                <a:solidFill>
                  <a:srgbClr val="FF0000"/>
                </a:solidFill>
              </a:rPr>
              <a:t>Strong mathematical prerequisites to be clear by  the students  themselves  for understanding  this A8751 Optimization Techniques in ML  subject for all of you -</a:t>
            </a:r>
            <a:endParaRPr lang="en-IN" sz="2800" b="1" dirty="0">
              <a:solidFill>
                <a:srgbClr val="FF0000"/>
              </a:solidFill>
            </a:endParaRPr>
          </a:p>
        </p:txBody>
      </p:sp>
    </p:spTree>
    <p:extLst>
      <p:ext uri="{BB962C8B-B14F-4D97-AF65-F5344CB8AC3E}">
        <p14:creationId xmlns:p14="http://schemas.microsoft.com/office/powerpoint/2010/main" val="328955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AD4B0-54CF-A8FA-39F7-EC2E8503DFA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5A6DA3-715B-83F5-FCE3-98BC4BE926A6}"/>
              </a:ext>
            </a:extLst>
          </p:cNvPr>
          <p:cNvSpPr txBox="1"/>
          <p:nvPr/>
        </p:nvSpPr>
        <p:spPr>
          <a:xfrm>
            <a:off x="304799" y="402771"/>
            <a:ext cx="11615059" cy="5632311"/>
          </a:xfrm>
          <a:prstGeom prst="rect">
            <a:avLst/>
          </a:prstGeom>
          <a:noFill/>
        </p:spPr>
        <p:txBody>
          <a:bodyPr wrap="square">
            <a:spAutoFit/>
          </a:bodyPr>
          <a:lstStyle/>
          <a:p>
            <a:r>
              <a:rPr lang="en-US" sz="2400" b="1" dirty="0"/>
              <a:t>Course Outcomes </a:t>
            </a:r>
          </a:p>
          <a:p>
            <a:r>
              <a:rPr lang="en-US" sz="2400" b="1" dirty="0"/>
              <a:t>A8751.1.</a:t>
            </a:r>
            <a:r>
              <a:rPr lang="en-US" sz="2400" dirty="0"/>
              <a:t> Understand the fundamentals of model fitting, empirical risk minimization, and optimization techniques including gradient descent and Lagrange multipliers.</a:t>
            </a:r>
          </a:p>
          <a:p>
            <a:endParaRPr lang="en-US" sz="2400" dirty="0"/>
          </a:p>
          <a:p>
            <a:r>
              <a:rPr lang="en-US" sz="2400" b="1" dirty="0"/>
              <a:t>A8751.2.</a:t>
            </a:r>
            <a:r>
              <a:rPr lang="en-US" sz="2400" dirty="0"/>
              <a:t> Formulate linear regression as an optimization problem and apply parameter estimation techniques including Bayesian and Maximum Likelihood methods.</a:t>
            </a:r>
          </a:p>
          <a:p>
            <a:endParaRPr lang="en-US" sz="2400" dirty="0"/>
          </a:p>
          <a:p>
            <a:r>
              <a:rPr lang="en-US" sz="2400" b="1" dirty="0"/>
              <a:t>A8751.3.</a:t>
            </a:r>
            <a:r>
              <a:rPr lang="en-US" sz="2400" dirty="0"/>
              <a:t> Apply dimensionality reduction techniques such as PCA using optimization-based approaches and understand the mathematical foundations of eigenvector computation.</a:t>
            </a:r>
          </a:p>
          <a:p>
            <a:endParaRPr lang="en-US" sz="2400" dirty="0"/>
          </a:p>
          <a:p>
            <a:r>
              <a:rPr lang="en-US" sz="2400" b="1" dirty="0"/>
              <a:t>A8751.4.</a:t>
            </a:r>
            <a:r>
              <a:rPr lang="en-US" sz="2400" dirty="0"/>
              <a:t> Analyze unsupervised learning problems using Gaussian Mixture Models and the Expectation Maximization algorithm for parameter estimation.</a:t>
            </a:r>
          </a:p>
          <a:p>
            <a:endParaRPr lang="en-US" sz="2400" dirty="0"/>
          </a:p>
          <a:p>
            <a:r>
              <a:rPr lang="en-US" sz="2400" b="1" dirty="0"/>
              <a:t>A8751.5.</a:t>
            </a:r>
            <a:r>
              <a:rPr lang="en-US" sz="2400" dirty="0"/>
              <a:t> Evaluate and implement large-margin classifiers including Support Vector Machines using primal and dual optimization frameworks and kernel methods.</a:t>
            </a:r>
          </a:p>
        </p:txBody>
      </p:sp>
    </p:spTree>
    <p:extLst>
      <p:ext uri="{BB962C8B-B14F-4D97-AF65-F5344CB8AC3E}">
        <p14:creationId xmlns:p14="http://schemas.microsoft.com/office/powerpoint/2010/main" val="4275637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E9058-F8A6-03F6-70D9-A39BEE309B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634524-0D07-CD01-A91A-C30FF3A62129}"/>
              </a:ext>
            </a:extLst>
          </p:cNvPr>
          <p:cNvSpPr txBox="1"/>
          <p:nvPr/>
        </p:nvSpPr>
        <p:spPr>
          <a:xfrm>
            <a:off x="816429" y="587829"/>
            <a:ext cx="10951028" cy="5316264"/>
          </a:xfrm>
          <a:prstGeom prst="rect">
            <a:avLst/>
          </a:prstGeom>
          <a:noFill/>
        </p:spPr>
        <p:txBody>
          <a:bodyPr wrap="square">
            <a:spAutoFit/>
          </a:bodyPr>
          <a:lstStyle/>
          <a:p>
            <a:pPr algn="ctr">
              <a:lnSpc>
                <a:spcPct val="107000"/>
              </a:lnSpc>
              <a:spcAft>
                <a:spcPts val="800"/>
              </a:spcAft>
              <a:buNone/>
            </a:pPr>
            <a:r>
              <a:rPr lang="en-IN" sz="2800" b="1" kern="100" dirty="0">
                <a:effectLst/>
                <a:latin typeface="Calibri" panose="020F0502020204030204" pitchFamily="34" charset="0"/>
                <a:ea typeface="Calibri" panose="020F0502020204030204" pitchFamily="34" charset="0"/>
                <a:cs typeface="Times New Roman" panose="02020603050405020304" pitchFamily="18" charset="0"/>
              </a:rPr>
              <a:t>Syllabus </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Module 1: Model Fitting and Error Measurement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Optimization Using Gradient Descent, Constrained Optimization and Lagrange Multipliers, Convex Optimization, Data, Models, and Learning, Empirical Risk Minimization, Parameter Estimation, Probabilistic Modelling and Inference Directed Graphical Models.</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Module 2: Linear Regression as an Optimization Problem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Problem Formulation, Parameter Estimation, Bayesian Linear Regression, Maximum Likelihood as Orthogonal Projection</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Module 3: Dimensionality Reduction and Optimization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Problem Setting, Maximum Variance Perspective, Projection Perspective, Eigenvector Computation and Low-Rank Approximations, PCA in High Dimensions, Key Steps of PCA in Practice, Latent Variable Perspective</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818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9DF0-BE52-2F43-9B7F-83EBA2EEFD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D60C0E-C294-303E-BC2F-A639E869EF65}"/>
              </a:ext>
            </a:extLst>
          </p:cNvPr>
          <p:cNvSpPr txBox="1"/>
          <p:nvPr/>
        </p:nvSpPr>
        <p:spPr>
          <a:xfrm>
            <a:off x="685800" y="468086"/>
            <a:ext cx="10972800" cy="5653151"/>
          </a:xfrm>
          <a:prstGeom prst="rect">
            <a:avLst/>
          </a:prstGeom>
          <a:noFill/>
        </p:spPr>
        <p:txBody>
          <a:bodyPr wrap="square">
            <a:spAutoFit/>
          </a:bodyPr>
          <a:lstStyle/>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Module 4: Unsupervised Learning and Expectation Maximization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Problem Setting, Maximum Variance Perspective, Projection Perspective, Eigenvector Computation and Low-Rank Approximations, PCA in High Dimensions, Key Steps of PCA in Practice, Latent Variable Perspective</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Module 5: Large-Margin Classification and Dual Optimization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Separating Hyperplanes, Primal Support Vector Machine, Dual Support Vector Machine, Kernels Numerical Solution</a:t>
            </a:r>
          </a:p>
          <a:p>
            <a:pPr algn="just">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gn="just">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Text Book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1.</a:t>
            </a:r>
            <a:r>
              <a:rPr lang="en-IN" sz="1800" kern="100" dirty="0">
                <a:effectLst/>
                <a:highlight>
                  <a:srgbClr val="00FF00"/>
                </a:highlight>
                <a:latin typeface="Calibri" panose="020F0502020204030204" pitchFamily="34" charset="0"/>
                <a:ea typeface="Calibri" panose="020F0502020204030204" pitchFamily="34" charset="0"/>
                <a:cs typeface="Times New Roman" panose="02020603050405020304" pitchFamily="18" charset="0"/>
              </a:rPr>
              <a:t>Mathematics for Machine Learning by Marc Peter Deisenroth, A. Aldo Faisal, and Cheng Soon Ong, 1st Edition, Cambridge University Press, Paperback, 23 April 2020, ISBN-13: 978-1108455145, Language: English, 398 pages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Reference Book:</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1.Convex Optimization by Stephen Boyd and Lieven Vandenberghe, 1st Edition, Cambridge University Press, Hardcover, March 2004, ISBN-13: 978-0521833783, Language: English, 730 pages.</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2. Optimization for Machine Learning,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Suvrit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Sra, Sebastian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Nowozin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Stephen J.</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Wright, MIT Press, 2011.</a:t>
            </a:r>
          </a:p>
        </p:txBody>
      </p:sp>
    </p:spTree>
    <p:extLst>
      <p:ext uri="{BB962C8B-B14F-4D97-AF65-F5344CB8AC3E}">
        <p14:creationId xmlns:p14="http://schemas.microsoft.com/office/powerpoint/2010/main" val="2169631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D1F7F-24FC-746C-9A6B-E27771397F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7D7184-1421-BA7E-CB9B-0206E24DB287}"/>
              </a:ext>
            </a:extLst>
          </p:cNvPr>
          <p:cNvSpPr txBox="1"/>
          <p:nvPr/>
        </p:nvSpPr>
        <p:spPr>
          <a:xfrm>
            <a:off x="903513" y="990334"/>
            <a:ext cx="10352315" cy="3333220"/>
          </a:xfrm>
          <a:prstGeom prst="rect">
            <a:avLst/>
          </a:prstGeom>
          <a:noFill/>
        </p:spPr>
        <p:txBody>
          <a:bodyPr wrap="square">
            <a:spAutoFit/>
          </a:bodyPr>
          <a:lstStyle/>
          <a:p>
            <a:pPr algn="ctr">
              <a:lnSpc>
                <a:spcPct val="107000"/>
              </a:lnSpc>
              <a:spcAft>
                <a:spcPts val="800"/>
              </a:spcAft>
              <a:buNone/>
            </a:pPr>
            <a:r>
              <a:rPr lang="en-IN" sz="3200" b="1" kern="100" dirty="0">
                <a:effectLst/>
                <a:latin typeface="Calibri" panose="020F0502020204030204" pitchFamily="34" charset="0"/>
                <a:ea typeface="Calibri" panose="020F0502020204030204" pitchFamily="34" charset="0"/>
                <a:cs typeface="Times New Roman" panose="02020603050405020304" pitchFamily="18" charset="0"/>
              </a:rPr>
              <a:t>Module 1: Model Fitting and Error Measurement</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3200" kern="100" dirty="0">
                <a:effectLst/>
                <a:latin typeface="Calibri" panose="020F0502020204030204" pitchFamily="34" charset="0"/>
                <a:ea typeface="Calibri" panose="020F0502020204030204" pitchFamily="34" charset="0"/>
                <a:cs typeface="Times New Roman" panose="02020603050405020304" pitchFamily="18" charset="0"/>
              </a:rPr>
              <a:t>Optimization Using Gradient Descent, Constrained Optimization and Lagrange Multipliers, Convex Optimization, Data, Models, and Learning, Empirical Risk Minimization, Parameter Estimation, Probabilistic Modelling and Inference Directed Graphical Models.</a:t>
            </a:r>
          </a:p>
        </p:txBody>
      </p:sp>
    </p:spTree>
    <p:extLst>
      <p:ext uri="{BB962C8B-B14F-4D97-AF65-F5344CB8AC3E}">
        <p14:creationId xmlns:p14="http://schemas.microsoft.com/office/powerpoint/2010/main" val="2376364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E168-CF37-76E3-48A1-3A3DF10A981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4FEFEE7-7F93-2ECC-273E-A0D828D6D39A}"/>
              </a:ext>
            </a:extLst>
          </p:cNvPr>
          <p:cNvPicPr>
            <a:picLocks noChangeAspect="1"/>
          </p:cNvPicPr>
          <p:nvPr/>
        </p:nvPicPr>
        <p:blipFill>
          <a:blip r:embed="rId2"/>
          <a:stretch>
            <a:fillRect/>
          </a:stretch>
        </p:blipFill>
        <p:spPr>
          <a:xfrm>
            <a:off x="606234" y="293914"/>
            <a:ext cx="10704023" cy="6063343"/>
          </a:xfrm>
          <a:prstGeom prst="rect">
            <a:avLst/>
          </a:prstGeom>
        </p:spPr>
      </p:pic>
    </p:spTree>
    <p:extLst>
      <p:ext uri="{BB962C8B-B14F-4D97-AF65-F5344CB8AC3E}">
        <p14:creationId xmlns:p14="http://schemas.microsoft.com/office/powerpoint/2010/main" val="2732558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8F12A-170E-27CE-33B7-550A461F2E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F83DDA-B923-43E2-AB9D-726801DD77D7}"/>
              </a:ext>
            </a:extLst>
          </p:cNvPr>
          <p:cNvSpPr txBox="1"/>
          <p:nvPr/>
        </p:nvSpPr>
        <p:spPr>
          <a:xfrm>
            <a:off x="968830" y="435427"/>
            <a:ext cx="9622970" cy="1754326"/>
          </a:xfrm>
          <a:prstGeom prst="rect">
            <a:avLst/>
          </a:prstGeom>
          <a:noFill/>
        </p:spPr>
        <p:txBody>
          <a:bodyPr wrap="square">
            <a:spAutoFit/>
          </a:bodyPr>
          <a:lstStyle/>
          <a:p>
            <a:pPr marL="571500" indent="-571500">
              <a:buFont typeface="Wingdings" panose="05000000000000000000" pitchFamily="2" charset="2"/>
              <a:buChar char="q"/>
            </a:pPr>
            <a:r>
              <a:rPr lang="en-IN" sz="3600" b="1" dirty="0"/>
              <a:t>E</a:t>
            </a:r>
            <a:r>
              <a:rPr lang="en-IN" sz="3600" dirty="0"/>
              <a:t> = Experience (e.g., training data)</a:t>
            </a:r>
          </a:p>
          <a:p>
            <a:pPr marL="571500" indent="-571500">
              <a:buFont typeface="Wingdings" panose="05000000000000000000" pitchFamily="2" charset="2"/>
              <a:buChar char="q"/>
            </a:pPr>
            <a:r>
              <a:rPr lang="en-IN" sz="3600" b="1" dirty="0"/>
              <a:t>T</a:t>
            </a:r>
            <a:r>
              <a:rPr lang="en-IN" sz="3600" dirty="0"/>
              <a:t> = Task (e.g., classification, prediction)</a:t>
            </a:r>
          </a:p>
          <a:p>
            <a:pPr marL="571500" indent="-571500">
              <a:buFont typeface="Wingdings" panose="05000000000000000000" pitchFamily="2" charset="2"/>
              <a:buChar char="q"/>
            </a:pPr>
            <a:r>
              <a:rPr lang="en-IN" sz="3600" b="1" dirty="0"/>
              <a:t>P</a:t>
            </a:r>
            <a:r>
              <a:rPr lang="en-IN" sz="3600" dirty="0"/>
              <a:t> = Performance Measure (e.g., accuracy, MSE)</a:t>
            </a:r>
          </a:p>
        </p:txBody>
      </p:sp>
      <p:pic>
        <p:nvPicPr>
          <p:cNvPr id="6" name="Picture 5">
            <a:extLst>
              <a:ext uri="{FF2B5EF4-FFF2-40B4-BE49-F238E27FC236}">
                <a16:creationId xmlns:a16="http://schemas.microsoft.com/office/drawing/2014/main" id="{6500F69C-455B-C911-5185-B0AC9655777C}"/>
              </a:ext>
            </a:extLst>
          </p:cNvPr>
          <p:cNvPicPr>
            <a:picLocks noChangeAspect="1"/>
          </p:cNvPicPr>
          <p:nvPr/>
        </p:nvPicPr>
        <p:blipFill>
          <a:blip r:embed="rId2"/>
          <a:stretch>
            <a:fillRect/>
          </a:stretch>
        </p:blipFill>
        <p:spPr>
          <a:xfrm>
            <a:off x="925286" y="2481943"/>
            <a:ext cx="10105866" cy="3646713"/>
          </a:xfrm>
          <a:prstGeom prst="rect">
            <a:avLst/>
          </a:prstGeom>
        </p:spPr>
      </p:pic>
    </p:spTree>
    <p:extLst>
      <p:ext uri="{BB962C8B-B14F-4D97-AF65-F5344CB8AC3E}">
        <p14:creationId xmlns:p14="http://schemas.microsoft.com/office/powerpoint/2010/main" val="2829621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F3F7E-5C12-7744-B453-61B3A439CAC5}"/>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75BF3C2C-18F3-E5D8-94F0-A5494177F702}"/>
              </a:ext>
            </a:extLst>
          </p:cNvPr>
          <p:cNvSpPr>
            <a:spLocks noChangeArrowheads="1"/>
          </p:cNvSpPr>
          <p:nvPr/>
        </p:nvSpPr>
        <p:spPr bwMode="auto">
          <a:xfrm>
            <a:off x="293914" y="583131"/>
            <a:ext cx="11582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1" u="none" strike="noStrike" cap="none" normalizeH="0" baseline="0" dirty="0">
                <a:ln>
                  <a:noFill/>
                </a:ln>
                <a:solidFill>
                  <a:schemeClr val="tx1"/>
                </a:solidFill>
                <a:effectLst/>
                <a:highlight>
                  <a:srgbClr val="00FF00"/>
                </a:highlight>
                <a:latin typeface="Arial" panose="020B0604020202020204" pitchFamily="34" charset="0"/>
              </a:rPr>
              <a:t>“</a:t>
            </a:r>
            <a:r>
              <a:rPr kumimoji="0" lang="en-US" altLang="en-US" sz="3600" b="1" i="1" u="none" strike="noStrike" cap="none" normalizeH="0" baseline="0" dirty="0">
                <a:ln>
                  <a:noFill/>
                </a:ln>
                <a:solidFill>
                  <a:schemeClr val="tx1"/>
                </a:solidFill>
                <a:effectLst/>
                <a:latin typeface="Arial" panose="020B0604020202020204" pitchFamily="34" charset="0"/>
              </a:rPr>
              <a:t>Optimization is the mathematical foundation that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1" i="1" u="none" strike="noStrike" cap="none" normalizeH="0" baseline="0" dirty="0">
                <a:ln>
                  <a:noFill/>
                </a:ln>
                <a:solidFill>
                  <a:schemeClr val="tx1"/>
                </a:solidFill>
                <a:effectLst/>
                <a:latin typeface="Arial" panose="020B0604020202020204" pitchFamily="34" charset="0"/>
              </a:rPr>
              <a:t>allows machine learning algorithms to learn from data.</a:t>
            </a:r>
            <a:r>
              <a:rPr kumimoji="0" lang="en-US" altLang="en-US" sz="3600" b="1" i="1" u="none" strike="noStrike" cap="none" normalizeH="0" baseline="0" dirty="0">
                <a:ln>
                  <a:noFill/>
                </a:ln>
                <a:solidFill>
                  <a:schemeClr val="tx1"/>
                </a:solidFill>
                <a:effectLst/>
                <a:highlight>
                  <a:srgbClr val="00FF00"/>
                </a:highligh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In ML, a model has parameters like weights in linear regression or neural networks). </a:t>
            </a:r>
            <a:r>
              <a:rPr kumimoji="0" lang="en-US" altLang="en-US" sz="3600" b="1" i="0" u="none" strike="noStrike" cap="none" normalizeH="0" baseline="0" dirty="0">
                <a:ln>
                  <a:noFill/>
                </a:ln>
                <a:solidFill>
                  <a:schemeClr val="tx1"/>
                </a:solidFill>
                <a:effectLst/>
                <a:latin typeface="Arial" panose="020B0604020202020204" pitchFamily="34" charset="0"/>
              </a:rPr>
              <a:t>Optimization helps find the best values for these parameters</a:t>
            </a:r>
            <a:r>
              <a:rPr kumimoji="0" lang="en-US" altLang="en-US" sz="3600" b="0" i="0" u="none" strike="noStrike" cap="none" normalizeH="0" baseline="0" dirty="0">
                <a:ln>
                  <a:noFill/>
                </a:ln>
                <a:solidFill>
                  <a:schemeClr val="tx1"/>
                </a:solidFill>
                <a:effectLst/>
                <a:latin typeface="Arial" panose="020B0604020202020204" pitchFamily="34" charset="0"/>
              </a:rPr>
              <a:t> so the model performs well.</a:t>
            </a:r>
          </a:p>
        </p:txBody>
      </p:sp>
    </p:spTree>
    <p:extLst>
      <p:ext uri="{BB962C8B-B14F-4D97-AF65-F5344CB8AC3E}">
        <p14:creationId xmlns:p14="http://schemas.microsoft.com/office/powerpoint/2010/main" val="1775509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1F0FD-9E4F-649A-F7B7-D7CE91DC32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D25DFA-E61B-B083-B692-37F34F114861}"/>
              </a:ext>
            </a:extLst>
          </p:cNvPr>
          <p:cNvSpPr txBox="1"/>
          <p:nvPr/>
        </p:nvSpPr>
        <p:spPr>
          <a:xfrm>
            <a:off x="816428" y="637792"/>
            <a:ext cx="10167257" cy="2431435"/>
          </a:xfrm>
          <a:prstGeom prst="rect">
            <a:avLst/>
          </a:prstGeom>
          <a:noFill/>
        </p:spPr>
        <p:txBody>
          <a:bodyPr wrap="square">
            <a:spAutoFit/>
          </a:bodyPr>
          <a:lstStyle/>
          <a:p>
            <a:r>
              <a:rPr lang="en-US" sz="3800" b="1" i="1" dirty="0"/>
              <a:t>“In machine learning, we define a loss function that tells us how bad a model's predictions are, and optimization helps find the parameters that minimize this loss.”</a:t>
            </a:r>
            <a:endParaRPr lang="en-IN" sz="3800" b="1" i="1" dirty="0"/>
          </a:p>
        </p:txBody>
      </p:sp>
      <p:sp>
        <p:nvSpPr>
          <p:cNvPr id="5" name="Arrow: Curved Down 4">
            <a:extLst>
              <a:ext uri="{FF2B5EF4-FFF2-40B4-BE49-F238E27FC236}">
                <a16:creationId xmlns:a16="http://schemas.microsoft.com/office/drawing/2014/main" id="{36775CB7-69E4-95C8-F87B-62E6975447AC}"/>
              </a:ext>
            </a:extLst>
          </p:cNvPr>
          <p:cNvSpPr/>
          <p:nvPr/>
        </p:nvSpPr>
        <p:spPr>
          <a:xfrm>
            <a:off x="4376057" y="3037114"/>
            <a:ext cx="2645229" cy="261257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48493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7E526-C0A6-37E0-6F8E-61131081C1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4DDE85-D597-0EA8-E1D4-B58F0AE2DBB9}"/>
              </a:ext>
            </a:extLst>
          </p:cNvPr>
          <p:cNvPicPr>
            <a:picLocks noChangeAspect="1"/>
          </p:cNvPicPr>
          <p:nvPr/>
        </p:nvPicPr>
        <p:blipFill>
          <a:blip r:embed="rId2"/>
          <a:stretch>
            <a:fillRect/>
          </a:stretch>
        </p:blipFill>
        <p:spPr>
          <a:xfrm>
            <a:off x="1186543" y="870857"/>
            <a:ext cx="10515600" cy="4873005"/>
          </a:xfrm>
          <a:prstGeom prst="rect">
            <a:avLst/>
          </a:prstGeom>
        </p:spPr>
      </p:pic>
    </p:spTree>
    <p:extLst>
      <p:ext uri="{BB962C8B-B14F-4D97-AF65-F5344CB8AC3E}">
        <p14:creationId xmlns:p14="http://schemas.microsoft.com/office/powerpoint/2010/main" val="1146687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6151-FB51-84A7-1283-45D2F3832F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C15319-406D-2F9F-6EAD-C86B58E0C4ED}"/>
              </a:ext>
            </a:extLst>
          </p:cNvPr>
          <p:cNvPicPr>
            <a:picLocks noChangeAspect="1"/>
          </p:cNvPicPr>
          <p:nvPr/>
        </p:nvPicPr>
        <p:blipFill>
          <a:blip r:embed="rId2"/>
          <a:stretch>
            <a:fillRect/>
          </a:stretch>
        </p:blipFill>
        <p:spPr>
          <a:xfrm>
            <a:off x="729343" y="348343"/>
            <a:ext cx="10711568" cy="6052457"/>
          </a:xfrm>
          <a:prstGeom prst="rect">
            <a:avLst/>
          </a:prstGeom>
        </p:spPr>
      </p:pic>
    </p:spTree>
    <p:extLst>
      <p:ext uri="{BB962C8B-B14F-4D97-AF65-F5344CB8AC3E}">
        <p14:creationId xmlns:p14="http://schemas.microsoft.com/office/powerpoint/2010/main" val="70819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3E751-64D2-AB85-A105-9BFE703640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24F8EF8-893D-7188-29B6-C48080CA008C}"/>
              </a:ext>
            </a:extLst>
          </p:cNvPr>
          <p:cNvSpPr txBox="1"/>
          <p:nvPr/>
        </p:nvSpPr>
        <p:spPr>
          <a:xfrm>
            <a:off x="925287" y="326572"/>
            <a:ext cx="10657114" cy="2554545"/>
          </a:xfrm>
          <a:prstGeom prst="rect">
            <a:avLst/>
          </a:prstGeom>
          <a:noFill/>
        </p:spPr>
        <p:txBody>
          <a:bodyPr wrap="square">
            <a:spAutoFit/>
          </a:bodyPr>
          <a:lstStyle/>
          <a:p>
            <a:pPr>
              <a:buNone/>
            </a:pPr>
            <a:r>
              <a:rPr lang="en-US" sz="3200" b="1" dirty="0"/>
              <a:t>What do we mean by data in machine learning?</a:t>
            </a:r>
          </a:p>
          <a:p>
            <a:r>
              <a:rPr lang="en-US" sz="3200" b="1" dirty="0"/>
              <a:t>Answer:</a:t>
            </a:r>
            <a:br>
              <a:rPr lang="en-US" sz="3200" dirty="0"/>
            </a:br>
            <a:r>
              <a:rPr lang="en-US" sz="3200" dirty="0"/>
              <a:t>In ML, </a:t>
            </a:r>
            <a:r>
              <a:rPr lang="en-US" sz="3200" b="1" dirty="0"/>
              <a:t>data</a:t>
            </a:r>
            <a:r>
              <a:rPr lang="en-US" sz="3200" dirty="0"/>
              <a:t> is the foundation of learning. It consists of examples or observations from which the model learns patterns.</a:t>
            </a:r>
          </a:p>
        </p:txBody>
      </p:sp>
      <p:pic>
        <p:nvPicPr>
          <p:cNvPr id="5" name="Picture 4">
            <a:extLst>
              <a:ext uri="{FF2B5EF4-FFF2-40B4-BE49-F238E27FC236}">
                <a16:creationId xmlns:a16="http://schemas.microsoft.com/office/drawing/2014/main" id="{2598BBFB-46BB-BA37-DA48-BD822DF7D0E9}"/>
              </a:ext>
            </a:extLst>
          </p:cNvPr>
          <p:cNvPicPr>
            <a:picLocks noChangeAspect="1"/>
          </p:cNvPicPr>
          <p:nvPr/>
        </p:nvPicPr>
        <p:blipFill>
          <a:blip r:embed="rId2"/>
          <a:stretch>
            <a:fillRect/>
          </a:stretch>
        </p:blipFill>
        <p:spPr>
          <a:xfrm>
            <a:off x="849086" y="2991595"/>
            <a:ext cx="9677400" cy="3534017"/>
          </a:xfrm>
          <a:prstGeom prst="rect">
            <a:avLst/>
          </a:prstGeom>
        </p:spPr>
      </p:pic>
    </p:spTree>
    <p:extLst>
      <p:ext uri="{BB962C8B-B14F-4D97-AF65-F5344CB8AC3E}">
        <p14:creationId xmlns:p14="http://schemas.microsoft.com/office/powerpoint/2010/main" val="1598108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61316-9D1F-C60E-6FDE-2BC883FF9202}"/>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B24D4BF9-D6BE-F2F2-C454-658A4153C588}"/>
              </a:ext>
            </a:extLst>
          </p:cNvPr>
          <p:cNvGrpSpPr/>
          <p:nvPr/>
        </p:nvGrpSpPr>
        <p:grpSpPr>
          <a:xfrm>
            <a:off x="0" y="200025"/>
            <a:ext cx="1914525" cy="276225"/>
            <a:chOff x="0" y="200025"/>
            <a:chExt cx="1914525" cy="276225"/>
          </a:xfrm>
        </p:grpSpPr>
        <p:sp>
          <p:nvSpPr>
            <p:cNvPr id="4" name="object 4">
              <a:extLst>
                <a:ext uri="{FF2B5EF4-FFF2-40B4-BE49-F238E27FC236}">
                  <a16:creationId xmlns:a16="http://schemas.microsoft.com/office/drawing/2014/main" id="{953B0A8E-DA97-EF2A-BF09-7568A56B9F07}"/>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B085FCCA-0D44-3D6F-6D7E-AF92A988FC0E}"/>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alpha val="59999"/>
              </a:srgbClr>
            </a:solidFill>
          </p:spPr>
          <p:txBody>
            <a:bodyPr wrap="square" lIns="0" tIns="0" rIns="0" bIns="0" rtlCol="0"/>
            <a:lstStyle/>
            <a:p>
              <a:endParaRPr/>
            </a:p>
          </p:txBody>
        </p:sp>
      </p:grpSp>
      <p:grpSp>
        <p:nvGrpSpPr>
          <p:cNvPr id="6" name="object 6">
            <a:extLst>
              <a:ext uri="{FF2B5EF4-FFF2-40B4-BE49-F238E27FC236}">
                <a16:creationId xmlns:a16="http://schemas.microsoft.com/office/drawing/2014/main" id="{615DEA88-5B88-F585-A987-D2878C62094C}"/>
              </a:ext>
            </a:extLst>
          </p:cNvPr>
          <p:cNvGrpSpPr/>
          <p:nvPr/>
        </p:nvGrpSpPr>
        <p:grpSpPr>
          <a:xfrm>
            <a:off x="0" y="638175"/>
            <a:ext cx="1914525" cy="276225"/>
            <a:chOff x="0" y="638175"/>
            <a:chExt cx="1914525" cy="276225"/>
          </a:xfrm>
        </p:grpSpPr>
        <p:sp>
          <p:nvSpPr>
            <p:cNvPr id="7" name="object 7">
              <a:extLst>
                <a:ext uri="{FF2B5EF4-FFF2-40B4-BE49-F238E27FC236}">
                  <a16:creationId xmlns:a16="http://schemas.microsoft.com/office/drawing/2014/main" id="{0826A894-B1BB-BE71-23B6-64E7AB095ABD}"/>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603A3451-A650-C799-7D07-8E5B08FBC63F}"/>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alpha val="59999"/>
              </a:srgbClr>
            </a:solidFill>
          </p:spPr>
          <p:txBody>
            <a:bodyPr wrap="square" lIns="0" tIns="0" rIns="0" bIns="0" rtlCol="0"/>
            <a:lstStyle/>
            <a:p>
              <a:endParaRPr/>
            </a:p>
          </p:txBody>
        </p:sp>
      </p:grpSp>
      <p:grpSp>
        <p:nvGrpSpPr>
          <p:cNvPr id="9" name="object 9">
            <a:extLst>
              <a:ext uri="{FF2B5EF4-FFF2-40B4-BE49-F238E27FC236}">
                <a16:creationId xmlns:a16="http://schemas.microsoft.com/office/drawing/2014/main" id="{E6499530-2565-1C18-E66E-70D391228067}"/>
              </a:ext>
            </a:extLst>
          </p:cNvPr>
          <p:cNvGrpSpPr/>
          <p:nvPr/>
        </p:nvGrpSpPr>
        <p:grpSpPr>
          <a:xfrm>
            <a:off x="400050" y="4743513"/>
            <a:ext cx="390525" cy="390525"/>
            <a:chOff x="400050" y="4743513"/>
            <a:chExt cx="390525" cy="390525"/>
          </a:xfrm>
        </p:grpSpPr>
        <p:sp>
          <p:nvSpPr>
            <p:cNvPr id="10" name="object 10">
              <a:extLst>
                <a:ext uri="{FF2B5EF4-FFF2-40B4-BE49-F238E27FC236}">
                  <a16:creationId xmlns:a16="http://schemas.microsoft.com/office/drawing/2014/main" id="{3359C152-B849-452B-9C78-43B1EA404B7A}"/>
                </a:ext>
              </a:extLst>
            </p:cNvPr>
            <p:cNvSpPr/>
            <p:nvPr/>
          </p:nvSpPr>
          <p:spPr>
            <a:xfrm>
              <a:off x="414337" y="4757801"/>
              <a:ext cx="361950" cy="361950"/>
            </a:xfrm>
            <a:custGeom>
              <a:avLst/>
              <a:gdLst/>
              <a:ahLst/>
              <a:cxnLst/>
              <a:rect l="l" t="t" r="r" b="b"/>
              <a:pathLst>
                <a:path w="361950" h="361950">
                  <a:moveTo>
                    <a:pt x="180975" y="0"/>
                  </a:moveTo>
                  <a:lnTo>
                    <a:pt x="132864" y="6455"/>
                  </a:lnTo>
                  <a:lnTo>
                    <a:pt x="89633" y="24680"/>
                  </a:lnTo>
                  <a:lnTo>
                    <a:pt x="53006" y="52959"/>
                  </a:lnTo>
                  <a:lnTo>
                    <a:pt x="24708" y="89577"/>
                  </a:lnTo>
                  <a:lnTo>
                    <a:pt x="6464" y="132820"/>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20"/>
                  </a:lnTo>
                  <a:lnTo>
                    <a:pt x="337241" y="89577"/>
                  </a:lnTo>
                  <a:lnTo>
                    <a:pt x="308943" y="52958"/>
                  </a:lnTo>
                  <a:lnTo>
                    <a:pt x="272316" y="24680"/>
                  </a:lnTo>
                  <a:lnTo>
                    <a:pt x="229085" y="6455"/>
                  </a:lnTo>
                  <a:lnTo>
                    <a:pt x="180975" y="0"/>
                  </a:lnTo>
                  <a:close/>
                </a:path>
              </a:pathLst>
            </a:custGeom>
            <a:solidFill>
              <a:srgbClr val="AD4DC3">
                <a:alpha val="1999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04BFC6EC-B5C5-6190-8CA3-FCD8C014002C}"/>
                </a:ext>
              </a:extLst>
            </p:cNvPr>
            <p:cNvSpPr/>
            <p:nvPr/>
          </p:nvSpPr>
          <p:spPr>
            <a:xfrm>
              <a:off x="414337" y="4757801"/>
              <a:ext cx="361950" cy="361950"/>
            </a:xfrm>
            <a:custGeom>
              <a:avLst/>
              <a:gdLst/>
              <a:ahLst/>
              <a:cxnLst/>
              <a:rect l="l" t="t" r="r" b="b"/>
              <a:pathLst>
                <a:path w="361950" h="361950">
                  <a:moveTo>
                    <a:pt x="0" y="180975"/>
                  </a:moveTo>
                  <a:lnTo>
                    <a:pt x="6464" y="132820"/>
                  </a:lnTo>
                  <a:lnTo>
                    <a:pt x="24708" y="89577"/>
                  </a:lnTo>
                  <a:lnTo>
                    <a:pt x="53006" y="52959"/>
                  </a:lnTo>
                  <a:lnTo>
                    <a:pt x="89633" y="24680"/>
                  </a:lnTo>
                  <a:lnTo>
                    <a:pt x="132864" y="6455"/>
                  </a:lnTo>
                  <a:lnTo>
                    <a:pt x="180975" y="0"/>
                  </a:lnTo>
                  <a:lnTo>
                    <a:pt x="229085" y="6455"/>
                  </a:lnTo>
                  <a:lnTo>
                    <a:pt x="272316" y="24680"/>
                  </a:lnTo>
                  <a:lnTo>
                    <a:pt x="308943" y="52958"/>
                  </a:lnTo>
                  <a:lnTo>
                    <a:pt x="337241" y="89577"/>
                  </a:lnTo>
                  <a:lnTo>
                    <a:pt x="355485" y="132820"/>
                  </a:lnTo>
                  <a:lnTo>
                    <a:pt x="361950" y="180975"/>
                  </a:lnTo>
                  <a:lnTo>
                    <a:pt x="355485" y="229085"/>
                  </a:lnTo>
                  <a:lnTo>
                    <a:pt x="337241" y="272316"/>
                  </a:lnTo>
                  <a:lnTo>
                    <a:pt x="308943" y="308943"/>
                  </a:lnTo>
                  <a:lnTo>
                    <a:pt x="272316" y="337241"/>
                  </a:lnTo>
                  <a:lnTo>
                    <a:pt x="229085" y="355485"/>
                  </a:lnTo>
                  <a:lnTo>
                    <a:pt x="180975" y="361950"/>
                  </a:lnTo>
                  <a:lnTo>
                    <a:pt x="132864" y="355485"/>
                  </a:lnTo>
                  <a:lnTo>
                    <a:pt x="89633" y="337241"/>
                  </a:lnTo>
                  <a:lnTo>
                    <a:pt x="53006" y="308943"/>
                  </a:lnTo>
                  <a:lnTo>
                    <a:pt x="24708" y="272316"/>
                  </a:lnTo>
                  <a:lnTo>
                    <a:pt x="6464" y="229085"/>
                  </a:lnTo>
                  <a:lnTo>
                    <a:pt x="0" y="180975"/>
                  </a:lnTo>
                  <a:close/>
                </a:path>
              </a:pathLst>
            </a:custGeom>
            <a:ln w="28575">
              <a:solidFill>
                <a:srgbClr val="000000"/>
              </a:solidFill>
            </a:ln>
          </p:spPr>
          <p:txBody>
            <a:bodyPr wrap="square" lIns="0" tIns="0" rIns="0" bIns="0" rtlCol="0"/>
            <a:lstStyle/>
            <a:p>
              <a:endParaRPr/>
            </a:p>
          </p:txBody>
        </p:sp>
      </p:grpSp>
      <p:sp>
        <p:nvSpPr>
          <p:cNvPr id="13" name="TextBox 12">
            <a:extLst>
              <a:ext uri="{FF2B5EF4-FFF2-40B4-BE49-F238E27FC236}">
                <a16:creationId xmlns:a16="http://schemas.microsoft.com/office/drawing/2014/main" id="{B643C3F8-8526-8405-2BCF-9E9475C6FD1B}"/>
              </a:ext>
            </a:extLst>
          </p:cNvPr>
          <p:cNvSpPr txBox="1"/>
          <p:nvPr/>
        </p:nvSpPr>
        <p:spPr>
          <a:xfrm>
            <a:off x="152400" y="914400"/>
            <a:ext cx="11887200" cy="5262979"/>
          </a:xfrm>
          <a:prstGeom prst="rect">
            <a:avLst/>
          </a:prstGeom>
          <a:noFill/>
        </p:spPr>
        <p:txBody>
          <a:bodyPr wrap="square">
            <a:spAutoFit/>
          </a:bodyPr>
          <a:lstStyle/>
          <a:p>
            <a:pPr algn="just">
              <a:buFont typeface="+mj-lt"/>
              <a:buAutoNum type="arabicPeriod"/>
            </a:pPr>
            <a:r>
              <a:rPr lang="en-US" sz="2400" b="1" i="0" dirty="0">
                <a:solidFill>
                  <a:srgbClr val="0D0D0D"/>
                </a:solidFill>
                <a:effectLst/>
                <a:latin typeface="Söhne"/>
              </a:rPr>
              <a:t>Numerical Data:</a:t>
            </a:r>
            <a:endParaRPr lang="en-US" sz="2400" b="0" i="0" dirty="0">
              <a:solidFill>
                <a:srgbClr val="0D0D0D"/>
              </a:solidFill>
              <a:effectLst/>
              <a:latin typeface="Söhne"/>
            </a:endParaRPr>
          </a:p>
          <a:p>
            <a:pPr marL="742950" lvl="1" indent="-285750" algn="just">
              <a:buFont typeface="+mj-lt"/>
              <a:buAutoNum type="arabicPeriod"/>
            </a:pPr>
            <a:r>
              <a:rPr lang="en-US" sz="2400" b="0" i="0" dirty="0">
                <a:solidFill>
                  <a:srgbClr val="0D0D0D"/>
                </a:solidFill>
                <a:effectLst/>
                <a:latin typeface="Söhne"/>
              </a:rPr>
              <a:t>Numerical data consists of numbers and can be further classified into two subtypes:</a:t>
            </a:r>
          </a:p>
          <a:p>
            <a:pPr marL="1143000" lvl="2" indent="-228600" algn="just">
              <a:buFont typeface="+mj-lt"/>
              <a:buAutoNum type="arabicPeriod"/>
            </a:pPr>
            <a:r>
              <a:rPr lang="en-US" sz="2400" b="1" i="0" dirty="0">
                <a:solidFill>
                  <a:srgbClr val="0D0D0D"/>
                </a:solidFill>
                <a:effectLst/>
                <a:latin typeface="Söhne"/>
              </a:rPr>
              <a:t>Continuous Data:</a:t>
            </a:r>
            <a:r>
              <a:rPr lang="en-US" sz="2400" b="0" i="0" dirty="0">
                <a:solidFill>
                  <a:srgbClr val="0D0D0D"/>
                </a:solidFill>
                <a:effectLst/>
                <a:latin typeface="Söhne"/>
              </a:rPr>
              <a:t> Continuous data can take any real value within a specific range. Examples include height, weight, temperature, and time.</a:t>
            </a:r>
          </a:p>
          <a:p>
            <a:pPr marL="1143000" lvl="2" indent="-228600" algn="just">
              <a:buFont typeface="+mj-lt"/>
              <a:buAutoNum type="arabicPeriod"/>
            </a:pPr>
            <a:r>
              <a:rPr lang="en-US" sz="2400" b="1" i="0" dirty="0">
                <a:solidFill>
                  <a:srgbClr val="0D0D0D"/>
                </a:solidFill>
                <a:effectLst/>
                <a:latin typeface="Söhne"/>
              </a:rPr>
              <a:t>Discrete Data:</a:t>
            </a:r>
            <a:r>
              <a:rPr lang="en-US" sz="2400" b="0" i="0" dirty="0">
                <a:solidFill>
                  <a:srgbClr val="0D0D0D"/>
                </a:solidFill>
                <a:effectLst/>
                <a:latin typeface="Söhne"/>
              </a:rPr>
              <a:t> Discrete data can only take specific, distinct values. Examples include counts of objects, scores on a test, and the number of items sold.</a:t>
            </a:r>
          </a:p>
          <a:p>
            <a:pPr algn="just">
              <a:buFont typeface="+mj-lt"/>
              <a:buAutoNum type="arabicPeriod"/>
            </a:pPr>
            <a:r>
              <a:rPr lang="en-US" sz="2400" b="1" i="0" dirty="0">
                <a:solidFill>
                  <a:srgbClr val="0D0D0D"/>
                </a:solidFill>
                <a:effectLst/>
                <a:latin typeface="Söhne"/>
              </a:rPr>
              <a:t>Categorical Data:</a:t>
            </a:r>
            <a:endParaRPr lang="en-US" sz="2400" b="0" i="0" dirty="0">
              <a:solidFill>
                <a:srgbClr val="0D0D0D"/>
              </a:solidFill>
              <a:effectLst/>
              <a:latin typeface="Söhne"/>
            </a:endParaRPr>
          </a:p>
          <a:p>
            <a:pPr marL="742950" lvl="1" indent="-285750" algn="just">
              <a:buFont typeface="+mj-lt"/>
              <a:buAutoNum type="arabicPeriod"/>
            </a:pPr>
            <a:r>
              <a:rPr lang="en-US" sz="2400" b="0" i="0" dirty="0">
                <a:solidFill>
                  <a:srgbClr val="0D0D0D"/>
                </a:solidFill>
                <a:effectLst/>
                <a:latin typeface="Söhne"/>
              </a:rPr>
              <a:t>Categorical data represents categories or labels and can be further classified into two subtypes:</a:t>
            </a:r>
          </a:p>
          <a:p>
            <a:pPr marL="1143000" lvl="2" indent="-228600" algn="just">
              <a:buFont typeface="+mj-lt"/>
              <a:buAutoNum type="arabicPeriod"/>
            </a:pPr>
            <a:r>
              <a:rPr lang="en-US" sz="2400" b="1" i="0" dirty="0">
                <a:solidFill>
                  <a:srgbClr val="0D0D0D"/>
                </a:solidFill>
                <a:effectLst/>
                <a:latin typeface="Söhne"/>
              </a:rPr>
              <a:t>Ordinal Data:</a:t>
            </a:r>
            <a:r>
              <a:rPr lang="en-US" sz="2400" b="0" i="0" dirty="0">
                <a:solidFill>
                  <a:srgbClr val="0D0D0D"/>
                </a:solidFill>
                <a:effectLst/>
                <a:latin typeface="Söhne"/>
              </a:rPr>
              <a:t> Ordinal data has a natural ordering or hierarchy between categories. Examples include rankings (e.g., "low," "medium," "high") and survey responses (e.g., "strongly disagree," "disagree," "neutral," "agree," "strongly agree").</a:t>
            </a:r>
          </a:p>
          <a:p>
            <a:pPr marL="1143000" lvl="2" indent="-228600" algn="just">
              <a:buFont typeface="+mj-lt"/>
              <a:buAutoNum type="arabicPeriod"/>
            </a:pPr>
            <a:r>
              <a:rPr lang="en-US" sz="2400" b="1" i="0" dirty="0">
                <a:solidFill>
                  <a:srgbClr val="0D0D0D"/>
                </a:solidFill>
                <a:effectLst/>
                <a:latin typeface="Söhne"/>
              </a:rPr>
              <a:t>Nominal Data:</a:t>
            </a:r>
            <a:r>
              <a:rPr lang="en-US" sz="2400" b="0" i="0" dirty="0">
                <a:solidFill>
                  <a:srgbClr val="0D0D0D"/>
                </a:solidFill>
                <a:effectLst/>
                <a:latin typeface="Söhne"/>
              </a:rPr>
              <a:t> Nominal data consists of categories with no inherent order or hierarchy. Examples include colors, gender, nationality, and types of animals.</a:t>
            </a:r>
          </a:p>
        </p:txBody>
      </p:sp>
    </p:spTree>
    <p:extLst>
      <p:ext uri="{BB962C8B-B14F-4D97-AF65-F5344CB8AC3E}">
        <p14:creationId xmlns:p14="http://schemas.microsoft.com/office/powerpoint/2010/main" val="2064856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8E7B-B8CA-3A54-4B06-D24A95BF2C07}"/>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F3DA92AD-364C-BC48-8862-F380D0FAEB18}"/>
              </a:ext>
            </a:extLst>
          </p:cNvPr>
          <p:cNvGrpSpPr/>
          <p:nvPr/>
        </p:nvGrpSpPr>
        <p:grpSpPr>
          <a:xfrm>
            <a:off x="0" y="200025"/>
            <a:ext cx="1914525" cy="276225"/>
            <a:chOff x="0" y="200025"/>
            <a:chExt cx="1914525" cy="276225"/>
          </a:xfrm>
        </p:grpSpPr>
        <p:sp>
          <p:nvSpPr>
            <p:cNvPr id="4" name="object 4">
              <a:extLst>
                <a:ext uri="{FF2B5EF4-FFF2-40B4-BE49-F238E27FC236}">
                  <a16:creationId xmlns:a16="http://schemas.microsoft.com/office/drawing/2014/main" id="{B439946A-10FC-C736-7CE9-F0531B7353A1}"/>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1BCDFC46-5083-0F78-202C-32837879E228}"/>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alpha val="59999"/>
              </a:srgbClr>
            </a:solidFill>
          </p:spPr>
          <p:txBody>
            <a:bodyPr wrap="square" lIns="0" tIns="0" rIns="0" bIns="0" rtlCol="0"/>
            <a:lstStyle/>
            <a:p>
              <a:endParaRPr/>
            </a:p>
          </p:txBody>
        </p:sp>
      </p:grpSp>
      <p:grpSp>
        <p:nvGrpSpPr>
          <p:cNvPr id="6" name="object 6">
            <a:extLst>
              <a:ext uri="{FF2B5EF4-FFF2-40B4-BE49-F238E27FC236}">
                <a16:creationId xmlns:a16="http://schemas.microsoft.com/office/drawing/2014/main" id="{930A1FFB-1AC3-5E84-ADD0-60A5244CF8AB}"/>
              </a:ext>
            </a:extLst>
          </p:cNvPr>
          <p:cNvGrpSpPr/>
          <p:nvPr/>
        </p:nvGrpSpPr>
        <p:grpSpPr>
          <a:xfrm>
            <a:off x="0" y="638175"/>
            <a:ext cx="1914525" cy="276225"/>
            <a:chOff x="0" y="638175"/>
            <a:chExt cx="1914525" cy="276225"/>
          </a:xfrm>
        </p:grpSpPr>
        <p:sp>
          <p:nvSpPr>
            <p:cNvPr id="7" name="object 7">
              <a:extLst>
                <a:ext uri="{FF2B5EF4-FFF2-40B4-BE49-F238E27FC236}">
                  <a16:creationId xmlns:a16="http://schemas.microsoft.com/office/drawing/2014/main" id="{DF85CA68-0663-5059-7C0D-0B4661FD29AC}"/>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F63DFE67-03FA-53C7-CD8C-63474D0B5EC4}"/>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alpha val="59999"/>
              </a:srgbClr>
            </a:solidFill>
          </p:spPr>
          <p:txBody>
            <a:bodyPr wrap="square" lIns="0" tIns="0" rIns="0" bIns="0" rtlCol="0"/>
            <a:lstStyle/>
            <a:p>
              <a:endParaRPr/>
            </a:p>
          </p:txBody>
        </p:sp>
      </p:grpSp>
      <p:grpSp>
        <p:nvGrpSpPr>
          <p:cNvPr id="9" name="object 9">
            <a:extLst>
              <a:ext uri="{FF2B5EF4-FFF2-40B4-BE49-F238E27FC236}">
                <a16:creationId xmlns:a16="http://schemas.microsoft.com/office/drawing/2014/main" id="{445D9951-A1A5-044E-A759-CA4051E33901}"/>
              </a:ext>
            </a:extLst>
          </p:cNvPr>
          <p:cNvGrpSpPr/>
          <p:nvPr/>
        </p:nvGrpSpPr>
        <p:grpSpPr>
          <a:xfrm>
            <a:off x="400050" y="4743513"/>
            <a:ext cx="390525" cy="390525"/>
            <a:chOff x="400050" y="4743513"/>
            <a:chExt cx="390525" cy="390525"/>
          </a:xfrm>
        </p:grpSpPr>
        <p:sp>
          <p:nvSpPr>
            <p:cNvPr id="10" name="object 10">
              <a:extLst>
                <a:ext uri="{FF2B5EF4-FFF2-40B4-BE49-F238E27FC236}">
                  <a16:creationId xmlns:a16="http://schemas.microsoft.com/office/drawing/2014/main" id="{CE1FACCD-68B6-328C-DE02-8F046577ED46}"/>
                </a:ext>
              </a:extLst>
            </p:cNvPr>
            <p:cNvSpPr/>
            <p:nvPr/>
          </p:nvSpPr>
          <p:spPr>
            <a:xfrm>
              <a:off x="414337" y="4757801"/>
              <a:ext cx="361950" cy="361950"/>
            </a:xfrm>
            <a:custGeom>
              <a:avLst/>
              <a:gdLst/>
              <a:ahLst/>
              <a:cxnLst/>
              <a:rect l="l" t="t" r="r" b="b"/>
              <a:pathLst>
                <a:path w="361950" h="361950">
                  <a:moveTo>
                    <a:pt x="180975" y="0"/>
                  </a:moveTo>
                  <a:lnTo>
                    <a:pt x="132864" y="6455"/>
                  </a:lnTo>
                  <a:lnTo>
                    <a:pt x="89633" y="24680"/>
                  </a:lnTo>
                  <a:lnTo>
                    <a:pt x="53006" y="52959"/>
                  </a:lnTo>
                  <a:lnTo>
                    <a:pt x="24708" y="89577"/>
                  </a:lnTo>
                  <a:lnTo>
                    <a:pt x="6464" y="132820"/>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20"/>
                  </a:lnTo>
                  <a:lnTo>
                    <a:pt x="337241" y="89577"/>
                  </a:lnTo>
                  <a:lnTo>
                    <a:pt x="308943" y="52958"/>
                  </a:lnTo>
                  <a:lnTo>
                    <a:pt x="272316" y="24680"/>
                  </a:lnTo>
                  <a:lnTo>
                    <a:pt x="229085" y="6455"/>
                  </a:lnTo>
                  <a:lnTo>
                    <a:pt x="180975" y="0"/>
                  </a:lnTo>
                  <a:close/>
                </a:path>
              </a:pathLst>
            </a:custGeom>
            <a:solidFill>
              <a:srgbClr val="AD4DC3">
                <a:alpha val="1999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E6E2C475-C96E-A521-9062-95D50B509D4F}"/>
                </a:ext>
              </a:extLst>
            </p:cNvPr>
            <p:cNvSpPr/>
            <p:nvPr/>
          </p:nvSpPr>
          <p:spPr>
            <a:xfrm>
              <a:off x="414337" y="4757801"/>
              <a:ext cx="361950" cy="361950"/>
            </a:xfrm>
            <a:custGeom>
              <a:avLst/>
              <a:gdLst/>
              <a:ahLst/>
              <a:cxnLst/>
              <a:rect l="l" t="t" r="r" b="b"/>
              <a:pathLst>
                <a:path w="361950" h="361950">
                  <a:moveTo>
                    <a:pt x="0" y="180975"/>
                  </a:moveTo>
                  <a:lnTo>
                    <a:pt x="6464" y="132820"/>
                  </a:lnTo>
                  <a:lnTo>
                    <a:pt x="24708" y="89577"/>
                  </a:lnTo>
                  <a:lnTo>
                    <a:pt x="53006" y="52959"/>
                  </a:lnTo>
                  <a:lnTo>
                    <a:pt x="89633" y="24680"/>
                  </a:lnTo>
                  <a:lnTo>
                    <a:pt x="132864" y="6455"/>
                  </a:lnTo>
                  <a:lnTo>
                    <a:pt x="180975" y="0"/>
                  </a:lnTo>
                  <a:lnTo>
                    <a:pt x="229085" y="6455"/>
                  </a:lnTo>
                  <a:lnTo>
                    <a:pt x="272316" y="24680"/>
                  </a:lnTo>
                  <a:lnTo>
                    <a:pt x="308943" y="52958"/>
                  </a:lnTo>
                  <a:lnTo>
                    <a:pt x="337241" y="89577"/>
                  </a:lnTo>
                  <a:lnTo>
                    <a:pt x="355485" y="132820"/>
                  </a:lnTo>
                  <a:lnTo>
                    <a:pt x="361950" y="180975"/>
                  </a:lnTo>
                  <a:lnTo>
                    <a:pt x="355485" y="229085"/>
                  </a:lnTo>
                  <a:lnTo>
                    <a:pt x="337241" y="272316"/>
                  </a:lnTo>
                  <a:lnTo>
                    <a:pt x="308943" y="308943"/>
                  </a:lnTo>
                  <a:lnTo>
                    <a:pt x="272316" y="337241"/>
                  </a:lnTo>
                  <a:lnTo>
                    <a:pt x="229085" y="355485"/>
                  </a:lnTo>
                  <a:lnTo>
                    <a:pt x="180975" y="361950"/>
                  </a:lnTo>
                  <a:lnTo>
                    <a:pt x="132864" y="355485"/>
                  </a:lnTo>
                  <a:lnTo>
                    <a:pt x="89633" y="337241"/>
                  </a:lnTo>
                  <a:lnTo>
                    <a:pt x="53006" y="308943"/>
                  </a:lnTo>
                  <a:lnTo>
                    <a:pt x="24708" y="272316"/>
                  </a:lnTo>
                  <a:lnTo>
                    <a:pt x="6464" y="229085"/>
                  </a:lnTo>
                  <a:lnTo>
                    <a:pt x="0" y="180975"/>
                  </a:lnTo>
                  <a:close/>
                </a:path>
              </a:pathLst>
            </a:custGeom>
            <a:ln w="28575">
              <a:solidFill>
                <a:srgbClr val="000000"/>
              </a:solidFill>
            </a:ln>
          </p:spPr>
          <p:txBody>
            <a:bodyPr wrap="square" lIns="0" tIns="0" rIns="0" bIns="0" rtlCol="0"/>
            <a:lstStyle/>
            <a:p>
              <a:endParaRPr/>
            </a:p>
          </p:txBody>
        </p:sp>
      </p:grpSp>
      <p:sp>
        <p:nvSpPr>
          <p:cNvPr id="23" name="Rectangle 1">
            <a:extLst>
              <a:ext uri="{FF2B5EF4-FFF2-40B4-BE49-F238E27FC236}">
                <a16:creationId xmlns:a16="http://schemas.microsoft.com/office/drawing/2014/main" id="{F8EA26D8-5221-7EEA-7A5C-259C81591662}"/>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Söhne"/>
              </a:rPr>
              <a:t>Tools in Machine Learning,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D324DD52-7AB5-36F6-21AA-7F3E43FD36C3}"/>
              </a:ext>
            </a:extLst>
          </p:cNvPr>
          <p:cNvSpPr txBox="1"/>
          <p:nvPr/>
        </p:nvSpPr>
        <p:spPr>
          <a:xfrm>
            <a:off x="2057401" y="152400"/>
            <a:ext cx="9982199" cy="6001643"/>
          </a:xfrm>
          <a:prstGeom prst="rect">
            <a:avLst/>
          </a:prstGeom>
          <a:noFill/>
        </p:spPr>
        <p:txBody>
          <a:bodyPr wrap="square">
            <a:spAutoFit/>
          </a:bodyPr>
          <a:lstStyle/>
          <a:p>
            <a:pPr algn="just"/>
            <a:r>
              <a:rPr lang="en-US" sz="2400" b="1" i="0" dirty="0">
                <a:solidFill>
                  <a:srgbClr val="0D0D0D"/>
                </a:solidFill>
                <a:effectLst/>
                <a:latin typeface="Söhne"/>
              </a:rPr>
              <a:t>Text Data:</a:t>
            </a:r>
            <a:endParaRPr lang="en-US" sz="2400" b="0" i="0" dirty="0">
              <a:solidFill>
                <a:srgbClr val="0D0D0D"/>
              </a:solidFill>
              <a:effectLst/>
              <a:latin typeface="Söhne"/>
            </a:endParaRPr>
          </a:p>
          <a:p>
            <a:pPr marL="742950" lvl="1" indent="-285750" algn="just">
              <a:buFont typeface="+mj-lt"/>
              <a:buAutoNum type="arabicPeriod"/>
            </a:pPr>
            <a:r>
              <a:rPr lang="en-US" sz="2400" b="0" i="0" dirty="0">
                <a:solidFill>
                  <a:srgbClr val="0D0D0D"/>
                </a:solidFill>
                <a:effectLst/>
                <a:latin typeface="Söhne"/>
              </a:rPr>
              <a:t>Text data consists of sequences of characters or words and is commonly encountered in natural language processing (NLP) tasks. Examples include text documents, emails, tweets, and customer reviews.</a:t>
            </a:r>
          </a:p>
          <a:p>
            <a:pPr algn="l">
              <a:buFont typeface="+mj-lt"/>
              <a:buAutoNum type="arabicPeriod"/>
            </a:pPr>
            <a:endParaRPr lang="en-US" sz="2400" b="1" dirty="0">
              <a:solidFill>
                <a:srgbClr val="0D0D0D"/>
              </a:solidFill>
              <a:latin typeface="Söhne"/>
            </a:endParaRPr>
          </a:p>
          <a:p>
            <a:pPr algn="l"/>
            <a:r>
              <a:rPr lang="en-US" sz="2400" b="1" i="0" dirty="0">
                <a:solidFill>
                  <a:srgbClr val="0D0D0D"/>
                </a:solidFill>
                <a:effectLst/>
                <a:latin typeface="Söhne"/>
              </a:rPr>
              <a:t>Image Data:</a:t>
            </a:r>
            <a:endParaRPr lang="en-US" sz="2400" b="0" i="0" dirty="0">
              <a:solidFill>
                <a:srgbClr val="0D0D0D"/>
              </a:solidFill>
              <a:effectLst/>
              <a:latin typeface="Söhne"/>
            </a:endParaRPr>
          </a:p>
          <a:p>
            <a:pPr marL="742950" lvl="1" indent="-285750" algn="l">
              <a:buFont typeface="+mj-lt"/>
              <a:buAutoNum type="arabicPeriod"/>
            </a:pPr>
            <a:r>
              <a:rPr lang="en-US" sz="2400" b="0" i="0" dirty="0">
                <a:solidFill>
                  <a:srgbClr val="0D0D0D"/>
                </a:solidFill>
                <a:effectLst/>
                <a:latin typeface="Söhne"/>
              </a:rPr>
              <a:t>Image data consists of visual representations of objects, scenes, or patterns. Each image is typically composed of pixels, with each pixel representing a color value. Image data is commonly used in computer vision tasks such as object detection, image classification, and image segmentation.</a:t>
            </a:r>
          </a:p>
          <a:p>
            <a:pPr algn="l"/>
            <a:r>
              <a:rPr lang="en-US" sz="2400" b="1" i="0" dirty="0">
                <a:solidFill>
                  <a:srgbClr val="0D0D0D"/>
                </a:solidFill>
                <a:effectLst/>
                <a:latin typeface="Söhne"/>
              </a:rPr>
              <a:t>Audio Data:</a:t>
            </a:r>
            <a:endParaRPr lang="en-US" sz="2400" b="0" i="0" dirty="0">
              <a:solidFill>
                <a:srgbClr val="0D0D0D"/>
              </a:solidFill>
              <a:effectLst/>
              <a:latin typeface="Söhne"/>
            </a:endParaRPr>
          </a:p>
          <a:p>
            <a:pPr marL="742950" lvl="1" indent="-285750" algn="l">
              <a:buFont typeface="+mj-lt"/>
              <a:buAutoNum type="arabicPeriod"/>
            </a:pPr>
            <a:r>
              <a:rPr lang="en-US" sz="2400" b="0" i="0" dirty="0">
                <a:solidFill>
                  <a:srgbClr val="0D0D0D"/>
                </a:solidFill>
                <a:effectLst/>
                <a:latin typeface="Söhne"/>
              </a:rPr>
              <a:t>Audio data consists of sound waveforms recorded over time. Each audio sample represents the intensity of sound at a specific time point. Audio data is used in tasks such as speech recognition, speaker identification, and emotion detection.</a:t>
            </a:r>
          </a:p>
        </p:txBody>
      </p:sp>
    </p:spTree>
    <p:extLst>
      <p:ext uri="{BB962C8B-B14F-4D97-AF65-F5344CB8AC3E}">
        <p14:creationId xmlns:p14="http://schemas.microsoft.com/office/powerpoint/2010/main" val="1037026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1F4E-C93D-15C6-8FA5-E264F2E6B834}"/>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45E91A2C-5AB8-A926-3D1C-82E6898004D1}"/>
              </a:ext>
            </a:extLst>
          </p:cNvPr>
          <p:cNvGrpSpPr/>
          <p:nvPr/>
        </p:nvGrpSpPr>
        <p:grpSpPr>
          <a:xfrm>
            <a:off x="0" y="200025"/>
            <a:ext cx="1914525" cy="276225"/>
            <a:chOff x="0" y="200025"/>
            <a:chExt cx="1914525" cy="276225"/>
          </a:xfrm>
        </p:grpSpPr>
        <p:sp>
          <p:nvSpPr>
            <p:cNvPr id="4" name="object 4">
              <a:extLst>
                <a:ext uri="{FF2B5EF4-FFF2-40B4-BE49-F238E27FC236}">
                  <a16:creationId xmlns:a16="http://schemas.microsoft.com/office/drawing/2014/main" id="{BDF66415-76E4-D987-C40E-82E2BAE2EE75}"/>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solidFill>
          </p:spPr>
          <p:txBody>
            <a:bodyPr wrap="square" lIns="0" tIns="0" rIns="0" bIns="0" rtlCol="0"/>
            <a:lstStyle/>
            <a:p>
              <a:endParaRPr/>
            </a:p>
          </p:txBody>
        </p:sp>
        <p:sp>
          <p:nvSpPr>
            <p:cNvPr id="5" name="object 5">
              <a:extLst>
                <a:ext uri="{FF2B5EF4-FFF2-40B4-BE49-F238E27FC236}">
                  <a16:creationId xmlns:a16="http://schemas.microsoft.com/office/drawing/2014/main" id="{A359BABB-5836-87C7-D360-EF7E29787135}"/>
                </a:ext>
              </a:extLst>
            </p:cNvPr>
            <p:cNvSpPr/>
            <p:nvPr/>
          </p:nvSpPr>
          <p:spPr>
            <a:xfrm>
              <a:off x="0" y="200025"/>
              <a:ext cx="1914525" cy="276225"/>
            </a:xfrm>
            <a:custGeom>
              <a:avLst/>
              <a:gdLst/>
              <a:ahLst/>
              <a:cxnLst/>
              <a:rect l="l" t="t" r="r" b="b"/>
              <a:pathLst>
                <a:path w="1914525" h="276225">
                  <a:moveTo>
                    <a:pt x="1668526" y="0"/>
                  </a:moveTo>
                  <a:lnTo>
                    <a:pt x="1432179" y="237109"/>
                  </a:lnTo>
                  <a:lnTo>
                    <a:pt x="1195971" y="0"/>
                  </a:lnTo>
                  <a:lnTo>
                    <a:pt x="957262" y="237109"/>
                  </a:lnTo>
                  <a:lnTo>
                    <a:pt x="720991" y="0"/>
                  </a:lnTo>
                  <a:lnTo>
                    <a:pt x="484720" y="237109"/>
                  </a:lnTo>
                  <a:lnTo>
                    <a:pt x="246011" y="0"/>
                  </a:lnTo>
                  <a:lnTo>
                    <a:pt x="0" y="246887"/>
                  </a:lnTo>
                  <a:lnTo>
                    <a:pt x="19485" y="266446"/>
                  </a:lnTo>
                  <a:lnTo>
                    <a:pt x="246011" y="39116"/>
                  </a:lnTo>
                  <a:lnTo>
                    <a:pt x="484720" y="276225"/>
                  </a:lnTo>
                  <a:lnTo>
                    <a:pt x="720991" y="39116"/>
                  </a:lnTo>
                  <a:lnTo>
                    <a:pt x="957262" y="276225"/>
                  </a:lnTo>
                  <a:lnTo>
                    <a:pt x="1195971" y="39116"/>
                  </a:lnTo>
                  <a:lnTo>
                    <a:pt x="1432179" y="276225"/>
                  </a:lnTo>
                  <a:lnTo>
                    <a:pt x="1668526" y="39116"/>
                  </a:lnTo>
                  <a:lnTo>
                    <a:pt x="1897507" y="266446"/>
                  </a:lnTo>
                  <a:lnTo>
                    <a:pt x="1914525" y="246887"/>
                  </a:lnTo>
                  <a:lnTo>
                    <a:pt x="1668526" y="0"/>
                  </a:lnTo>
                  <a:close/>
                </a:path>
              </a:pathLst>
            </a:custGeom>
            <a:solidFill>
              <a:srgbClr val="000000">
                <a:alpha val="59999"/>
              </a:srgbClr>
            </a:solidFill>
          </p:spPr>
          <p:txBody>
            <a:bodyPr wrap="square" lIns="0" tIns="0" rIns="0" bIns="0" rtlCol="0"/>
            <a:lstStyle/>
            <a:p>
              <a:endParaRPr/>
            </a:p>
          </p:txBody>
        </p:sp>
      </p:grpSp>
      <p:grpSp>
        <p:nvGrpSpPr>
          <p:cNvPr id="6" name="object 6">
            <a:extLst>
              <a:ext uri="{FF2B5EF4-FFF2-40B4-BE49-F238E27FC236}">
                <a16:creationId xmlns:a16="http://schemas.microsoft.com/office/drawing/2014/main" id="{B9195000-5B43-D50F-1A0B-E37F2FEE54FB}"/>
              </a:ext>
            </a:extLst>
          </p:cNvPr>
          <p:cNvGrpSpPr/>
          <p:nvPr/>
        </p:nvGrpSpPr>
        <p:grpSpPr>
          <a:xfrm>
            <a:off x="0" y="638175"/>
            <a:ext cx="1914525" cy="276225"/>
            <a:chOff x="0" y="638175"/>
            <a:chExt cx="1914525" cy="276225"/>
          </a:xfrm>
        </p:grpSpPr>
        <p:sp>
          <p:nvSpPr>
            <p:cNvPr id="7" name="object 7">
              <a:extLst>
                <a:ext uri="{FF2B5EF4-FFF2-40B4-BE49-F238E27FC236}">
                  <a16:creationId xmlns:a16="http://schemas.microsoft.com/office/drawing/2014/main" id="{48654B1B-5ADA-CE63-1A12-53AC38B975A5}"/>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solidFill>
          </p:spPr>
          <p:txBody>
            <a:bodyPr wrap="square" lIns="0" tIns="0" rIns="0" bIns="0" rtlCol="0"/>
            <a:lstStyle/>
            <a:p>
              <a:endParaRPr/>
            </a:p>
          </p:txBody>
        </p:sp>
        <p:sp>
          <p:nvSpPr>
            <p:cNvPr id="8" name="object 8">
              <a:extLst>
                <a:ext uri="{FF2B5EF4-FFF2-40B4-BE49-F238E27FC236}">
                  <a16:creationId xmlns:a16="http://schemas.microsoft.com/office/drawing/2014/main" id="{91705075-6A4F-3E71-7A53-AACA14B0203F}"/>
                </a:ext>
              </a:extLst>
            </p:cNvPr>
            <p:cNvSpPr/>
            <p:nvPr/>
          </p:nvSpPr>
          <p:spPr>
            <a:xfrm>
              <a:off x="0" y="638175"/>
              <a:ext cx="1914525" cy="276225"/>
            </a:xfrm>
            <a:custGeom>
              <a:avLst/>
              <a:gdLst/>
              <a:ahLst/>
              <a:cxnLst/>
              <a:rect l="l" t="t" r="r" b="b"/>
              <a:pathLst>
                <a:path w="1914525" h="276225">
                  <a:moveTo>
                    <a:pt x="1668526" y="0"/>
                  </a:moveTo>
                  <a:lnTo>
                    <a:pt x="1432179" y="239522"/>
                  </a:lnTo>
                  <a:lnTo>
                    <a:pt x="1195971" y="0"/>
                  </a:lnTo>
                  <a:lnTo>
                    <a:pt x="957262" y="239522"/>
                  </a:lnTo>
                  <a:lnTo>
                    <a:pt x="720991" y="0"/>
                  </a:lnTo>
                  <a:lnTo>
                    <a:pt x="484720" y="239522"/>
                  </a:lnTo>
                  <a:lnTo>
                    <a:pt x="246011" y="0"/>
                  </a:lnTo>
                  <a:lnTo>
                    <a:pt x="0" y="249300"/>
                  </a:lnTo>
                  <a:lnTo>
                    <a:pt x="19485" y="266446"/>
                  </a:lnTo>
                  <a:lnTo>
                    <a:pt x="246011" y="39115"/>
                  </a:lnTo>
                  <a:lnTo>
                    <a:pt x="484720" y="276225"/>
                  </a:lnTo>
                  <a:lnTo>
                    <a:pt x="720991" y="39115"/>
                  </a:lnTo>
                  <a:lnTo>
                    <a:pt x="957262" y="276225"/>
                  </a:lnTo>
                  <a:lnTo>
                    <a:pt x="1195971" y="39115"/>
                  </a:lnTo>
                  <a:lnTo>
                    <a:pt x="1432179" y="276225"/>
                  </a:lnTo>
                  <a:lnTo>
                    <a:pt x="1668526" y="39115"/>
                  </a:lnTo>
                  <a:lnTo>
                    <a:pt x="1897507" y="266446"/>
                  </a:lnTo>
                  <a:lnTo>
                    <a:pt x="1914525" y="249300"/>
                  </a:lnTo>
                  <a:lnTo>
                    <a:pt x="1668526" y="0"/>
                  </a:lnTo>
                  <a:close/>
                </a:path>
              </a:pathLst>
            </a:custGeom>
            <a:solidFill>
              <a:srgbClr val="000000">
                <a:alpha val="59999"/>
              </a:srgbClr>
            </a:solidFill>
          </p:spPr>
          <p:txBody>
            <a:bodyPr wrap="square" lIns="0" tIns="0" rIns="0" bIns="0" rtlCol="0"/>
            <a:lstStyle/>
            <a:p>
              <a:endParaRPr/>
            </a:p>
          </p:txBody>
        </p:sp>
      </p:grpSp>
      <p:sp>
        <p:nvSpPr>
          <p:cNvPr id="23" name="Rectangle 1">
            <a:extLst>
              <a:ext uri="{FF2B5EF4-FFF2-40B4-BE49-F238E27FC236}">
                <a16:creationId xmlns:a16="http://schemas.microsoft.com/office/drawing/2014/main" id="{3399186F-496E-0B14-209E-B15ACD2CE57D}"/>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Söhne"/>
              </a:rPr>
              <a:t>Tools in Machine Learning,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E66B146D-47C1-4230-AA62-5104AAFF5632}"/>
              </a:ext>
            </a:extLst>
          </p:cNvPr>
          <p:cNvSpPr txBox="1"/>
          <p:nvPr/>
        </p:nvSpPr>
        <p:spPr>
          <a:xfrm>
            <a:off x="1925411" y="56223"/>
            <a:ext cx="10114189" cy="4555093"/>
          </a:xfrm>
          <a:prstGeom prst="rect">
            <a:avLst/>
          </a:prstGeom>
          <a:noFill/>
        </p:spPr>
        <p:txBody>
          <a:bodyPr wrap="square">
            <a:spAutoFit/>
          </a:bodyPr>
          <a:lstStyle/>
          <a:p>
            <a:pPr algn="l"/>
            <a:r>
              <a:rPr lang="en-US" sz="2400" b="1" i="0" dirty="0">
                <a:solidFill>
                  <a:srgbClr val="0D0D0D"/>
                </a:solidFill>
                <a:effectLst/>
                <a:latin typeface="Söhne"/>
              </a:rPr>
              <a:t>Time Series Data:</a:t>
            </a:r>
            <a:endParaRPr lang="en-US" sz="2400" b="0" i="0" dirty="0">
              <a:solidFill>
                <a:srgbClr val="0D0D0D"/>
              </a:solidFill>
              <a:effectLst/>
              <a:latin typeface="Söhne"/>
            </a:endParaRPr>
          </a:p>
          <a:p>
            <a:pPr marL="742950" lvl="1" indent="-285750" algn="l">
              <a:buFont typeface="+mj-lt"/>
              <a:buAutoNum type="arabicPeriod"/>
            </a:pPr>
            <a:r>
              <a:rPr lang="en-US" sz="2400" b="0" i="0" dirty="0">
                <a:solidFill>
                  <a:srgbClr val="0D0D0D"/>
                </a:solidFill>
                <a:effectLst/>
                <a:latin typeface="Söhne"/>
              </a:rPr>
              <a:t>Time series data consists of observations collected at regular intervals over time. Each data point is associated with a timestamp or time index. Time series data is commonly encountered in forecasting tasks, stock market analysis, weather prediction, and sensor data monitoring.</a:t>
            </a:r>
          </a:p>
          <a:p>
            <a:pPr marL="742950" lvl="1" indent="-285750" algn="l">
              <a:buFont typeface="+mj-lt"/>
              <a:buAutoNum type="arabicPeriod"/>
            </a:pPr>
            <a:endParaRPr lang="en-US" sz="3400" dirty="0">
              <a:solidFill>
                <a:srgbClr val="0D0D0D"/>
              </a:solidFill>
              <a:latin typeface="Söhne"/>
            </a:endParaRPr>
          </a:p>
          <a:p>
            <a:pPr lvl="1" algn="l"/>
            <a:r>
              <a:rPr lang="en-US" sz="3400" b="0" i="0" dirty="0">
                <a:solidFill>
                  <a:srgbClr val="0D0D0D"/>
                </a:solidFill>
                <a:effectLst/>
                <a:highlight>
                  <a:srgbClr val="FFFF00"/>
                </a:highlight>
                <a:latin typeface="Söhne"/>
              </a:rPr>
              <a:t>Understanding the types of data present in a dataset is crucial for selecting appropriate data preprocessing techniques, feature engineering methods, and machine learning algorithms</a:t>
            </a:r>
            <a:r>
              <a:rPr lang="en-US" sz="2400" b="0" i="0" dirty="0">
                <a:solidFill>
                  <a:srgbClr val="0D0D0D"/>
                </a:solidFill>
                <a:effectLst/>
                <a:highlight>
                  <a:srgbClr val="FFFF00"/>
                </a:highlight>
                <a:latin typeface="Söhne"/>
              </a:rPr>
              <a:t>.</a:t>
            </a:r>
          </a:p>
        </p:txBody>
      </p:sp>
    </p:spTree>
    <p:extLst>
      <p:ext uri="{BB962C8B-B14F-4D97-AF65-F5344CB8AC3E}">
        <p14:creationId xmlns:p14="http://schemas.microsoft.com/office/powerpoint/2010/main" val="3359088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6CED4-0D68-C634-5D19-1EBEF60A1B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EDB2D6-56C5-940A-C811-55EB5B4050FE}"/>
              </a:ext>
            </a:extLst>
          </p:cNvPr>
          <p:cNvPicPr>
            <a:picLocks noChangeAspect="1"/>
          </p:cNvPicPr>
          <p:nvPr/>
        </p:nvPicPr>
        <p:blipFill>
          <a:blip r:embed="rId2"/>
          <a:stretch>
            <a:fillRect/>
          </a:stretch>
        </p:blipFill>
        <p:spPr>
          <a:xfrm>
            <a:off x="511628" y="102358"/>
            <a:ext cx="11136085" cy="6538253"/>
          </a:xfrm>
          <a:prstGeom prst="rect">
            <a:avLst/>
          </a:prstGeom>
        </p:spPr>
      </p:pic>
    </p:spTree>
    <p:extLst>
      <p:ext uri="{BB962C8B-B14F-4D97-AF65-F5344CB8AC3E}">
        <p14:creationId xmlns:p14="http://schemas.microsoft.com/office/powerpoint/2010/main" val="3773164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E0DE1-5AB4-DE23-73CF-5600B951FE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65CAC8-B970-70FD-7680-5BD5744FDF10}"/>
              </a:ext>
            </a:extLst>
          </p:cNvPr>
          <p:cNvSpPr txBox="1"/>
          <p:nvPr/>
        </p:nvSpPr>
        <p:spPr>
          <a:xfrm>
            <a:off x="152400" y="152400"/>
            <a:ext cx="10972800" cy="7201972"/>
          </a:xfrm>
          <a:prstGeom prst="rect">
            <a:avLst/>
          </a:prstGeom>
          <a:noFill/>
        </p:spPr>
        <p:txBody>
          <a:bodyPr wrap="square">
            <a:spAutoFit/>
          </a:bodyPr>
          <a:lstStyle/>
          <a:p>
            <a:r>
              <a:rPr lang="en-US" sz="2200" b="1" dirty="0">
                <a:highlight>
                  <a:srgbClr val="FFFF00"/>
                </a:highlight>
              </a:rPr>
              <a:t>Machine Learning Categories</a:t>
            </a:r>
          </a:p>
          <a:p>
            <a:pPr>
              <a:buFont typeface="+mj-lt"/>
              <a:buAutoNum type="arabicPeriod"/>
            </a:pPr>
            <a:r>
              <a:rPr lang="en-US" sz="2200" b="1" dirty="0"/>
              <a:t>Supervised Learning</a:t>
            </a:r>
            <a:r>
              <a:rPr lang="en-US" sz="2200" dirty="0"/>
              <a:t>: Uses labeled data to train models for predictions or classifications.</a:t>
            </a:r>
          </a:p>
          <a:p>
            <a:pPr>
              <a:buFont typeface="+mj-lt"/>
              <a:buAutoNum type="arabicPeriod"/>
            </a:pPr>
            <a:r>
              <a:rPr lang="en-US" sz="2200" b="1" dirty="0"/>
              <a:t>Unsupervised Learning</a:t>
            </a:r>
            <a:r>
              <a:rPr lang="en-US" sz="2200" dirty="0"/>
              <a:t>: Identifies patterns and relationships in unlabeled data.</a:t>
            </a:r>
          </a:p>
          <a:p>
            <a:pPr>
              <a:buFont typeface="+mj-lt"/>
              <a:buAutoNum type="arabicPeriod"/>
            </a:pPr>
            <a:r>
              <a:rPr lang="en-US" sz="2200" b="1" dirty="0"/>
              <a:t>Reinforcement Learning</a:t>
            </a:r>
            <a:r>
              <a:rPr lang="en-US" sz="2200" dirty="0"/>
              <a:t>: Trains agents by rewarding desired actions and penalizing undesired ones</a:t>
            </a:r>
          </a:p>
          <a:p>
            <a:r>
              <a:rPr lang="en-IN" sz="2200" b="1" dirty="0">
                <a:highlight>
                  <a:srgbClr val="FFFF00"/>
                </a:highlight>
              </a:rPr>
              <a:t> Supervised Learning</a:t>
            </a:r>
          </a:p>
          <a:p>
            <a:r>
              <a:rPr lang="en-IN" sz="2200" b="1" dirty="0"/>
              <a:t>A. </a:t>
            </a:r>
            <a:r>
              <a:rPr lang="en-IN" sz="2200" b="1" dirty="0">
                <a:highlight>
                  <a:srgbClr val="00FF00"/>
                </a:highlight>
              </a:rPr>
              <a:t>Classification Algorithms:</a:t>
            </a:r>
          </a:p>
          <a:p>
            <a:pPr>
              <a:buFont typeface="Arial" panose="020B0604020202020204" pitchFamily="34" charset="0"/>
              <a:buChar char="•"/>
            </a:pPr>
            <a:r>
              <a:rPr lang="en-IN" sz="2200" b="1" dirty="0"/>
              <a:t>Logistic Regression</a:t>
            </a:r>
            <a:r>
              <a:rPr lang="en-IN" sz="2200" dirty="0"/>
              <a:t>: Predicts categorical outcomes using a logistic function.</a:t>
            </a:r>
          </a:p>
          <a:p>
            <a:pPr>
              <a:buFont typeface="Arial" panose="020B0604020202020204" pitchFamily="34" charset="0"/>
              <a:buChar char="•"/>
            </a:pPr>
            <a:r>
              <a:rPr lang="en-IN" sz="2200" b="1" dirty="0"/>
              <a:t>Naive Bayes Classifier</a:t>
            </a:r>
            <a:r>
              <a:rPr lang="en-IN" sz="2200" dirty="0"/>
              <a:t>: Uses Bayes’ theorem for probabilistic classification.</a:t>
            </a:r>
          </a:p>
          <a:p>
            <a:pPr>
              <a:buFont typeface="Arial" panose="020B0604020202020204" pitchFamily="34" charset="0"/>
              <a:buChar char="•"/>
            </a:pPr>
            <a:r>
              <a:rPr lang="en-IN" sz="2200" b="1" dirty="0"/>
              <a:t>K-Nearest </a:t>
            </a:r>
            <a:r>
              <a:rPr lang="en-IN" sz="2200" b="1" dirty="0" err="1"/>
              <a:t>Neighbor</a:t>
            </a:r>
            <a:r>
              <a:rPr lang="en-IN" sz="2200" b="1" dirty="0"/>
              <a:t> (KNN)</a:t>
            </a:r>
            <a:r>
              <a:rPr lang="en-IN" sz="2200" dirty="0"/>
              <a:t>: Classifies data points based on their proximity to neighbours.</a:t>
            </a:r>
          </a:p>
          <a:p>
            <a:pPr>
              <a:buFont typeface="Arial" panose="020B0604020202020204" pitchFamily="34" charset="0"/>
              <a:buChar char="•"/>
            </a:pPr>
            <a:r>
              <a:rPr lang="en-IN" sz="2200" b="1" dirty="0"/>
              <a:t>Support Vector Machine (SVM)</a:t>
            </a:r>
            <a:r>
              <a:rPr lang="en-IN" sz="2200" dirty="0"/>
              <a:t>: Finds the best hyperplane to classify data.</a:t>
            </a:r>
          </a:p>
          <a:p>
            <a:pPr>
              <a:buFont typeface="Arial" panose="020B0604020202020204" pitchFamily="34" charset="0"/>
              <a:buChar char="•"/>
            </a:pPr>
            <a:r>
              <a:rPr lang="en-US" sz="2200" b="1" dirty="0">
                <a:highlight>
                  <a:srgbClr val="00FFFF"/>
                </a:highlight>
              </a:rPr>
              <a:t>Example</a:t>
            </a:r>
            <a:r>
              <a:rPr lang="en-US" sz="2200" dirty="0">
                <a:highlight>
                  <a:srgbClr val="00FFFF"/>
                </a:highlight>
              </a:rPr>
              <a:t>: Email spam detection, speech recognition.</a:t>
            </a:r>
          </a:p>
          <a:p>
            <a:r>
              <a:rPr lang="en-US" sz="2200" b="1" dirty="0"/>
              <a:t>B. </a:t>
            </a:r>
            <a:r>
              <a:rPr lang="en-US" sz="2200" b="1" dirty="0">
                <a:highlight>
                  <a:srgbClr val="00FF00"/>
                </a:highlight>
              </a:rPr>
              <a:t>Regression Algorithms:</a:t>
            </a:r>
          </a:p>
          <a:p>
            <a:pPr>
              <a:buFont typeface="Arial" panose="020B0604020202020204" pitchFamily="34" charset="0"/>
              <a:buChar char="•"/>
            </a:pPr>
            <a:r>
              <a:rPr lang="en-US" sz="2200" b="1" dirty="0"/>
              <a:t>Linear Regression</a:t>
            </a:r>
            <a:r>
              <a:rPr lang="en-US" sz="2200" dirty="0"/>
              <a:t>: Models the relationship between variables by fitting a straight line.</a:t>
            </a:r>
          </a:p>
          <a:p>
            <a:pPr>
              <a:buFont typeface="Arial" panose="020B0604020202020204" pitchFamily="34" charset="0"/>
              <a:buChar char="•"/>
            </a:pPr>
            <a:r>
              <a:rPr lang="en-US" sz="2200" b="1" dirty="0"/>
              <a:t>Ridge Regression</a:t>
            </a:r>
            <a:r>
              <a:rPr lang="en-US" sz="2200" dirty="0"/>
              <a:t>: Adds regularization to linear regression to prevent overfitting.</a:t>
            </a:r>
          </a:p>
          <a:p>
            <a:pPr>
              <a:buFont typeface="Arial" panose="020B0604020202020204" pitchFamily="34" charset="0"/>
              <a:buChar char="•"/>
            </a:pPr>
            <a:r>
              <a:rPr lang="en-US" sz="2200" b="1" dirty="0"/>
              <a:t>Ordinary Least Squares (OLS)</a:t>
            </a:r>
            <a:r>
              <a:rPr lang="en-US" sz="2200" dirty="0"/>
              <a:t>: Minimizes the sum of squared differences between observed and predicted values.</a:t>
            </a:r>
          </a:p>
          <a:p>
            <a:pPr>
              <a:buFont typeface="Arial" panose="020B0604020202020204" pitchFamily="34" charset="0"/>
              <a:buChar char="•"/>
            </a:pPr>
            <a:r>
              <a:rPr lang="en-US" sz="2200" b="1" dirty="0"/>
              <a:t>Stepwise Regression</a:t>
            </a:r>
            <a:r>
              <a:rPr lang="en-US" sz="2200" dirty="0"/>
              <a:t>: Sequentially adds or removes predictors to improve the model.</a:t>
            </a:r>
          </a:p>
          <a:p>
            <a:r>
              <a:rPr lang="en-US" sz="2200" b="1" dirty="0">
                <a:highlight>
                  <a:srgbClr val="00FFFF"/>
                </a:highlight>
              </a:rPr>
              <a:t>Example</a:t>
            </a:r>
            <a:r>
              <a:rPr lang="en-US" sz="2200" dirty="0">
                <a:highlight>
                  <a:srgbClr val="00FFFF"/>
                </a:highlight>
              </a:rPr>
              <a:t>: Stock market prediction, rainfall prediction.</a:t>
            </a:r>
          </a:p>
          <a:p>
            <a:pPr>
              <a:buFont typeface="Arial" panose="020B0604020202020204" pitchFamily="34" charset="0"/>
              <a:buChar char="•"/>
            </a:pPr>
            <a:endParaRPr lang="en-IN" sz="2200" dirty="0">
              <a:highlight>
                <a:srgbClr val="00FFFF"/>
              </a:highlight>
            </a:endParaRPr>
          </a:p>
          <a:p>
            <a:pPr>
              <a:buFont typeface="+mj-lt"/>
              <a:buAutoNum type="arabicPeriod"/>
            </a:pPr>
            <a:endParaRPr lang="en-US" sz="2200" dirty="0"/>
          </a:p>
        </p:txBody>
      </p:sp>
    </p:spTree>
    <p:extLst>
      <p:ext uri="{BB962C8B-B14F-4D97-AF65-F5344CB8AC3E}">
        <p14:creationId xmlns:p14="http://schemas.microsoft.com/office/powerpoint/2010/main" val="80815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1985-45DF-FE7C-D696-3ADDC2D6B7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62FD57-899A-8D0E-BB27-35D4200A90BE}"/>
              </a:ext>
            </a:extLst>
          </p:cNvPr>
          <p:cNvSpPr txBox="1"/>
          <p:nvPr/>
        </p:nvSpPr>
        <p:spPr>
          <a:xfrm>
            <a:off x="76200" y="32657"/>
            <a:ext cx="12039600" cy="7109639"/>
          </a:xfrm>
          <a:prstGeom prst="rect">
            <a:avLst/>
          </a:prstGeom>
          <a:noFill/>
        </p:spPr>
        <p:txBody>
          <a:bodyPr wrap="square">
            <a:spAutoFit/>
          </a:bodyPr>
          <a:lstStyle/>
          <a:p>
            <a:r>
              <a:rPr lang="en-IN" sz="1900" b="1" dirty="0">
                <a:highlight>
                  <a:srgbClr val="FFFF00"/>
                </a:highlight>
              </a:rPr>
              <a:t>2. Unsupervised Learning</a:t>
            </a:r>
          </a:p>
          <a:p>
            <a:r>
              <a:rPr lang="en-IN" sz="1900" b="1" dirty="0"/>
              <a:t>A. </a:t>
            </a:r>
            <a:r>
              <a:rPr lang="en-IN" sz="1900" b="1" dirty="0">
                <a:highlight>
                  <a:srgbClr val="00FF00"/>
                </a:highlight>
              </a:rPr>
              <a:t>Clustering Algorithms</a:t>
            </a:r>
            <a:r>
              <a:rPr lang="en-IN" sz="1900" b="1" dirty="0"/>
              <a:t>:</a:t>
            </a:r>
          </a:p>
          <a:p>
            <a:pPr>
              <a:buFont typeface="Arial" panose="020B0604020202020204" pitchFamily="34" charset="0"/>
              <a:buChar char="•"/>
            </a:pPr>
            <a:r>
              <a:rPr lang="en-IN" sz="1900" b="1" dirty="0"/>
              <a:t>K-Means</a:t>
            </a:r>
            <a:r>
              <a:rPr lang="en-IN" sz="1900" dirty="0"/>
              <a:t>: Groups data into clusters based on similarity and minimizes intra-cluster variance.</a:t>
            </a:r>
          </a:p>
          <a:p>
            <a:pPr>
              <a:buFont typeface="Arial" panose="020B0604020202020204" pitchFamily="34" charset="0"/>
              <a:buChar char="•"/>
            </a:pPr>
            <a:r>
              <a:rPr lang="en-IN" sz="1900" b="1" dirty="0"/>
              <a:t>K-Median</a:t>
            </a:r>
            <a:r>
              <a:rPr lang="en-IN" sz="1900" dirty="0"/>
              <a:t>: Similar to K-Means but minimizes median distance instead of variance.</a:t>
            </a:r>
          </a:p>
          <a:p>
            <a:pPr>
              <a:buFont typeface="Arial" panose="020B0604020202020204" pitchFamily="34" charset="0"/>
              <a:buChar char="•"/>
            </a:pPr>
            <a:r>
              <a:rPr lang="en-IN" sz="1900" b="1" dirty="0"/>
              <a:t>Hierarchical Clustering</a:t>
            </a:r>
            <a:r>
              <a:rPr lang="en-IN" sz="1900" dirty="0"/>
              <a:t>: Creates a hierarchy of clusters using dendrograms.</a:t>
            </a:r>
          </a:p>
          <a:p>
            <a:pPr>
              <a:buFont typeface="Arial" panose="020B0604020202020204" pitchFamily="34" charset="0"/>
              <a:buChar char="•"/>
            </a:pPr>
            <a:r>
              <a:rPr lang="en-IN" sz="1900" b="1" dirty="0"/>
              <a:t>Expectation-Maximization</a:t>
            </a:r>
            <a:r>
              <a:rPr lang="en-IN" sz="1900" dirty="0"/>
              <a:t>: Alternates between expectation and maximization steps to cluster data probabilistically.</a:t>
            </a:r>
            <a:endParaRPr lang="en-IN" sz="1900" dirty="0">
              <a:highlight>
                <a:srgbClr val="00FFFF"/>
              </a:highlight>
            </a:endParaRPr>
          </a:p>
          <a:p>
            <a:r>
              <a:rPr lang="en-IN" sz="1900" b="1" dirty="0">
                <a:highlight>
                  <a:srgbClr val="00FFFF"/>
                </a:highlight>
              </a:rPr>
              <a:t>Example</a:t>
            </a:r>
            <a:r>
              <a:rPr lang="en-IN" sz="1900" dirty="0">
                <a:highlight>
                  <a:srgbClr val="00FFFF"/>
                </a:highlight>
              </a:rPr>
              <a:t>: Identifying fake news, document analysis.</a:t>
            </a:r>
          </a:p>
          <a:p>
            <a:r>
              <a:rPr lang="en-US" sz="1900" b="1" dirty="0">
                <a:highlight>
                  <a:srgbClr val="FFFF00"/>
                </a:highlight>
              </a:rPr>
              <a:t>B. </a:t>
            </a:r>
            <a:r>
              <a:rPr lang="en-US" sz="1900" b="1" dirty="0">
                <a:highlight>
                  <a:srgbClr val="00FF00"/>
                </a:highlight>
              </a:rPr>
              <a:t>Association Analysis:</a:t>
            </a:r>
          </a:p>
          <a:p>
            <a:pPr>
              <a:buFont typeface="Arial" panose="020B0604020202020204" pitchFamily="34" charset="0"/>
              <a:buChar char="•"/>
            </a:pPr>
            <a:r>
              <a:rPr lang="en-US" sz="1900" b="1" dirty="0"/>
              <a:t>APRIORI</a:t>
            </a:r>
            <a:r>
              <a:rPr lang="en-US" sz="1900" dirty="0"/>
              <a:t>: Finds frequent </a:t>
            </a:r>
            <a:r>
              <a:rPr lang="en-US" sz="1900" dirty="0" err="1"/>
              <a:t>itemsets</a:t>
            </a:r>
            <a:r>
              <a:rPr lang="en-US" sz="1900" dirty="0"/>
              <a:t> in a dataset and derives association rules.</a:t>
            </a:r>
          </a:p>
          <a:p>
            <a:pPr>
              <a:buFont typeface="Arial" panose="020B0604020202020204" pitchFamily="34" charset="0"/>
              <a:buChar char="•"/>
            </a:pPr>
            <a:r>
              <a:rPr lang="en-US" sz="1900" b="1" dirty="0"/>
              <a:t>Eclat</a:t>
            </a:r>
            <a:r>
              <a:rPr lang="en-US" sz="1900" dirty="0"/>
              <a:t>: A faster variation of APRIORI using depth-first search.</a:t>
            </a:r>
          </a:p>
          <a:p>
            <a:pPr>
              <a:buFont typeface="Arial" panose="020B0604020202020204" pitchFamily="34" charset="0"/>
              <a:buChar char="•"/>
            </a:pPr>
            <a:r>
              <a:rPr lang="en-US" sz="1900" b="1" dirty="0"/>
              <a:t>FP-Growth</a:t>
            </a:r>
            <a:r>
              <a:rPr lang="en-US" sz="1900" dirty="0"/>
              <a:t>: Efficiently discovers frequent </a:t>
            </a:r>
            <a:r>
              <a:rPr lang="en-US" sz="1900" dirty="0" err="1"/>
              <a:t>itemsets</a:t>
            </a:r>
            <a:r>
              <a:rPr lang="en-US" sz="1900" dirty="0"/>
              <a:t> using a tree-based approach.</a:t>
            </a:r>
          </a:p>
          <a:p>
            <a:r>
              <a:rPr lang="en-US" sz="1900" b="1" dirty="0"/>
              <a:t>Example</a:t>
            </a:r>
            <a:r>
              <a:rPr lang="en-US" sz="1900" dirty="0"/>
              <a:t>: Market basket analysis</a:t>
            </a:r>
          </a:p>
          <a:p>
            <a:r>
              <a:rPr lang="en-US" sz="1900" b="1" dirty="0">
                <a:highlight>
                  <a:srgbClr val="FFFF00"/>
                </a:highlight>
              </a:rPr>
              <a:t>C. </a:t>
            </a:r>
            <a:r>
              <a:rPr lang="en-US" sz="1900" b="1" dirty="0">
                <a:highlight>
                  <a:srgbClr val="00FF00"/>
                </a:highlight>
              </a:rPr>
              <a:t>Dimensionality Reduction:</a:t>
            </a:r>
          </a:p>
          <a:p>
            <a:pPr>
              <a:buFont typeface="Arial" panose="020B0604020202020204" pitchFamily="34" charset="0"/>
              <a:buChar char="•"/>
            </a:pPr>
            <a:r>
              <a:rPr lang="en-US" sz="1900" b="1" dirty="0"/>
              <a:t>Feature Extraction</a:t>
            </a:r>
            <a:r>
              <a:rPr lang="en-US" sz="1900" dirty="0"/>
              <a:t>:</a:t>
            </a:r>
          </a:p>
          <a:p>
            <a:pPr marL="742950" lvl="1" indent="-285750">
              <a:buFont typeface="Arial" panose="020B0604020202020204" pitchFamily="34" charset="0"/>
              <a:buChar char="•"/>
            </a:pPr>
            <a:r>
              <a:rPr lang="en-US" sz="1900" b="1" dirty="0"/>
              <a:t>Principal Component Analysis (PCA)</a:t>
            </a:r>
            <a:r>
              <a:rPr lang="en-US" sz="1900" dirty="0"/>
              <a:t>: Reduces dimensions by transforming features into principal components.</a:t>
            </a:r>
          </a:p>
          <a:p>
            <a:pPr>
              <a:buFont typeface="Arial" panose="020B0604020202020204" pitchFamily="34" charset="0"/>
              <a:buChar char="•"/>
            </a:pPr>
            <a:r>
              <a:rPr lang="en-US" sz="1900" b="1" dirty="0"/>
              <a:t>Feature Selection</a:t>
            </a:r>
            <a:r>
              <a:rPr lang="en-US" sz="1900" dirty="0"/>
              <a:t>:</a:t>
            </a:r>
          </a:p>
          <a:p>
            <a:pPr marL="742950" lvl="1" indent="-285750">
              <a:buFont typeface="Arial" panose="020B0604020202020204" pitchFamily="34" charset="0"/>
              <a:buChar char="•"/>
            </a:pPr>
            <a:r>
              <a:rPr lang="en-US" sz="1900" b="1" dirty="0"/>
              <a:t>Wrapper</a:t>
            </a:r>
            <a:r>
              <a:rPr lang="en-US" sz="1900" dirty="0"/>
              <a:t>: Selects features by evaluating subsets.</a:t>
            </a:r>
          </a:p>
          <a:p>
            <a:pPr marL="742950" lvl="1" indent="-285750">
              <a:buFont typeface="Arial" panose="020B0604020202020204" pitchFamily="34" charset="0"/>
              <a:buChar char="•"/>
            </a:pPr>
            <a:r>
              <a:rPr lang="en-US" sz="1900" b="1" dirty="0"/>
              <a:t>Filter</a:t>
            </a:r>
            <a:r>
              <a:rPr lang="en-US" sz="1900" dirty="0"/>
              <a:t>: Selects features based on statistical properties.</a:t>
            </a:r>
          </a:p>
          <a:p>
            <a:pPr marL="742950" lvl="1" indent="-285750">
              <a:buFont typeface="Arial" panose="020B0604020202020204" pitchFamily="34" charset="0"/>
              <a:buChar char="•"/>
            </a:pPr>
            <a:r>
              <a:rPr lang="en-US" sz="1900" b="1" dirty="0"/>
              <a:t>Embedded Method</a:t>
            </a:r>
            <a:r>
              <a:rPr lang="en-US" sz="1900" dirty="0"/>
              <a:t>: Performs feature selection during model training.</a:t>
            </a:r>
          </a:p>
          <a:p>
            <a:r>
              <a:rPr lang="en-US" sz="1900" b="1" dirty="0">
                <a:highlight>
                  <a:srgbClr val="FFFF00"/>
                </a:highlight>
              </a:rPr>
              <a:t>Example</a:t>
            </a:r>
            <a:r>
              <a:rPr lang="en-US" sz="1900" dirty="0">
                <a:highlight>
                  <a:srgbClr val="FFFF00"/>
                </a:highlight>
              </a:rPr>
              <a:t>: Analysis of written texts and DNA microarray data.</a:t>
            </a:r>
          </a:p>
          <a:p>
            <a:endParaRPr lang="en-US" sz="1900" dirty="0"/>
          </a:p>
          <a:p>
            <a:endParaRPr lang="en-IN" sz="1900" dirty="0">
              <a:highlight>
                <a:srgbClr val="00FFFF"/>
              </a:highlight>
            </a:endParaRPr>
          </a:p>
          <a:p>
            <a:endParaRPr lang="en-IN" sz="1900" dirty="0">
              <a:highlight>
                <a:srgbClr val="00FFFF"/>
              </a:highlight>
            </a:endParaRPr>
          </a:p>
          <a:p>
            <a:endParaRPr lang="en-IN" sz="1900" dirty="0"/>
          </a:p>
        </p:txBody>
      </p:sp>
    </p:spTree>
    <p:extLst>
      <p:ext uri="{BB962C8B-B14F-4D97-AF65-F5344CB8AC3E}">
        <p14:creationId xmlns:p14="http://schemas.microsoft.com/office/powerpoint/2010/main" val="1891724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0D6DC-3650-55FA-8EE9-F404C48BEB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CBEFD5-67B9-6F6D-9706-1CDE1633F015}"/>
              </a:ext>
            </a:extLst>
          </p:cNvPr>
          <p:cNvSpPr txBox="1"/>
          <p:nvPr/>
        </p:nvSpPr>
        <p:spPr>
          <a:xfrm>
            <a:off x="152400" y="228601"/>
            <a:ext cx="10591800" cy="4154984"/>
          </a:xfrm>
          <a:prstGeom prst="rect">
            <a:avLst/>
          </a:prstGeom>
          <a:noFill/>
        </p:spPr>
        <p:txBody>
          <a:bodyPr wrap="square">
            <a:spAutoFit/>
          </a:bodyPr>
          <a:lstStyle/>
          <a:p>
            <a:r>
              <a:rPr lang="en-US" sz="2400" b="1" dirty="0">
                <a:highlight>
                  <a:srgbClr val="FFFF00"/>
                </a:highlight>
              </a:rPr>
              <a:t>3. Reinforcement Learning</a:t>
            </a:r>
          </a:p>
          <a:p>
            <a:r>
              <a:rPr lang="en-US" sz="2400" b="1" dirty="0"/>
              <a:t>A. Model-Free Methods:</a:t>
            </a:r>
          </a:p>
          <a:p>
            <a:pPr>
              <a:buFont typeface="Arial" panose="020B0604020202020204" pitchFamily="34" charset="0"/>
              <a:buChar char="•"/>
            </a:pPr>
            <a:r>
              <a:rPr lang="en-US" sz="2400" b="1" dirty="0"/>
              <a:t>Q-Learning</a:t>
            </a:r>
            <a:r>
              <a:rPr lang="en-US" sz="2400" dirty="0"/>
              <a:t>: Uses Q-values to learn optimal actions in an environment.</a:t>
            </a:r>
          </a:p>
          <a:p>
            <a:pPr>
              <a:buFont typeface="Arial" panose="020B0604020202020204" pitchFamily="34" charset="0"/>
              <a:buChar char="•"/>
            </a:pPr>
            <a:r>
              <a:rPr lang="en-US" sz="2400" b="1" dirty="0"/>
              <a:t>Hybrid</a:t>
            </a:r>
            <a:r>
              <a:rPr lang="en-US" sz="2400" dirty="0"/>
              <a:t>: Combines model-free methods with other strategies.</a:t>
            </a:r>
          </a:p>
          <a:p>
            <a:pPr>
              <a:buFont typeface="Arial" panose="020B0604020202020204" pitchFamily="34" charset="0"/>
              <a:buChar char="•"/>
            </a:pPr>
            <a:r>
              <a:rPr lang="en-US" sz="2400" b="1" dirty="0"/>
              <a:t>Policy Optimization</a:t>
            </a:r>
            <a:r>
              <a:rPr lang="en-US" sz="2400" dirty="0"/>
              <a:t>: Optimizes a policy directly for better decision-making.</a:t>
            </a:r>
          </a:p>
          <a:p>
            <a:r>
              <a:rPr lang="en-US" sz="2400" b="1" dirty="0"/>
              <a:t>B. Model-Based Methods:</a:t>
            </a:r>
          </a:p>
          <a:p>
            <a:pPr>
              <a:buFont typeface="Arial" panose="020B0604020202020204" pitchFamily="34" charset="0"/>
              <a:buChar char="•"/>
            </a:pPr>
            <a:r>
              <a:rPr lang="en-US" sz="2400" b="1" dirty="0"/>
              <a:t>Learn the Model</a:t>
            </a:r>
            <a:r>
              <a:rPr lang="en-US" sz="2400" dirty="0"/>
              <a:t>: Creates an explicit model of the environment for decision-making.</a:t>
            </a:r>
          </a:p>
          <a:p>
            <a:pPr>
              <a:buFont typeface="Arial" panose="020B0604020202020204" pitchFamily="34" charset="0"/>
              <a:buChar char="•"/>
            </a:pPr>
            <a:r>
              <a:rPr lang="en-US" sz="2400" b="1" dirty="0"/>
              <a:t>Given the Model</a:t>
            </a:r>
            <a:r>
              <a:rPr lang="en-US" sz="2400" dirty="0"/>
              <a:t>: Uses a pre-existing model to optimize </a:t>
            </a:r>
            <a:r>
              <a:rPr lang="en-US" sz="2400"/>
              <a:t>actions.</a:t>
            </a:r>
          </a:p>
          <a:p>
            <a:endParaRPr lang="en-US" sz="2400" dirty="0"/>
          </a:p>
          <a:p>
            <a:r>
              <a:rPr lang="en-US" sz="2400" b="1" dirty="0">
                <a:highlight>
                  <a:srgbClr val="00FFFF"/>
                </a:highlight>
              </a:rPr>
              <a:t>Example</a:t>
            </a:r>
            <a:r>
              <a:rPr lang="en-US" sz="2400" dirty="0">
                <a:highlight>
                  <a:srgbClr val="00FFFF"/>
                </a:highlight>
              </a:rPr>
              <a:t>: Multi-agent systems, motion planning, navigation</a:t>
            </a:r>
          </a:p>
        </p:txBody>
      </p:sp>
    </p:spTree>
    <p:extLst>
      <p:ext uri="{BB962C8B-B14F-4D97-AF65-F5344CB8AC3E}">
        <p14:creationId xmlns:p14="http://schemas.microsoft.com/office/powerpoint/2010/main" val="302145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108857" y="76200"/>
            <a:ext cx="11969459" cy="64008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304800"/>
            <a:ext cx="10972164" cy="6771084"/>
          </a:xfrm>
        </p:spPr>
        <p:txBody>
          <a:bodyPr/>
          <a:lstStyle/>
          <a:p>
            <a:r>
              <a:rPr lang="en-US" b="0" dirty="0">
                <a:solidFill>
                  <a:srgbClr val="FF0000"/>
                </a:solidFill>
              </a:rPr>
              <a:t>Data Collection </a:t>
            </a:r>
            <a:r>
              <a:rPr lang="en-US" b="0" dirty="0"/>
              <a:t>:Once you have your idea of what you want the machine to learn about you to have to do the first main step in the process of machine learning. This is collecting data. This step is crucial and needs to be done well because the quality and quantity of the data you collect have a huge impact on the final result.</a:t>
            </a:r>
          </a:p>
          <a:p>
            <a:endParaRPr lang="en-US" b="0" dirty="0"/>
          </a:p>
          <a:p>
            <a:pPr algn="l"/>
            <a:r>
              <a:rPr lang="en-US" b="0" dirty="0">
                <a:solidFill>
                  <a:srgbClr val="FF0000"/>
                </a:solidFill>
              </a:rPr>
              <a:t>Data Exploration </a:t>
            </a:r>
            <a:r>
              <a:rPr lang="en-US" b="0" dirty="0"/>
              <a:t>:is examining data to identify patterns and make sense of them in the context of your problem. This is often called a “true data science” stage because it’s where you get down to business by looking at the raw facts and figures without any preconceived notions about what they might mean.</a:t>
            </a:r>
          </a:p>
          <a:p>
            <a:r>
              <a:rPr lang="en-US" b="0" dirty="0"/>
              <a:t>The step involves looking at the available data in different ways — for example, by adding new variables or changing existing ones — and then seeing if there are any interesting relationships between those variables.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359229" y="544286"/>
            <a:ext cx="11353800" cy="5736771"/>
          </a:xfrm>
        </p:spPr>
        <p:txBody>
          <a:bodyPr>
            <a:normAutofit/>
          </a:bodyPr>
          <a:lstStyle/>
          <a:p>
            <a:pPr algn="l">
              <a:buFont typeface="Arial" panose="020B0604020202020204" pitchFamily="34" charset="0"/>
              <a:buChar char="•"/>
            </a:pPr>
            <a:r>
              <a:rPr lang="en-US" sz="2400" b="0" dirty="0">
                <a:solidFill>
                  <a:srgbClr val="FF0000"/>
                </a:solidFill>
              </a:rPr>
              <a:t>DATA PREPARATION:</a:t>
            </a:r>
          </a:p>
          <a:p>
            <a:pPr algn="l">
              <a:buFont typeface="Arial" panose="020B0604020202020204" pitchFamily="34" charset="0"/>
              <a:buChar char="•"/>
            </a:pPr>
            <a:r>
              <a:rPr lang="en-US" sz="2400" b="0" i="0" dirty="0">
                <a:solidFill>
                  <a:srgbClr val="0D0D0D"/>
                </a:solidFill>
                <a:effectLst/>
                <a:highlight>
                  <a:srgbClr val="FFFF00"/>
                </a:highlight>
                <a:latin typeface="Söhne"/>
              </a:rPr>
              <a:t>Handle missing values: </a:t>
            </a:r>
            <a:r>
              <a:rPr lang="en-US" sz="2400" b="0" i="0" dirty="0">
                <a:solidFill>
                  <a:srgbClr val="0D0D0D"/>
                </a:solidFill>
                <a:effectLst/>
                <a:latin typeface="Söhne"/>
              </a:rPr>
              <a:t>Determine the best approach for dealing with missing data, such as imputation or deletion.</a:t>
            </a:r>
          </a:p>
          <a:p>
            <a:pPr algn="l">
              <a:buFont typeface="Arial" panose="020B0604020202020204" pitchFamily="34" charset="0"/>
              <a:buChar char="•"/>
            </a:pPr>
            <a:r>
              <a:rPr lang="en-US" sz="2400" b="0" i="0" dirty="0">
                <a:solidFill>
                  <a:srgbClr val="0D0D0D"/>
                </a:solidFill>
                <a:effectLst/>
                <a:highlight>
                  <a:srgbClr val="FFFF00"/>
                </a:highlight>
                <a:latin typeface="Söhne"/>
              </a:rPr>
              <a:t>Remove duplicates: </a:t>
            </a:r>
            <a:r>
              <a:rPr lang="en-US" sz="2400" b="0" i="0" dirty="0">
                <a:solidFill>
                  <a:srgbClr val="0D0D0D"/>
                </a:solidFill>
                <a:effectLst/>
                <a:latin typeface="Söhne"/>
              </a:rPr>
              <a:t>Identify and remove duplicate records from the dataset. Identify relevant features: Select features that are most likely to contribute to the predictive model and remove irrelevant ones.</a:t>
            </a:r>
          </a:p>
          <a:p>
            <a:pPr algn="l">
              <a:buFont typeface="Arial" panose="020B0604020202020204" pitchFamily="34" charset="0"/>
              <a:buChar char="•"/>
            </a:pPr>
            <a:r>
              <a:rPr lang="en-US" sz="2400" b="0" i="0" dirty="0">
                <a:solidFill>
                  <a:srgbClr val="0D0D0D"/>
                </a:solidFill>
                <a:effectLst/>
                <a:highlight>
                  <a:srgbClr val="FFFF00"/>
                </a:highlight>
                <a:latin typeface="Söhne"/>
              </a:rPr>
              <a:t>Dimensionality reduction: </a:t>
            </a:r>
            <a:r>
              <a:rPr lang="en-US" sz="2400" b="0" i="0" dirty="0">
                <a:solidFill>
                  <a:srgbClr val="0D0D0D"/>
                </a:solidFill>
                <a:effectLst/>
                <a:latin typeface="Söhne"/>
              </a:rPr>
              <a:t>Use techniques like Principal Component Analysis (PCA) to reduce the number of features while retaining as much information as possible. </a:t>
            </a:r>
            <a:r>
              <a:rPr lang="en-US" sz="2400" b="0" i="0" dirty="0">
                <a:solidFill>
                  <a:srgbClr val="0D0D0D"/>
                </a:solidFill>
                <a:effectLst/>
                <a:highlight>
                  <a:srgbClr val="FFFF00"/>
                </a:highlight>
                <a:latin typeface="Söhne"/>
              </a:rPr>
              <a:t>Encoding categorical variables: </a:t>
            </a:r>
            <a:r>
              <a:rPr lang="en-US" sz="2400" b="0" i="0" dirty="0">
                <a:solidFill>
                  <a:srgbClr val="0D0D0D"/>
                </a:solidFill>
                <a:effectLst/>
                <a:latin typeface="Söhne"/>
              </a:rPr>
              <a:t>Convert categorical variables into numerical format using techniques like one-hot encoding or label encoding.</a:t>
            </a:r>
          </a:p>
          <a:p>
            <a:pPr algn="l">
              <a:buFont typeface="Arial" panose="020B0604020202020204" pitchFamily="34" charset="0"/>
              <a:buChar char="•"/>
            </a:pPr>
            <a:endParaRPr lang="en-US" sz="2400" b="0" i="0" dirty="0">
              <a:solidFill>
                <a:srgbClr val="0D0D0D"/>
              </a:solidFill>
              <a:effectLst/>
              <a:latin typeface="Söhne"/>
            </a:endParaRPr>
          </a:p>
          <a:p>
            <a:pPr algn="l">
              <a:buFont typeface="Arial" panose="020B0604020202020204" pitchFamily="34" charset="0"/>
              <a:buChar char="•"/>
            </a:pPr>
            <a:endParaRPr lang="en-US" sz="2400" b="0" i="0" dirty="0">
              <a:solidFill>
                <a:srgbClr val="0D0D0D"/>
              </a:solidFill>
              <a:effectLst/>
              <a:latin typeface="Söhne"/>
            </a:endParaRPr>
          </a:p>
          <a:p>
            <a:endParaRPr lang="en-US" sz="2400" b="0" dirty="0">
              <a:solidFill>
                <a:srgbClr val="FF0000"/>
              </a:solidFill>
            </a:endParaRPr>
          </a:p>
        </p:txBody>
      </p:sp>
      <p:sp>
        <p:nvSpPr>
          <p:cNvPr id="2" name="Arrow: Down 1">
            <a:extLst>
              <a:ext uri="{FF2B5EF4-FFF2-40B4-BE49-F238E27FC236}">
                <a16:creationId xmlns:a16="http://schemas.microsoft.com/office/drawing/2014/main" id="{DE3DD6C5-37D5-D03B-FED4-A4CAE790C95F}"/>
              </a:ext>
            </a:extLst>
          </p:cNvPr>
          <p:cNvSpPr/>
          <p:nvPr/>
        </p:nvSpPr>
        <p:spPr>
          <a:xfrm>
            <a:off x="5040086" y="4528457"/>
            <a:ext cx="1915885" cy="22424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B16E7-9A3E-570B-65A5-1CE48959628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1A1A9B8-8207-30F9-5573-69F2924B3F79}"/>
              </a:ext>
            </a:extLst>
          </p:cNvPr>
          <p:cNvSpPr>
            <a:spLocks noGrp="1"/>
          </p:cNvSpPr>
          <p:nvPr>
            <p:ph type="body" idx="1"/>
          </p:nvPr>
        </p:nvSpPr>
        <p:spPr>
          <a:xfrm>
            <a:off x="413657" y="653143"/>
            <a:ext cx="10210800" cy="5410200"/>
          </a:xfrm>
        </p:spPr>
        <p:txBody>
          <a:bodyPr>
            <a:normAutofit/>
          </a:bodyPr>
          <a:lstStyle/>
          <a:p>
            <a:pPr algn="l">
              <a:buFont typeface="Arial" panose="020B0604020202020204" pitchFamily="34" charset="0"/>
              <a:buChar char="•"/>
            </a:pPr>
            <a:r>
              <a:rPr lang="en-US" sz="2400" b="0" dirty="0">
                <a:solidFill>
                  <a:srgbClr val="FF0000"/>
                </a:solidFill>
              </a:rPr>
              <a:t>DATA PREPARATION continued……:</a:t>
            </a:r>
          </a:p>
          <a:p>
            <a:pPr algn="l">
              <a:buFont typeface="Arial" panose="020B0604020202020204" pitchFamily="34" charset="0"/>
              <a:buChar char="•"/>
            </a:pPr>
            <a:r>
              <a:rPr lang="en-US" sz="2400" b="0" i="0" dirty="0">
                <a:solidFill>
                  <a:srgbClr val="0D0D0D"/>
                </a:solidFill>
                <a:effectLst/>
                <a:highlight>
                  <a:srgbClr val="FFFF00"/>
                </a:highlight>
                <a:latin typeface="Söhne"/>
              </a:rPr>
              <a:t>Scaling features: </a:t>
            </a:r>
            <a:r>
              <a:rPr lang="en-US" sz="2400" b="0" i="0" dirty="0">
                <a:solidFill>
                  <a:srgbClr val="0D0D0D"/>
                </a:solidFill>
                <a:effectLst/>
                <a:latin typeface="Söhne"/>
              </a:rPr>
              <a:t>Scale numerical features to a similar range to prevent certain features from dominating others during model training. Address class imbalance: If the dataset has imbalanced classes, use techniques like oversampling, </a:t>
            </a:r>
            <a:r>
              <a:rPr lang="en-US" sz="2400" b="0" i="0" dirty="0" err="1">
                <a:solidFill>
                  <a:srgbClr val="0D0D0D"/>
                </a:solidFill>
                <a:effectLst/>
                <a:latin typeface="Söhne"/>
              </a:rPr>
              <a:t>undersampling</a:t>
            </a:r>
            <a:r>
              <a:rPr lang="en-US" sz="2400" b="0" i="0" dirty="0">
                <a:solidFill>
                  <a:srgbClr val="0D0D0D"/>
                </a:solidFill>
                <a:effectLst/>
                <a:latin typeface="Söhne"/>
              </a:rPr>
              <a:t>, or synthetic data generation to balance the classes. </a:t>
            </a:r>
          </a:p>
          <a:p>
            <a:pPr algn="l">
              <a:buFont typeface="Arial" panose="020B0604020202020204" pitchFamily="34" charset="0"/>
              <a:buChar char="•"/>
            </a:pPr>
            <a:r>
              <a:rPr lang="en-US" sz="2400" b="0" i="0" dirty="0">
                <a:solidFill>
                  <a:srgbClr val="0D0D0D"/>
                </a:solidFill>
                <a:effectLst/>
                <a:highlight>
                  <a:srgbClr val="FFFF00"/>
                </a:highlight>
                <a:latin typeface="Söhne"/>
              </a:rPr>
              <a:t>Split the dataset: </a:t>
            </a:r>
            <a:r>
              <a:rPr lang="en-US" sz="2400" b="0" i="0" dirty="0">
                <a:solidFill>
                  <a:srgbClr val="0D0D0D"/>
                </a:solidFill>
                <a:effectLst/>
                <a:latin typeface="Söhne"/>
              </a:rPr>
              <a:t>Divide the dataset into </a:t>
            </a:r>
            <a:r>
              <a:rPr lang="en-US" sz="2400" i="0" dirty="0">
                <a:solidFill>
                  <a:srgbClr val="0D0D0D"/>
                </a:solidFill>
                <a:effectLst/>
                <a:highlight>
                  <a:srgbClr val="00FFFF"/>
                </a:highlight>
                <a:latin typeface="Söhne"/>
              </a:rPr>
              <a:t>training, validation, and test sets</a:t>
            </a:r>
            <a:r>
              <a:rPr lang="en-US" sz="2400" i="0" dirty="0">
                <a:solidFill>
                  <a:srgbClr val="0D0D0D"/>
                </a:solidFill>
                <a:effectLst/>
                <a:latin typeface="Söhne"/>
              </a:rPr>
              <a:t> </a:t>
            </a:r>
            <a:r>
              <a:rPr lang="en-US" sz="2400" b="0" i="0" dirty="0">
                <a:solidFill>
                  <a:srgbClr val="0D0D0D"/>
                </a:solidFill>
                <a:effectLst/>
                <a:latin typeface="Söhne"/>
              </a:rPr>
              <a:t>to evaluate model performance.</a:t>
            </a:r>
          </a:p>
          <a:p>
            <a:pPr algn="l">
              <a:buFont typeface="Arial" panose="020B0604020202020204" pitchFamily="34" charset="0"/>
              <a:buChar char="•"/>
            </a:pPr>
            <a:endParaRPr lang="en-US" sz="2400" b="0" i="0" dirty="0">
              <a:solidFill>
                <a:srgbClr val="0D0D0D"/>
              </a:solidFill>
              <a:effectLst/>
              <a:latin typeface="Söhne"/>
            </a:endParaRPr>
          </a:p>
          <a:p>
            <a:pPr algn="l">
              <a:buFont typeface="Arial" panose="020B0604020202020204" pitchFamily="34" charset="0"/>
              <a:buChar char="•"/>
            </a:pPr>
            <a:endParaRPr lang="en-US" sz="2400" b="0" i="0" dirty="0">
              <a:solidFill>
                <a:srgbClr val="0D0D0D"/>
              </a:solidFill>
              <a:effectLst/>
              <a:latin typeface="Söhne"/>
            </a:endParaRPr>
          </a:p>
          <a:p>
            <a:endParaRPr lang="en-US" sz="2400" b="0" dirty="0">
              <a:solidFill>
                <a:srgbClr val="FF0000"/>
              </a:solidFill>
            </a:endParaRPr>
          </a:p>
        </p:txBody>
      </p:sp>
    </p:spTree>
    <p:extLst>
      <p:ext uri="{BB962C8B-B14F-4D97-AF65-F5344CB8AC3E}">
        <p14:creationId xmlns:p14="http://schemas.microsoft.com/office/powerpoint/2010/main" val="1751092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457200"/>
            <a:ext cx="10972164" cy="5078313"/>
          </a:xfrm>
        </p:spPr>
        <p:txBody>
          <a:bodyPr/>
          <a:lstStyle/>
          <a:p>
            <a:r>
              <a:rPr lang="en-US" b="0" dirty="0">
                <a:solidFill>
                  <a:srgbClr val="FF0000"/>
                </a:solidFill>
              </a:rPr>
              <a:t>MODELLING </a:t>
            </a:r>
            <a:r>
              <a:rPr lang="en-US" b="0" dirty="0"/>
              <a:t>:is the process of transforming raw data into a form suitable for analysis and model development. It is one of the most critical steps in determining the success of the final model.</a:t>
            </a:r>
          </a:p>
          <a:p>
            <a:endParaRPr lang="en-US" dirty="0"/>
          </a:p>
        </p:txBody>
      </p:sp>
      <p:sp>
        <p:nvSpPr>
          <p:cNvPr id="2" name="Text Placeholder 2"/>
          <p:cNvSpPr txBox="1">
            <a:spLocks/>
          </p:cNvSpPr>
          <p:nvPr/>
        </p:nvSpPr>
        <p:spPr>
          <a:xfrm>
            <a:off x="435428" y="1709057"/>
            <a:ext cx="11277600" cy="44196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0000"/>
                </a:solidFill>
              </a:rPr>
              <a:t>EVUALATION </a:t>
            </a:r>
            <a:r>
              <a:rPr lang="en-US" dirty="0"/>
              <a:t>:</a:t>
            </a:r>
          </a:p>
          <a:p>
            <a:r>
              <a:rPr lang="en-US" dirty="0"/>
              <a:t>Once the model is trained, it is essential to evaluate the model and understand how to interpret the results before deploying it.</a:t>
            </a:r>
          </a:p>
          <a:p>
            <a:endParaRPr lang="en-US" dirty="0"/>
          </a:p>
          <a:p>
            <a:r>
              <a:rPr lang="en-US" dirty="0"/>
              <a:t>One of the methods of evaluating models is through </a:t>
            </a:r>
            <a:r>
              <a:rPr lang="en-US" dirty="0">
                <a:highlight>
                  <a:srgbClr val="00FFFF"/>
                </a:highlight>
              </a:rPr>
              <a:t>cross-validation</a:t>
            </a:r>
            <a:r>
              <a:rPr lang="en-US" dirty="0"/>
              <a:t>.</a:t>
            </a:r>
          </a:p>
          <a:p>
            <a:r>
              <a:rPr lang="en-US" dirty="0"/>
              <a:t> </a:t>
            </a:r>
          </a:p>
          <a:p>
            <a:r>
              <a:rPr lang="en-US" dirty="0"/>
              <a:t>In this process, </a:t>
            </a:r>
            <a:r>
              <a:rPr lang="en-US" dirty="0">
                <a:highlight>
                  <a:srgbClr val="00FFFF"/>
                </a:highlight>
              </a:rPr>
              <a:t>you train the model on some datasets and then test its performance on a completely different training set before using it on actual data. </a:t>
            </a:r>
            <a:r>
              <a:rPr lang="en-US" dirty="0"/>
              <a:t>This helps to ensure that your dataset isn’t biased in any way and helps ensure that your model will work well in practice.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8845-3DBA-78D5-4910-5DC01EBAE7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7A2C4F-16E5-F504-11D5-41616EAF7567}"/>
              </a:ext>
            </a:extLst>
          </p:cNvPr>
          <p:cNvSpPr txBox="1"/>
          <p:nvPr/>
        </p:nvSpPr>
        <p:spPr>
          <a:xfrm>
            <a:off x="761999" y="316077"/>
            <a:ext cx="10776858" cy="3693319"/>
          </a:xfrm>
          <a:prstGeom prst="rect">
            <a:avLst/>
          </a:prstGeom>
          <a:noFill/>
        </p:spPr>
        <p:txBody>
          <a:bodyPr wrap="square">
            <a:spAutoFit/>
          </a:bodyPr>
          <a:lstStyle/>
          <a:p>
            <a:r>
              <a:rPr lang="en-US" sz="2400" dirty="0">
                <a:highlight>
                  <a:srgbClr val="FFFF00"/>
                </a:highlight>
              </a:rPr>
              <a:t>                       </a:t>
            </a:r>
            <a:r>
              <a:rPr lang="en-US" sz="3600" dirty="0">
                <a:highlight>
                  <a:srgbClr val="FFFF00"/>
                </a:highlight>
              </a:rPr>
              <a:t>What is a </a:t>
            </a:r>
            <a:r>
              <a:rPr lang="en-US" sz="3600" b="1" dirty="0">
                <a:highlight>
                  <a:srgbClr val="FFFF00"/>
                </a:highlight>
              </a:rPr>
              <a:t>model</a:t>
            </a:r>
            <a:r>
              <a:rPr lang="en-US" sz="3600" dirty="0">
                <a:highlight>
                  <a:srgbClr val="FFFF00"/>
                </a:highlight>
              </a:rPr>
              <a:t> in machine learning?</a:t>
            </a:r>
          </a:p>
          <a:p>
            <a:endParaRPr lang="en-US" sz="3600" dirty="0">
              <a:highlight>
                <a:srgbClr val="FFFF00"/>
              </a:highlight>
            </a:endParaRPr>
          </a:p>
          <a:p>
            <a:r>
              <a:rPr lang="en-US" sz="3600" dirty="0">
                <a:highlight>
                  <a:srgbClr val="FFFF00"/>
                </a:highlight>
              </a:rPr>
              <a:t>A </a:t>
            </a:r>
            <a:r>
              <a:rPr lang="en-US" sz="3600" b="1" dirty="0">
                <a:highlight>
                  <a:srgbClr val="FFFF00"/>
                </a:highlight>
              </a:rPr>
              <a:t>model</a:t>
            </a:r>
            <a:r>
              <a:rPr lang="en-US" sz="3600" dirty="0">
                <a:highlight>
                  <a:srgbClr val="FFFF00"/>
                </a:highlight>
              </a:rPr>
              <a:t> is a </a:t>
            </a:r>
            <a:r>
              <a:rPr lang="en-US" sz="3600" b="1" dirty="0">
                <a:highlight>
                  <a:srgbClr val="FFFF00"/>
                </a:highlight>
              </a:rPr>
              <a:t>mathematical function</a:t>
            </a:r>
            <a:r>
              <a:rPr lang="en-US" sz="3600" dirty="0">
                <a:highlight>
                  <a:srgbClr val="FFFF00"/>
                </a:highlight>
              </a:rPr>
              <a:t> or </a:t>
            </a:r>
            <a:r>
              <a:rPr lang="en-US" sz="3600" b="1" dirty="0">
                <a:highlight>
                  <a:srgbClr val="FFFF00"/>
                </a:highlight>
              </a:rPr>
              <a:t>hypothesis</a:t>
            </a:r>
            <a:r>
              <a:rPr lang="en-US" sz="3600" dirty="0">
                <a:highlight>
                  <a:srgbClr val="FFFF00"/>
                </a:highlight>
              </a:rPr>
              <a:t> that maps input data to output predictions.</a:t>
            </a:r>
          </a:p>
          <a:p>
            <a:r>
              <a:rPr lang="en-US" sz="3600" dirty="0">
                <a:highlight>
                  <a:srgbClr val="FFFF00"/>
                </a:highlight>
              </a:rPr>
              <a:t> It is parameterized by a vector θ.</a:t>
            </a:r>
          </a:p>
          <a:p>
            <a:endParaRPr lang="en-US" dirty="0"/>
          </a:p>
          <a:p>
            <a:endParaRPr lang="en-US" dirty="0"/>
          </a:p>
          <a:p>
            <a:endParaRPr lang="en-IN" dirty="0"/>
          </a:p>
        </p:txBody>
      </p:sp>
      <p:pic>
        <p:nvPicPr>
          <p:cNvPr id="5" name="Picture 4">
            <a:extLst>
              <a:ext uri="{FF2B5EF4-FFF2-40B4-BE49-F238E27FC236}">
                <a16:creationId xmlns:a16="http://schemas.microsoft.com/office/drawing/2014/main" id="{D86FDFBF-0A46-2237-6BF3-C77122BFDA68}"/>
              </a:ext>
            </a:extLst>
          </p:cNvPr>
          <p:cNvPicPr>
            <a:picLocks noChangeAspect="1"/>
          </p:cNvPicPr>
          <p:nvPr/>
        </p:nvPicPr>
        <p:blipFill>
          <a:blip r:embed="rId2"/>
          <a:stretch>
            <a:fillRect/>
          </a:stretch>
        </p:blipFill>
        <p:spPr>
          <a:xfrm>
            <a:off x="1375680" y="3581399"/>
            <a:ext cx="9183462" cy="2427515"/>
          </a:xfrm>
          <a:prstGeom prst="rect">
            <a:avLst/>
          </a:prstGeom>
        </p:spPr>
      </p:pic>
    </p:spTree>
    <p:extLst>
      <p:ext uri="{BB962C8B-B14F-4D97-AF65-F5344CB8AC3E}">
        <p14:creationId xmlns:p14="http://schemas.microsoft.com/office/powerpoint/2010/main" val="3491201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7E91B-2967-324C-D2C3-6B4F9516442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15610E9-8842-3DE2-94A1-F82CE4926FBC}"/>
              </a:ext>
            </a:extLst>
          </p:cNvPr>
          <p:cNvSpPr txBox="1"/>
          <p:nvPr/>
        </p:nvSpPr>
        <p:spPr>
          <a:xfrm>
            <a:off x="685801" y="478972"/>
            <a:ext cx="10994570" cy="5693866"/>
          </a:xfrm>
          <a:prstGeom prst="rect">
            <a:avLst/>
          </a:prstGeom>
          <a:noFill/>
        </p:spPr>
        <p:txBody>
          <a:bodyPr wrap="square">
            <a:spAutoFit/>
          </a:bodyPr>
          <a:lstStyle/>
          <a:p>
            <a:pPr>
              <a:buNone/>
            </a:pPr>
            <a:r>
              <a:rPr lang="en-US" sz="3600" b="1" dirty="0"/>
              <a:t>Why Optimization Techniques Are Essential in Machine Learning:</a:t>
            </a:r>
            <a:endParaRPr lang="en-US" sz="3600" dirty="0"/>
          </a:p>
          <a:p>
            <a:r>
              <a:rPr lang="en-US" sz="3600" dirty="0"/>
              <a:t>Machine learning models, despite being more flexible and data-driven than traditional programming, fundamentally rely on optimization………</a:t>
            </a:r>
          </a:p>
          <a:p>
            <a:r>
              <a:rPr lang="en-US" sz="3600" dirty="0">
                <a:highlight>
                  <a:srgbClr val="00FF00"/>
                </a:highlight>
              </a:rPr>
              <a:t>The core task in most machine learning algorithms is to find the best parameters that minimize some measure of error or maximize performance</a:t>
            </a:r>
            <a:r>
              <a:rPr lang="en-US" sz="3600" dirty="0">
                <a:highlight>
                  <a:srgbClr val="FFFF00"/>
                </a:highlight>
              </a:rPr>
              <a:t>. </a:t>
            </a:r>
          </a:p>
          <a:p>
            <a:endParaRPr lang="en-US" sz="3600" dirty="0"/>
          </a:p>
          <a:p>
            <a:pPr algn="ctr"/>
            <a:r>
              <a:rPr lang="en-US" sz="4000" dirty="0">
                <a:highlight>
                  <a:srgbClr val="FFFF00"/>
                </a:highlight>
              </a:rPr>
              <a:t>This process is an </a:t>
            </a:r>
            <a:r>
              <a:rPr lang="en-US" sz="4000" b="1" dirty="0">
                <a:highlight>
                  <a:srgbClr val="FFFF00"/>
                </a:highlight>
              </a:rPr>
              <a:t>optimization problem.</a:t>
            </a:r>
          </a:p>
        </p:txBody>
      </p:sp>
    </p:spTree>
    <p:extLst>
      <p:ext uri="{BB962C8B-B14F-4D97-AF65-F5344CB8AC3E}">
        <p14:creationId xmlns:p14="http://schemas.microsoft.com/office/powerpoint/2010/main" val="1797400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149C0-F23C-CB6C-1FE7-1C7B755474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7D3AC5-2B35-9283-DFCB-01D5DED89641}"/>
              </a:ext>
            </a:extLst>
          </p:cNvPr>
          <p:cNvSpPr txBox="1"/>
          <p:nvPr/>
        </p:nvSpPr>
        <p:spPr>
          <a:xfrm>
            <a:off x="304800" y="402771"/>
            <a:ext cx="11691257" cy="3785652"/>
          </a:xfrm>
          <a:prstGeom prst="rect">
            <a:avLst/>
          </a:prstGeom>
          <a:noFill/>
        </p:spPr>
        <p:txBody>
          <a:bodyPr wrap="square">
            <a:spAutoFit/>
          </a:bodyPr>
          <a:lstStyle/>
          <a:p>
            <a:pPr>
              <a:buNone/>
            </a:pPr>
            <a:r>
              <a:rPr lang="en-US" sz="3000" b="1" dirty="0"/>
              <a:t> </a:t>
            </a:r>
            <a:r>
              <a:rPr lang="en-US" sz="4000" b="1" dirty="0"/>
              <a:t>Machine Learning as an Optimization Process</a:t>
            </a:r>
            <a:endParaRPr lang="en-US" sz="4000" dirty="0"/>
          </a:p>
          <a:p>
            <a:pPr>
              <a:buNone/>
            </a:pPr>
            <a:r>
              <a:rPr lang="en-US" sz="4000" dirty="0"/>
              <a:t>Every supervised machine learning algorithm can be formulated as solving an optimization problem. </a:t>
            </a:r>
          </a:p>
          <a:p>
            <a:pPr>
              <a:buNone/>
            </a:pPr>
            <a:endParaRPr lang="en-US" sz="3000" dirty="0"/>
          </a:p>
          <a:p>
            <a:pPr>
              <a:buNone/>
            </a:pPr>
            <a:endParaRPr lang="en-US" sz="3000" dirty="0"/>
          </a:p>
          <a:p>
            <a:pPr>
              <a:buNone/>
            </a:pPr>
            <a:r>
              <a:rPr lang="en-US" sz="3000" dirty="0"/>
              <a:t>                                      For example:</a:t>
            </a:r>
          </a:p>
          <a:p>
            <a:endParaRPr lang="en-US" sz="3000" dirty="0">
              <a:highlight>
                <a:srgbClr val="00FFFF"/>
              </a:highlight>
            </a:endParaRPr>
          </a:p>
        </p:txBody>
      </p:sp>
      <p:sp>
        <p:nvSpPr>
          <p:cNvPr id="4" name="Arrow: Down 3">
            <a:extLst>
              <a:ext uri="{FF2B5EF4-FFF2-40B4-BE49-F238E27FC236}">
                <a16:creationId xmlns:a16="http://schemas.microsoft.com/office/drawing/2014/main" id="{5F798CF5-CE73-B067-8EA5-E2AD9E6665BB}"/>
              </a:ext>
            </a:extLst>
          </p:cNvPr>
          <p:cNvSpPr/>
          <p:nvPr/>
        </p:nvSpPr>
        <p:spPr>
          <a:xfrm>
            <a:off x="5965371" y="3298371"/>
            <a:ext cx="2590800" cy="31133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74871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8A29-0D19-842D-CE03-C9AFCCF743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110C59-20E6-3DA0-A035-CD1AB12670B9}"/>
              </a:ext>
            </a:extLst>
          </p:cNvPr>
          <p:cNvSpPr txBox="1"/>
          <p:nvPr/>
        </p:nvSpPr>
        <p:spPr>
          <a:xfrm>
            <a:off x="228600" y="283029"/>
            <a:ext cx="11789229" cy="5321166"/>
          </a:xfrm>
          <a:prstGeom prst="rect">
            <a:avLst/>
          </a:prstGeom>
          <a:noFill/>
        </p:spPr>
        <p:txBody>
          <a:bodyPr wrap="square">
            <a:spAutoFit/>
          </a:bodyPr>
          <a:lstStyle/>
          <a:p>
            <a:pPr marL="571500" indent="-571500">
              <a:buFont typeface="Wingdings" panose="05000000000000000000" pitchFamily="2" charset="2"/>
              <a:buChar char="q"/>
            </a:pPr>
            <a:r>
              <a:rPr lang="en-US" sz="3600" dirty="0"/>
              <a:t>Linear regression aims to minimize the </a:t>
            </a:r>
            <a:r>
              <a:rPr lang="en-US" sz="3600" dirty="0">
                <a:highlight>
                  <a:srgbClr val="00FFFF"/>
                </a:highlight>
              </a:rPr>
              <a:t>mean squared error</a:t>
            </a:r>
            <a:r>
              <a:rPr lang="en-US" sz="3600" dirty="0"/>
              <a:t>.</a:t>
            </a:r>
          </a:p>
          <a:p>
            <a:pPr marL="571500" indent="-571500">
              <a:buFont typeface="Wingdings" panose="05000000000000000000" pitchFamily="2" charset="2"/>
              <a:buChar char="q"/>
            </a:pPr>
            <a:r>
              <a:rPr lang="en-US" sz="3600" dirty="0"/>
              <a:t>Logistic regression aims to minimize </a:t>
            </a:r>
            <a:r>
              <a:rPr lang="en-US" sz="3600" dirty="0">
                <a:highlight>
                  <a:srgbClr val="00FFFF"/>
                </a:highlight>
              </a:rPr>
              <a:t>cross-entropy loss</a:t>
            </a:r>
            <a:r>
              <a:rPr lang="en-US" sz="3600" dirty="0"/>
              <a:t>.</a:t>
            </a:r>
          </a:p>
          <a:p>
            <a:pPr marL="571500" indent="-571500">
              <a:buFont typeface="Wingdings" panose="05000000000000000000" pitchFamily="2" charset="2"/>
              <a:buChar char="q"/>
            </a:pPr>
            <a:r>
              <a:rPr lang="en-US" sz="3600" dirty="0"/>
              <a:t>Support vector machines aim to  </a:t>
            </a:r>
            <a:r>
              <a:rPr lang="en-US" sz="3600" dirty="0">
                <a:highlight>
                  <a:srgbClr val="00FFFF"/>
                </a:highlight>
              </a:rPr>
              <a:t>maximize the margin between classes.</a:t>
            </a:r>
          </a:p>
          <a:p>
            <a:pPr marL="571500" indent="-571500">
              <a:buFont typeface="Wingdings" panose="05000000000000000000" pitchFamily="2" charset="2"/>
              <a:buChar char="q"/>
            </a:pPr>
            <a:r>
              <a:rPr lang="en-US" sz="3600" dirty="0"/>
              <a:t>Neural networks aim to minimize a complex </a:t>
            </a:r>
            <a:r>
              <a:rPr lang="en-US" sz="3600" dirty="0">
                <a:highlight>
                  <a:srgbClr val="00FFFF"/>
                </a:highlight>
              </a:rPr>
              <a:t>loss function using gradient-based methods.</a:t>
            </a:r>
          </a:p>
          <a:p>
            <a:pPr>
              <a:buFont typeface="Arial" panose="020B0604020202020204" pitchFamily="34" charset="0"/>
              <a:buChar char="•"/>
            </a:pPr>
            <a:endParaRPr lang="en-US" sz="3600" dirty="0">
              <a:highlight>
                <a:srgbClr val="00FFFF"/>
              </a:highlight>
            </a:endParaRPr>
          </a:p>
          <a:p>
            <a:r>
              <a:rPr lang="en-US" sz="4000" b="1" dirty="0"/>
              <a:t>Thus, the core of “</a:t>
            </a:r>
            <a:r>
              <a:rPr lang="en-US" sz="4000" b="1" dirty="0">
                <a:highlight>
                  <a:srgbClr val="FFFF00"/>
                </a:highlight>
              </a:rPr>
              <a:t>learning”</a:t>
            </a:r>
            <a:r>
              <a:rPr lang="en-US" sz="4000" b="1" dirty="0"/>
              <a:t> in machine learning is </a:t>
            </a:r>
          </a:p>
          <a:p>
            <a:r>
              <a:rPr lang="en-US" sz="4000" b="1" dirty="0"/>
              <a:t>an </a:t>
            </a:r>
            <a:r>
              <a:rPr lang="en-US" sz="4000" b="1" dirty="0">
                <a:highlight>
                  <a:srgbClr val="00FFFF"/>
                </a:highlight>
              </a:rPr>
              <a:t>optimization proces</a:t>
            </a:r>
            <a:r>
              <a:rPr lang="en-US" sz="4000" b="1" dirty="0"/>
              <a:t>s</a:t>
            </a:r>
            <a:r>
              <a:rPr lang="en-US" sz="3600" dirty="0"/>
              <a:t>.</a:t>
            </a:r>
          </a:p>
        </p:txBody>
      </p:sp>
    </p:spTree>
    <p:extLst>
      <p:ext uri="{BB962C8B-B14F-4D97-AF65-F5344CB8AC3E}">
        <p14:creationId xmlns:p14="http://schemas.microsoft.com/office/powerpoint/2010/main" val="211398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DDAAE-DB6C-401E-67A9-54F46BE915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2A2E53-478E-F387-F362-55C6F3330DDC}"/>
              </a:ext>
            </a:extLst>
          </p:cNvPr>
          <p:cNvSpPr txBox="1"/>
          <p:nvPr/>
        </p:nvSpPr>
        <p:spPr>
          <a:xfrm>
            <a:off x="381000" y="609601"/>
            <a:ext cx="11495314" cy="4401205"/>
          </a:xfrm>
          <a:prstGeom prst="rect">
            <a:avLst/>
          </a:prstGeom>
          <a:noFill/>
        </p:spPr>
        <p:txBody>
          <a:bodyPr wrap="square">
            <a:spAutoFit/>
          </a:bodyPr>
          <a:lstStyle/>
          <a:p>
            <a:pPr algn="ctr">
              <a:buNone/>
            </a:pPr>
            <a:r>
              <a:rPr lang="en-US" sz="3000" dirty="0"/>
              <a:t> </a:t>
            </a:r>
            <a:r>
              <a:rPr lang="en-US" sz="4000" b="1" dirty="0"/>
              <a:t>Optimization Enables Generalization</a:t>
            </a:r>
          </a:p>
          <a:p>
            <a:r>
              <a:rPr lang="en-US" sz="4000" dirty="0"/>
              <a:t>Optimization is not just about minimizing the training loss. With techniques like regularization (Ridge, LASSO), we use optimization to find models that generalize well to unseen data. </a:t>
            </a:r>
          </a:p>
          <a:p>
            <a:r>
              <a:rPr lang="en-US" sz="4000" dirty="0"/>
              <a:t>This helps in managing the bias–variance trade-off and reduces overfitting</a:t>
            </a:r>
          </a:p>
        </p:txBody>
      </p:sp>
    </p:spTree>
    <p:extLst>
      <p:ext uri="{BB962C8B-B14F-4D97-AF65-F5344CB8AC3E}">
        <p14:creationId xmlns:p14="http://schemas.microsoft.com/office/powerpoint/2010/main" val="174901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948A2-9602-377C-0D2E-2A1E8470E5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37DE0D-1C35-72E7-4255-15C146A06B45}"/>
              </a:ext>
            </a:extLst>
          </p:cNvPr>
          <p:cNvSpPr txBox="1"/>
          <p:nvPr/>
        </p:nvSpPr>
        <p:spPr>
          <a:xfrm>
            <a:off x="359230" y="195943"/>
            <a:ext cx="11375571" cy="6309420"/>
          </a:xfrm>
          <a:prstGeom prst="rect">
            <a:avLst/>
          </a:prstGeom>
          <a:noFill/>
        </p:spPr>
        <p:txBody>
          <a:bodyPr wrap="square">
            <a:spAutoFit/>
          </a:bodyPr>
          <a:lstStyle/>
          <a:p>
            <a:pPr algn="ctr">
              <a:buNone/>
            </a:pPr>
            <a:r>
              <a:rPr lang="en-IN" sz="3000" b="1" dirty="0"/>
              <a:t>          </a:t>
            </a:r>
            <a:r>
              <a:rPr lang="en-IN" sz="4000" b="1" dirty="0"/>
              <a:t>Optimization is Embedded in Most ML Algorithms</a:t>
            </a:r>
            <a:endParaRPr lang="en-IN" sz="4000" dirty="0"/>
          </a:p>
          <a:p>
            <a:pPr>
              <a:buNone/>
            </a:pPr>
            <a:r>
              <a:rPr lang="en-IN" sz="3600" dirty="0"/>
              <a:t>Here are examples of optimization in popular algorithms:</a:t>
            </a:r>
          </a:p>
          <a:p>
            <a:pPr marL="571500" indent="-571500">
              <a:buFont typeface="Wingdings" panose="05000000000000000000" pitchFamily="2" charset="2"/>
              <a:buChar char="q"/>
            </a:pPr>
            <a:r>
              <a:rPr lang="en-IN" sz="3600" dirty="0"/>
              <a:t>Neural networks: Trained via backpropagation using gradient descent.</a:t>
            </a:r>
          </a:p>
          <a:p>
            <a:pPr marL="571500" indent="-571500">
              <a:buFont typeface="Wingdings" panose="05000000000000000000" pitchFamily="2" charset="2"/>
              <a:buChar char="q"/>
            </a:pPr>
            <a:r>
              <a:rPr lang="en-IN" sz="3600" dirty="0"/>
              <a:t>SVM: Solved using quadratic programming.</a:t>
            </a:r>
          </a:p>
          <a:p>
            <a:pPr marL="571500" indent="-571500">
              <a:buFont typeface="Wingdings" panose="05000000000000000000" pitchFamily="2" charset="2"/>
              <a:buChar char="q"/>
            </a:pPr>
            <a:r>
              <a:rPr lang="en-IN" sz="3600" dirty="0"/>
              <a:t>K-means clustering: Minimizes intra-cluster variance.</a:t>
            </a:r>
          </a:p>
          <a:p>
            <a:pPr marL="571500" indent="-571500">
              <a:buFont typeface="Wingdings" panose="05000000000000000000" pitchFamily="2" charset="2"/>
              <a:buChar char="q"/>
            </a:pPr>
            <a:r>
              <a:rPr lang="en-IN" sz="3600" dirty="0"/>
              <a:t>PCA: Involves maximizing variance (eigenvalue optimization).</a:t>
            </a:r>
          </a:p>
          <a:p>
            <a:pPr marL="571500" indent="-571500">
              <a:buFont typeface="Wingdings" panose="05000000000000000000" pitchFamily="2" charset="2"/>
              <a:buChar char="q"/>
            </a:pPr>
            <a:r>
              <a:rPr lang="en-IN" sz="3600" dirty="0"/>
              <a:t>Reinforcement learning: Optimizes a reward function over time.</a:t>
            </a:r>
          </a:p>
        </p:txBody>
      </p:sp>
    </p:spTree>
    <p:extLst>
      <p:ext uri="{BB962C8B-B14F-4D97-AF65-F5344CB8AC3E}">
        <p14:creationId xmlns:p14="http://schemas.microsoft.com/office/powerpoint/2010/main" val="287473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0349-C908-7D64-97D5-A5AC50EB72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8180C5-1B8F-3518-D774-8699A7ED8C24}"/>
              </a:ext>
            </a:extLst>
          </p:cNvPr>
          <p:cNvSpPr txBox="1"/>
          <p:nvPr/>
        </p:nvSpPr>
        <p:spPr>
          <a:xfrm>
            <a:off x="881743" y="1012372"/>
            <a:ext cx="10602686" cy="3785652"/>
          </a:xfrm>
          <a:prstGeom prst="rect">
            <a:avLst/>
          </a:prstGeom>
          <a:noFill/>
        </p:spPr>
        <p:txBody>
          <a:bodyPr wrap="square">
            <a:spAutoFit/>
          </a:bodyPr>
          <a:lstStyle/>
          <a:p>
            <a:r>
              <a:rPr lang="en-US" sz="4000" b="1" i="1" dirty="0">
                <a:solidFill>
                  <a:schemeClr val="accent1"/>
                </a:solidFill>
              </a:rPr>
              <a:t>Optimization is not a separate step in </a:t>
            </a:r>
            <a:r>
              <a:rPr lang="en-US" sz="4000" b="1" i="1" dirty="0"/>
              <a:t>machine learning</a:t>
            </a:r>
            <a:r>
              <a:rPr lang="en-US" sz="4000" b="1" i="1" dirty="0">
                <a:solidFill>
                  <a:schemeClr val="accent1"/>
                </a:solidFill>
              </a:rPr>
              <a:t>—it is the very essence of how machine learning models are trained. </a:t>
            </a:r>
          </a:p>
          <a:p>
            <a:r>
              <a:rPr lang="en-US" sz="4000" b="1" i="1" dirty="0">
                <a:solidFill>
                  <a:schemeClr val="accent1"/>
                </a:solidFill>
              </a:rPr>
              <a:t>Without </a:t>
            </a:r>
            <a:r>
              <a:rPr lang="en-US" sz="4000" b="1" i="1" dirty="0"/>
              <a:t>optimization techniques</a:t>
            </a:r>
            <a:r>
              <a:rPr lang="en-US" sz="4000" b="1" i="1" dirty="0">
                <a:solidFill>
                  <a:schemeClr val="accent1"/>
                </a:solidFill>
              </a:rPr>
              <a:t>, machine learning algorithms would not be able to learn from data </a:t>
            </a:r>
            <a:r>
              <a:rPr lang="en-US" sz="4000" b="1" i="1" dirty="0"/>
              <a:t>!!</a:t>
            </a:r>
            <a:endParaRPr lang="en-IN" sz="4000" b="1" i="1" dirty="0"/>
          </a:p>
        </p:txBody>
      </p:sp>
    </p:spTree>
    <p:extLst>
      <p:ext uri="{BB962C8B-B14F-4D97-AF65-F5344CB8AC3E}">
        <p14:creationId xmlns:p14="http://schemas.microsoft.com/office/powerpoint/2010/main" val="1597933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D3089-1CDE-8D64-C176-82746EE389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8E9B09-97DF-57EA-9FE1-82707FD4EDF3}"/>
              </a:ext>
            </a:extLst>
          </p:cNvPr>
          <p:cNvSpPr txBox="1"/>
          <p:nvPr/>
        </p:nvSpPr>
        <p:spPr>
          <a:xfrm>
            <a:off x="729342" y="631372"/>
            <a:ext cx="8719457" cy="1723549"/>
          </a:xfrm>
          <a:prstGeom prst="rect">
            <a:avLst/>
          </a:prstGeom>
          <a:noFill/>
        </p:spPr>
        <p:txBody>
          <a:bodyPr wrap="square">
            <a:spAutoFit/>
          </a:bodyPr>
          <a:lstStyle/>
          <a:p>
            <a:pPr>
              <a:buNone/>
            </a:pPr>
            <a:r>
              <a:rPr lang="en-US" sz="2400" b="1" dirty="0"/>
              <a:t>What is learning?</a:t>
            </a:r>
          </a:p>
          <a:p>
            <a:pPr>
              <a:buNone/>
            </a:pPr>
            <a:r>
              <a:rPr lang="en-US" b="1" dirty="0"/>
              <a:t>Answer:</a:t>
            </a:r>
            <a:br>
              <a:rPr lang="en-US" dirty="0"/>
            </a:br>
            <a:r>
              <a:rPr lang="en-US" b="1" dirty="0"/>
              <a:t>Learning</a:t>
            </a:r>
            <a:r>
              <a:rPr lang="en-US" dirty="0"/>
              <a:t> is the process of </a:t>
            </a:r>
            <a:r>
              <a:rPr lang="en-US" b="1" dirty="0"/>
              <a:t>adjusting the model parameters θ</a:t>
            </a:r>
            <a:r>
              <a:rPr lang="en-US" dirty="0"/>
              <a:t> to minimize the discrepancy between predicted and actual output.</a:t>
            </a:r>
          </a:p>
          <a:p>
            <a:r>
              <a:rPr lang="en-US" dirty="0"/>
              <a:t>We define a </a:t>
            </a:r>
            <a:r>
              <a:rPr lang="en-US" b="1" dirty="0"/>
              <a:t>loss function</a:t>
            </a:r>
            <a:r>
              <a:rPr lang="en-US" dirty="0"/>
              <a:t> </a:t>
            </a:r>
            <a:r>
              <a:rPr lang="en-US" sz="2800" b="1" dirty="0"/>
              <a:t>L( y, </a:t>
            </a:r>
            <a:r>
              <a:rPr lang="en-US" sz="2800" b="1" dirty="0" err="1"/>
              <a:t>f</a:t>
            </a:r>
            <a:r>
              <a:rPr lang="en-US" sz="2800" b="1" baseline="-32000" dirty="0" err="1"/>
              <a:t>θ</a:t>
            </a:r>
            <a:r>
              <a:rPr lang="en-US" sz="2800" b="1" dirty="0"/>
              <a:t>(x)) </a:t>
            </a:r>
            <a:r>
              <a:rPr lang="en-US" dirty="0"/>
              <a:t>then optimize it over the dataset.</a:t>
            </a:r>
          </a:p>
        </p:txBody>
      </p:sp>
      <p:sp>
        <p:nvSpPr>
          <p:cNvPr id="5" name="TextBox 4">
            <a:extLst>
              <a:ext uri="{FF2B5EF4-FFF2-40B4-BE49-F238E27FC236}">
                <a16:creationId xmlns:a16="http://schemas.microsoft.com/office/drawing/2014/main" id="{BCBFB29F-958F-7071-3A4F-42F04B7AF308}"/>
              </a:ext>
            </a:extLst>
          </p:cNvPr>
          <p:cNvSpPr txBox="1"/>
          <p:nvPr/>
        </p:nvSpPr>
        <p:spPr>
          <a:xfrm>
            <a:off x="1099457" y="3246681"/>
            <a:ext cx="9078686" cy="1569660"/>
          </a:xfrm>
          <a:prstGeom prst="rect">
            <a:avLst/>
          </a:prstGeom>
          <a:noFill/>
        </p:spPr>
        <p:txBody>
          <a:bodyPr wrap="square">
            <a:spAutoFit/>
          </a:bodyPr>
          <a:lstStyle/>
          <a:p>
            <a:pPr algn="ctr">
              <a:buNone/>
            </a:pPr>
            <a:r>
              <a:rPr lang="en-IN" sz="2400" b="1" dirty="0"/>
              <a:t>What kinds of learning exist?</a:t>
            </a:r>
          </a:p>
          <a:p>
            <a:pPr>
              <a:buFont typeface="Arial" panose="020B0604020202020204" pitchFamily="34" charset="0"/>
              <a:buChar char="•"/>
            </a:pPr>
            <a:r>
              <a:rPr lang="en-IN" b="1" dirty="0"/>
              <a:t>Supervised Learning</a:t>
            </a:r>
            <a:r>
              <a:rPr lang="en-IN" dirty="0"/>
              <a:t>: Input–output pairs are known. (e.g., classification, regression)</a:t>
            </a:r>
          </a:p>
          <a:p>
            <a:pPr>
              <a:buFont typeface="Arial" panose="020B0604020202020204" pitchFamily="34" charset="0"/>
              <a:buChar char="•"/>
            </a:pPr>
            <a:r>
              <a:rPr lang="en-IN" b="1" dirty="0"/>
              <a:t>Unsupervised Learning</a:t>
            </a:r>
            <a:r>
              <a:rPr lang="en-IN" dirty="0"/>
              <a:t>: Only inputs x, no outputs. (e.g., clustering, PCA)</a:t>
            </a:r>
          </a:p>
          <a:p>
            <a:pPr>
              <a:buFont typeface="Arial" panose="020B0604020202020204" pitchFamily="34" charset="0"/>
              <a:buChar char="•"/>
            </a:pPr>
            <a:r>
              <a:rPr lang="en-IN" b="1" dirty="0"/>
              <a:t>Semi-supervised Learning</a:t>
            </a:r>
            <a:r>
              <a:rPr lang="en-IN" dirty="0"/>
              <a:t>: Few labels available</a:t>
            </a:r>
          </a:p>
          <a:p>
            <a:pPr>
              <a:buFont typeface="Arial" panose="020B0604020202020204" pitchFamily="34" charset="0"/>
              <a:buChar char="•"/>
            </a:pPr>
            <a:r>
              <a:rPr lang="en-IN" b="1" dirty="0"/>
              <a:t>Reinforcement Learning</a:t>
            </a:r>
            <a:r>
              <a:rPr lang="en-IN" dirty="0"/>
              <a:t>: Learning via rewards and penalties from environment</a:t>
            </a:r>
          </a:p>
        </p:txBody>
      </p:sp>
    </p:spTree>
    <p:extLst>
      <p:ext uri="{BB962C8B-B14F-4D97-AF65-F5344CB8AC3E}">
        <p14:creationId xmlns:p14="http://schemas.microsoft.com/office/powerpoint/2010/main" val="1810010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288A-998D-9022-1C86-C6D3C6807D1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0856E8F-5FDD-5988-A602-C36F40281291}"/>
              </a:ext>
            </a:extLst>
          </p:cNvPr>
          <p:cNvPicPr>
            <a:picLocks noChangeAspect="1"/>
          </p:cNvPicPr>
          <p:nvPr/>
        </p:nvPicPr>
        <p:blipFill>
          <a:blip r:embed="rId2"/>
          <a:stretch>
            <a:fillRect/>
          </a:stretch>
        </p:blipFill>
        <p:spPr>
          <a:xfrm>
            <a:off x="250700" y="130629"/>
            <a:ext cx="11603843" cy="3276600"/>
          </a:xfrm>
          <a:prstGeom prst="rect">
            <a:avLst/>
          </a:prstGeom>
        </p:spPr>
      </p:pic>
      <p:sp>
        <p:nvSpPr>
          <p:cNvPr id="4" name="Rectangle 2">
            <a:extLst>
              <a:ext uri="{FF2B5EF4-FFF2-40B4-BE49-F238E27FC236}">
                <a16:creationId xmlns:a16="http://schemas.microsoft.com/office/drawing/2014/main" id="{C322B770-631B-DC21-D581-DF05A43FACF2}"/>
              </a:ext>
            </a:extLst>
          </p:cNvPr>
          <p:cNvSpPr>
            <a:spLocks noChangeArrowheads="1"/>
          </p:cNvSpPr>
          <p:nvPr/>
        </p:nvSpPr>
        <p:spPr bwMode="auto">
          <a:xfrm>
            <a:off x="881742" y="3777633"/>
            <a:ext cx="925285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Write the model equation in the form y=</a:t>
            </a:r>
            <a:r>
              <a:rPr kumimoji="0" lang="en-US" altLang="en-US" sz="2800" b="1" i="0" u="none" strike="noStrike" cap="none" normalizeH="0" baseline="0" dirty="0" err="1">
                <a:ln>
                  <a:noFill/>
                </a:ln>
                <a:solidFill>
                  <a:schemeClr val="tx1"/>
                </a:solidFill>
                <a:effectLst/>
                <a:latin typeface="Arial" panose="020B0604020202020204" pitchFamily="34" charset="0"/>
              </a:rPr>
              <a:t>θx</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Derive the optimal value of θ that minimizes the Mean Squared Error (MSE)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Calculate the final MSE using the optimal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3650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F6DA-CD31-CD76-CED0-062004DE4F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A823E1-A5D1-3C06-5F1B-26C2DD71BC2E}"/>
              </a:ext>
            </a:extLst>
          </p:cNvPr>
          <p:cNvPicPr>
            <a:picLocks noChangeAspect="1"/>
          </p:cNvPicPr>
          <p:nvPr/>
        </p:nvPicPr>
        <p:blipFill>
          <a:blip r:embed="rId2"/>
          <a:stretch>
            <a:fillRect/>
          </a:stretch>
        </p:blipFill>
        <p:spPr>
          <a:xfrm>
            <a:off x="1204083" y="453572"/>
            <a:ext cx="9137345" cy="5409066"/>
          </a:xfrm>
          <a:prstGeom prst="rect">
            <a:avLst/>
          </a:prstGeom>
        </p:spPr>
      </p:pic>
    </p:spTree>
    <p:extLst>
      <p:ext uri="{BB962C8B-B14F-4D97-AF65-F5344CB8AC3E}">
        <p14:creationId xmlns:p14="http://schemas.microsoft.com/office/powerpoint/2010/main" val="131295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F20FB-E40D-0BF0-95E9-422B83356FD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0DC7FE7-9362-056B-A33A-3A7BA18EFCA7}"/>
              </a:ext>
            </a:extLst>
          </p:cNvPr>
          <p:cNvPicPr>
            <a:picLocks noChangeAspect="1"/>
          </p:cNvPicPr>
          <p:nvPr/>
        </p:nvPicPr>
        <p:blipFill>
          <a:blip r:embed="rId2"/>
          <a:stretch>
            <a:fillRect/>
          </a:stretch>
        </p:blipFill>
        <p:spPr>
          <a:xfrm>
            <a:off x="941784" y="620485"/>
            <a:ext cx="9824187" cy="4833257"/>
          </a:xfrm>
          <a:prstGeom prst="rect">
            <a:avLst/>
          </a:prstGeom>
        </p:spPr>
      </p:pic>
      <p:pic>
        <p:nvPicPr>
          <p:cNvPr id="8" name="Picture 7">
            <a:extLst>
              <a:ext uri="{FF2B5EF4-FFF2-40B4-BE49-F238E27FC236}">
                <a16:creationId xmlns:a16="http://schemas.microsoft.com/office/drawing/2014/main" id="{00920FCA-ACE1-84B5-BC1E-A6E5A9249437}"/>
              </a:ext>
            </a:extLst>
          </p:cNvPr>
          <p:cNvPicPr>
            <a:picLocks noChangeAspect="1"/>
          </p:cNvPicPr>
          <p:nvPr/>
        </p:nvPicPr>
        <p:blipFill>
          <a:blip r:embed="rId3"/>
          <a:stretch>
            <a:fillRect/>
          </a:stretch>
        </p:blipFill>
        <p:spPr>
          <a:xfrm>
            <a:off x="609600" y="4735286"/>
            <a:ext cx="10711543" cy="1763485"/>
          </a:xfrm>
          <a:prstGeom prst="rect">
            <a:avLst/>
          </a:prstGeom>
        </p:spPr>
      </p:pic>
    </p:spTree>
    <p:extLst>
      <p:ext uri="{BB962C8B-B14F-4D97-AF65-F5344CB8AC3E}">
        <p14:creationId xmlns:p14="http://schemas.microsoft.com/office/powerpoint/2010/main" val="1579345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83674-D71E-6EC6-1F41-13DFBA855F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463A67-ED7D-443A-DB99-D9355CB443A7}"/>
              </a:ext>
            </a:extLst>
          </p:cNvPr>
          <p:cNvPicPr>
            <a:picLocks noChangeAspect="1"/>
          </p:cNvPicPr>
          <p:nvPr/>
        </p:nvPicPr>
        <p:blipFill>
          <a:blip r:embed="rId2"/>
          <a:stretch>
            <a:fillRect/>
          </a:stretch>
        </p:blipFill>
        <p:spPr>
          <a:xfrm>
            <a:off x="685800" y="139407"/>
            <a:ext cx="10123715" cy="3997164"/>
          </a:xfrm>
          <a:prstGeom prst="rect">
            <a:avLst/>
          </a:prstGeom>
        </p:spPr>
      </p:pic>
      <p:sp>
        <p:nvSpPr>
          <p:cNvPr id="2" name="Rectangle 2">
            <a:extLst>
              <a:ext uri="{FF2B5EF4-FFF2-40B4-BE49-F238E27FC236}">
                <a16:creationId xmlns:a16="http://schemas.microsoft.com/office/drawing/2014/main" id="{D6C374DC-A1F3-EE1B-2E14-3CF275BC27D2}"/>
              </a:ext>
            </a:extLst>
          </p:cNvPr>
          <p:cNvSpPr>
            <a:spLocks noChangeArrowheads="1"/>
          </p:cNvSpPr>
          <p:nvPr/>
        </p:nvSpPr>
        <p:spPr bwMode="auto">
          <a:xfrm>
            <a:off x="718458" y="4568152"/>
            <a:ext cx="1095102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Write the model equation in the form y=</a:t>
            </a:r>
            <a:r>
              <a:rPr kumimoji="0" lang="en-US" altLang="en-US" sz="2800" b="1" i="0" u="none" strike="noStrike" cap="none" normalizeH="0" baseline="0" dirty="0" err="1">
                <a:ln>
                  <a:noFill/>
                </a:ln>
                <a:solidFill>
                  <a:schemeClr val="tx1"/>
                </a:solidFill>
                <a:effectLst/>
                <a:latin typeface="Arial" panose="020B0604020202020204" pitchFamily="34" charset="0"/>
              </a:rPr>
              <a:t>θx</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Derive the optimal value of θ that minimizes the Mean Squared Error (MSE)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Calculate the final MSE using the optimal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4005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3DCED-D80E-C171-0042-33741FE3B5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15C64B-3D48-1032-F40E-E08352B2C952}"/>
              </a:ext>
            </a:extLst>
          </p:cNvPr>
          <p:cNvPicPr>
            <a:picLocks noChangeAspect="1"/>
          </p:cNvPicPr>
          <p:nvPr/>
        </p:nvPicPr>
        <p:blipFill>
          <a:blip r:embed="rId2"/>
          <a:stretch>
            <a:fillRect/>
          </a:stretch>
        </p:blipFill>
        <p:spPr>
          <a:xfrm>
            <a:off x="1099456" y="366712"/>
            <a:ext cx="9710057" cy="6124575"/>
          </a:xfrm>
          <a:prstGeom prst="rect">
            <a:avLst/>
          </a:prstGeom>
        </p:spPr>
      </p:pic>
      <p:sp>
        <p:nvSpPr>
          <p:cNvPr id="4" name="TextBox 3">
            <a:extLst>
              <a:ext uri="{FF2B5EF4-FFF2-40B4-BE49-F238E27FC236}">
                <a16:creationId xmlns:a16="http://schemas.microsoft.com/office/drawing/2014/main" id="{80861CFF-4967-629A-FDEE-083A9EAA8091}"/>
              </a:ext>
            </a:extLst>
          </p:cNvPr>
          <p:cNvSpPr txBox="1"/>
          <p:nvPr/>
        </p:nvSpPr>
        <p:spPr>
          <a:xfrm>
            <a:off x="9427029" y="140064"/>
            <a:ext cx="2427514" cy="2585323"/>
          </a:xfrm>
          <a:prstGeom prst="rect">
            <a:avLst/>
          </a:prstGeom>
          <a:noFill/>
        </p:spPr>
        <p:txBody>
          <a:bodyPr wrap="square">
            <a:spAutoFit/>
          </a:bodyPr>
          <a:lstStyle/>
          <a:p>
            <a:r>
              <a:rPr lang="en-US" b="1" dirty="0"/>
              <a:t>design matrix</a:t>
            </a:r>
            <a:r>
              <a:rPr lang="en-US" dirty="0"/>
              <a:t> is a matrix that contains all the input feature values for the training data. It is structured so that </a:t>
            </a:r>
            <a:r>
              <a:rPr lang="en-US" b="1" dirty="0"/>
              <a:t>each row represents one training example</a:t>
            </a:r>
            <a:r>
              <a:rPr lang="en-US" dirty="0"/>
              <a:t>, and </a:t>
            </a:r>
            <a:r>
              <a:rPr lang="en-US" b="1" dirty="0"/>
              <a:t>each column represents a feature</a:t>
            </a:r>
            <a:r>
              <a:rPr lang="en-US" dirty="0"/>
              <a:t>.</a:t>
            </a:r>
            <a:endParaRPr lang="en-IN" dirty="0"/>
          </a:p>
        </p:txBody>
      </p:sp>
    </p:spTree>
    <p:extLst>
      <p:ext uri="{BB962C8B-B14F-4D97-AF65-F5344CB8AC3E}">
        <p14:creationId xmlns:p14="http://schemas.microsoft.com/office/powerpoint/2010/main" val="1865117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30BE8-E9FF-B577-813D-EE0B51E7BE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837859-121E-12F8-3EC1-A7D2B1EA3694}"/>
              </a:ext>
            </a:extLst>
          </p:cNvPr>
          <p:cNvPicPr>
            <a:picLocks noChangeAspect="1"/>
          </p:cNvPicPr>
          <p:nvPr/>
        </p:nvPicPr>
        <p:blipFill>
          <a:blip r:embed="rId2"/>
          <a:stretch>
            <a:fillRect/>
          </a:stretch>
        </p:blipFill>
        <p:spPr>
          <a:xfrm>
            <a:off x="1480457" y="859971"/>
            <a:ext cx="8817429" cy="2962276"/>
          </a:xfrm>
          <a:prstGeom prst="rect">
            <a:avLst/>
          </a:prstGeom>
        </p:spPr>
      </p:pic>
    </p:spTree>
    <p:extLst>
      <p:ext uri="{BB962C8B-B14F-4D97-AF65-F5344CB8AC3E}">
        <p14:creationId xmlns:p14="http://schemas.microsoft.com/office/powerpoint/2010/main" val="803282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7F37-4F13-2A92-CF55-A6614B9D6B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3DD0234-88F1-A089-D512-5535661830C0}"/>
              </a:ext>
            </a:extLst>
          </p:cNvPr>
          <p:cNvPicPr>
            <a:picLocks noChangeAspect="1"/>
          </p:cNvPicPr>
          <p:nvPr/>
        </p:nvPicPr>
        <p:blipFill>
          <a:blip r:embed="rId2"/>
          <a:stretch>
            <a:fillRect/>
          </a:stretch>
        </p:blipFill>
        <p:spPr>
          <a:xfrm>
            <a:off x="718458" y="794657"/>
            <a:ext cx="10700656" cy="5845629"/>
          </a:xfrm>
          <a:prstGeom prst="rect">
            <a:avLst/>
          </a:prstGeom>
        </p:spPr>
      </p:pic>
      <p:sp>
        <p:nvSpPr>
          <p:cNvPr id="7" name="TextBox 6">
            <a:extLst>
              <a:ext uri="{FF2B5EF4-FFF2-40B4-BE49-F238E27FC236}">
                <a16:creationId xmlns:a16="http://schemas.microsoft.com/office/drawing/2014/main" id="{C19230B6-1B5D-5588-FB24-BD83A56DB5BD}"/>
              </a:ext>
            </a:extLst>
          </p:cNvPr>
          <p:cNvSpPr txBox="1"/>
          <p:nvPr/>
        </p:nvSpPr>
        <p:spPr>
          <a:xfrm>
            <a:off x="1741714" y="163677"/>
            <a:ext cx="8142514" cy="492443"/>
          </a:xfrm>
          <a:prstGeom prst="rect">
            <a:avLst/>
          </a:prstGeom>
          <a:noFill/>
        </p:spPr>
        <p:txBody>
          <a:bodyPr wrap="square">
            <a:spAutoFit/>
          </a:bodyPr>
          <a:lstStyle/>
          <a:p>
            <a:pPr algn="ctr"/>
            <a:r>
              <a:rPr lang="en-US" sz="2600" b="1" dirty="0">
                <a:highlight>
                  <a:srgbClr val="00FF00"/>
                </a:highlight>
              </a:rPr>
              <a:t>Normal Equation Derivation in Linear Regression</a:t>
            </a:r>
            <a:endParaRPr lang="en-IN" sz="2600" b="1" dirty="0">
              <a:highlight>
                <a:srgbClr val="00FF00"/>
              </a:highlight>
            </a:endParaRPr>
          </a:p>
        </p:txBody>
      </p:sp>
    </p:spTree>
    <p:extLst>
      <p:ext uri="{BB962C8B-B14F-4D97-AF65-F5344CB8AC3E}">
        <p14:creationId xmlns:p14="http://schemas.microsoft.com/office/powerpoint/2010/main" val="3467655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01163-02F1-AC7D-9BDD-30CC33BD95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4A4356-29B2-67AD-52AE-BE2471063CFB}"/>
              </a:ext>
            </a:extLst>
          </p:cNvPr>
          <p:cNvPicPr>
            <a:picLocks noChangeAspect="1"/>
          </p:cNvPicPr>
          <p:nvPr/>
        </p:nvPicPr>
        <p:blipFill>
          <a:blip r:embed="rId2"/>
          <a:stretch>
            <a:fillRect/>
          </a:stretch>
        </p:blipFill>
        <p:spPr>
          <a:xfrm>
            <a:off x="729343" y="480982"/>
            <a:ext cx="10635343" cy="6053711"/>
          </a:xfrm>
          <a:prstGeom prst="rect">
            <a:avLst/>
          </a:prstGeom>
        </p:spPr>
      </p:pic>
    </p:spTree>
    <p:extLst>
      <p:ext uri="{BB962C8B-B14F-4D97-AF65-F5344CB8AC3E}">
        <p14:creationId xmlns:p14="http://schemas.microsoft.com/office/powerpoint/2010/main" val="310452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967F-AF81-0F44-3F64-A0F582773C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88AEF5-BECB-190A-9201-13E22A62CECE}"/>
              </a:ext>
            </a:extLst>
          </p:cNvPr>
          <p:cNvPicPr>
            <a:picLocks noChangeAspect="1"/>
          </p:cNvPicPr>
          <p:nvPr/>
        </p:nvPicPr>
        <p:blipFill>
          <a:blip r:embed="rId2"/>
          <a:stretch>
            <a:fillRect/>
          </a:stretch>
        </p:blipFill>
        <p:spPr>
          <a:xfrm>
            <a:off x="957943" y="398721"/>
            <a:ext cx="10461171" cy="5821104"/>
          </a:xfrm>
          <a:prstGeom prst="rect">
            <a:avLst/>
          </a:prstGeom>
        </p:spPr>
      </p:pic>
    </p:spTree>
    <p:extLst>
      <p:ext uri="{BB962C8B-B14F-4D97-AF65-F5344CB8AC3E}">
        <p14:creationId xmlns:p14="http://schemas.microsoft.com/office/powerpoint/2010/main" val="4680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6858-B249-666F-9B74-FBF315B190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34C0B48-D16F-5EA5-1631-246BE6089624}"/>
              </a:ext>
            </a:extLst>
          </p:cNvPr>
          <p:cNvPicPr>
            <a:picLocks noChangeAspect="1"/>
          </p:cNvPicPr>
          <p:nvPr/>
        </p:nvPicPr>
        <p:blipFill>
          <a:blip r:embed="rId2"/>
          <a:stretch>
            <a:fillRect/>
          </a:stretch>
        </p:blipFill>
        <p:spPr>
          <a:xfrm>
            <a:off x="936171" y="566057"/>
            <a:ext cx="9851571" cy="3809999"/>
          </a:xfrm>
          <a:prstGeom prst="rect">
            <a:avLst/>
          </a:prstGeom>
        </p:spPr>
      </p:pic>
    </p:spTree>
    <p:extLst>
      <p:ext uri="{BB962C8B-B14F-4D97-AF65-F5344CB8AC3E}">
        <p14:creationId xmlns:p14="http://schemas.microsoft.com/office/powerpoint/2010/main" val="13882149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857F-CDFD-DDB7-F3B3-51B38E9F38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269FB23-C296-B286-FE2A-0626DFFFE152}"/>
              </a:ext>
            </a:extLst>
          </p:cNvPr>
          <p:cNvPicPr>
            <a:picLocks noChangeAspect="1"/>
          </p:cNvPicPr>
          <p:nvPr/>
        </p:nvPicPr>
        <p:blipFill>
          <a:blip r:embed="rId2"/>
          <a:stretch>
            <a:fillRect/>
          </a:stretch>
        </p:blipFill>
        <p:spPr>
          <a:xfrm>
            <a:off x="842282" y="393246"/>
            <a:ext cx="9335861" cy="5006068"/>
          </a:xfrm>
          <a:prstGeom prst="rect">
            <a:avLst/>
          </a:prstGeom>
        </p:spPr>
      </p:pic>
      <p:sp>
        <p:nvSpPr>
          <p:cNvPr id="5" name="TextBox 4">
            <a:extLst>
              <a:ext uri="{FF2B5EF4-FFF2-40B4-BE49-F238E27FC236}">
                <a16:creationId xmlns:a16="http://schemas.microsoft.com/office/drawing/2014/main" id="{E1603D08-35CC-8157-98A6-3EA693B48439}"/>
              </a:ext>
            </a:extLst>
          </p:cNvPr>
          <p:cNvSpPr txBox="1"/>
          <p:nvPr/>
        </p:nvSpPr>
        <p:spPr>
          <a:xfrm>
            <a:off x="108857" y="5257800"/>
            <a:ext cx="11865429" cy="1384995"/>
          </a:xfrm>
          <a:prstGeom prst="rect">
            <a:avLst/>
          </a:prstGeom>
          <a:noFill/>
        </p:spPr>
        <p:txBody>
          <a:bodyPr wrap="square">
            <a:spAutoFit/>
          </a:bodyPr>
          <a:lstStyle/>
          <a:p>
            <a:r>
              <a:rPr lang="en-US" sz="2200" b="1" dirty="0"/>
              <a:t>Goal :Find values of θ​ (intercept) and θ1​ (slope) that minimize the Mean Squared Error (MSE) </a:t>
            </a:r>
          </a:p>
          <a:p>
            <a:r>
              <a:rPr lang="en-US" sz="2200" b="1" dirty="0"/>
              <a:t>loss function. In linear regression, the loss function we want to minimize is the Mean Squared Error (MSE) between the predicted values y^​ and the actual values y.</a:t>
            </a:r>
          </a:p>
          <a:p>
            <a:endParaRPr lang="en-US" dirty="0"/>
          </a:p>
        </p:txBody>
      </p:sp>
      <p:sp>
        <p:nvSpPr>
          <p:cNvPr id="4" name="TextBox 3">
            <a:extLst>
              <a:ext uri="{FF2B5EF4-FFF2-40B4-BE49-F238E27FC236}">
                <a16:creationId xmlns:a16="http://schemas.microsoft.com/office/drawing/2014/main" id="{E6D843E5-230B-5244-A8B3-CE6A697595FF}"/>
              </a:ext>
            </a:extLst>
          </p:cNvPr>
          <p:cNvSpPr txBox="1"/>
          <p:nvPr/>
        </p:nvSpPr>
        <p:spPr>
          <a:xfrm>
            <a:off x="10058400" y="452734"/>
            <a:ext cx="1992085" cy="3139321"/>
          </a:xfrm>
          <a:prstGeom prst="rect">
            <a:avLst/>
          </a:prstGeom>
          <a:noFill/>
        </p:spPr>
        <p:txBody>
          <a:bodyPr wrap="square">
            <a:spAutoFit/>
          </a:bodyPr>
          <a:lstStyle/>
          <a:p>
            <a:r>
              <a:rPr lang="en-US" b="1" dirty="0">
                <a:solidFill>
                  <a:srgbClr val="7030A0"/>
                </a:solidFill>
                <a:highlight>
                  <a:srgbClr val="FFFF00"/>
                </a:highlight>
              </a:rPr>
              <a:t>Gradient Descent is an optimization algorithm used to minimize a loss function by iteratively updating model parameters in the opposite direction of the gradient (slope)</a:t>
            </a:r>
            <a:endParaRPr lang="en-IN" b="1" dirty="0">
              <a:solidFill>
                <a:srgbClr val="7030A0"/>
              </a:solidFill>
              <a:highlight>
                <a:srgbClr val="FFFF00"/>
              </a:highlight>
            </a:endParaRPr>
          </a:p>
        </p:txBody>
      </p:sp>
    </p:spTree>
    <p:extLst>
      <p:ext uri="{BB962C8B-B14F-4D97-AF65-F5344CB8AC3E}">
        <p14:creationId xmlns:p14="http://schemas.microsoft.com/office/powerpoint/2010/main" val="17801597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22DAD-E174-EB24-2390-4D07E7D584D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27EB9E-93B3-F9BF-E693-48A1F8C86B70}"/>
              </a:ext>
            </a:extLst>
          </p:cNvPr>
          <p:cNvPicPr>
            <a:picLocks noChangeAspect="1"/>
          </p:cNvPicPr>
          <p:nvPr/>
        </p:nvPicPr>
        <p:blipFill>
          <a:blip r:embed="rId2"/>
          <a:stretch>
            <a:fillRect/>
          </a:stretch>
        </p:blipFill>
        <p:spPr>
          <a:xfrm>
            <a:off x="1219200" y="478971"/>
            <a:ext cx="9731829" cy="5050291"/>
          </a:xfrm>
          <a:prstGeom prst="rect">
            <a:avLst/>
          </a:prstGeom>
        </p:spPr>
      </p:pic>
    </p:spTree>
    <p:extLst>
      <p:ext uri="{BB962C8B-B14F-4D97-AF65-F5344CB8AC3E}">
        <p14:creationId xmlns:p14="http://schemas.microsoft.com/office/powerpoint/2010/main" val="256845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A28C6-604D-FD83-04A9-FA8ECA3368C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32A2B1-D3C4-31AD-5595-519931014F59}"/>
              </a:ext>
            </a:extLst>
          </p:cNvPr>
          <p:cNvPicPr>
            <a:picLocks noChangeAspect="1"/>
          </p:cNvPicPr>
          <p:nvPr/>
        </p:nvPicPr>
        <p:blipFill>
          <a:blip r:embed="rId2"/>
          <a:stretch>
            <a:fillRect/>
          </a:stretch>
        </p:blipFill>
        <p:spPr>
          <a:xfrm>
            <a:off x="1360714" y="505292"/>
            <a:ext cx="9220200" cy="5343058"/>
          </a:xfrm>
          <a:prstGeom prst="rect">
            <a:avLst/>
          </a:prstGeom>
        </p:spPr>
      </p:pic>
    </p:spTree>
    <p:extLst>
      <p:ext uri="{BB962C8B-B14F-4D97-AF65-F5344CB8AC3E}">
        <p14:creationId xmlns:p14="http://schemas.microsoft.com/office/powerpoint/2010/main" val="18537468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F069A-33DB-8B7D-567F-ECD956EB98C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EDF21A-9050-1C9C-6378-ECAB142EE5E5}"/>
              </a:ext>
            </a:extLst>
          </p:cNvPr>
          <p:cNvPicPr>
            <a:picLocks noChangeAspect="1"/>
          </p:cNvPicPr>
          <p:nvPr/>
        </p:nvPicPr>
        <p:blipFill>
          <a:blip r:embed="rId2"/>
          <a:stretch>
            <a:fillRect/>
          </a:stretch>
        </p:blipFill>
        <p:spPr>
          <a:xfrm>
            <a:off x="1095302" y="620487"/>
            <a:ext cx="9474727" cy="5132614"/>
          </a:xfrm>
          <a:prstGeom prst="rect">
            <a:avLst/>
          </a:prstGeom>
        </p:spPr>
      </p:pic>
    </p:spTree>
    <p:extLst>
      <p:ext uri="{BB962C8B-B14F-4D97-AF65-F5344CB8AC3E}">
        <p14:creationId xmlns:p14="http://schemas.microsoft.com/office/powerpoint/2010/main" val="12691243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1C74-16FB-1BC7-EEB1-D6C716C515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D91C02C-488F-CFF3-BEE9-546CAFE6E85E}"/>
              </a:ext>
            </a:extLst>
          </p:cNvPr>
          <p:cNvPicPr>
            <a:picLocks noChangeAspect="1"/>
          </p:cNvPicPr>
          <p:nvPr/>
        </p:nvPicPr>
        <p:blipFill>
          <a:blip r:embed="rId2"/>
          <a:stretch>
            <a:fillRect/>
          </a:stretch>
        </p:blipFill>
        <p:spPr>
          <a:xfrm>
            <a:off x="1273629" y="552450"/>
            <a:ext cx="8382000" cy="5753100"/>
          </a:xfrm>
          <a:prstGeom prst="rect">
            <a:avLst/>
          </a:prstGeom>
        </p:spPr>
      </p:pic>
    </p:spTree>
    <p:extLst>
      <p:ext uri="{BB962C8B-B14F-4D97-AF65-F5344CB8AC3E}">
        <p14:creationId xmlns:p14="http://schemas.microsoft.com/office/powerpoint/2010/main" val="1256806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78CD-6C02-9B28-ABF7-6D8AE8BF84A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4DBEE36-AE33-401F-0812-B378F513D0A7}"/>
              </a:ext>
            </a:extLst>
          </p:cNvPr>
          <p:cNvPicPr>
            <a:picLocks noChangeAspect="1"/>
          </p:cNvPicPr>
          <p:nvPr/>
        </p:nvPicPr>
        <p:blipFill>
          <a:blip r:embed="rId2"/>
          <a:stretch>
            <a:fillRect/>
          </a:stretch>
        </p:blipFill>
        <p:spPr>
          <a:xfrm>
            <a:off x="91440" y="171450"/>
            <a:ext cx="11555730" cy="6526530"/>
          </a:xfrm>
          <a:prstGeom prst="rect">
            <a:avLst/>
          </a:prstGeom>
        </p:spPr>
      </p:pic>
    </p:spTree>
    <p:extLst>
      <p:ext uri="{BB962C8B-B14F-4D97-AF65-F5344CB8AC3E}">
        <p14:creationId xmlns:p14="http://schemas.microsoft.com/office/powerpoint/2010/main" val="2673390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2943-663C-F05E-3C3D-A5FAD307D5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5E989D-4CB2-B3A8-CBCE-BA12D909CEA1}"/>
              </a:ext>
            </a:extLst>
          </p:cNvPr>
          <p:cNvPicPr>
            <a:picLocks noChangeAspect="1"/>
          </p:cNvPicPr>
          <p:nvPr/>
        </p:nvPicPr>
        <p:blipFill>
          <a:blip r:embed="rId2"/>
          <a:stretch>
            <a:fillRect/>
          </a:stretch>
        </p:blipFill>
        <p:spPr>
          <a:xfrm>
            <a:off x="388620" y="651511"/>
            <a:ext cx="11018520" cy="4983479"/>
          </a:xfrm>
          <a:prstGeom prst="rect">
            <a:avLst/>
          </a:prstGeom>
        </p:spPr>
      </p:pic>
    </p:spTree>
    <p:extLst>
      <p:ext uri="{BB962C8B-B14F-4D97-AF65-F5344CB8AC3E}">
        <p14:creationId xmlns:p14="http://schemas.microsoft.com/office/powerpoint/2010/main" val="8407854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1C70A-4E73-496F-2CA5-B2E7CFF29746}"/>
            </a:ext>
          </a:extLst>
        </p:cNvPr>
        <p:cNvGrpSpPr/>
        <p:nvPr/>
      </p:nvGrpSpPr>
      <p:grpSpPr>
        <a:xfrm>
          <a:off x="0" y="0"/>
          <a:ext cx="0" cy="0"/>
          <a:chOff x="0" y="0"/>
          <a:chExt cx="0" cy="0"/>
        </a:xfrm>
      </p:grpSpPr>
    </p:spTree>
    <p:extLst>
      <p:ext uri="{BB962C8B-B14F-4D97-AF65-F5344CB8AC3E}">
        <p14:creationId xmlns:p14="http://schemas.microsoft.com/office/powerpoint/2010/main" val="524931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AABF-6A01-7DEE-A2FC-692774426D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FF244-522A-9865-4A19-32F9F6471667}"/>
              </a:ext>
            </a:extLst>
          </p:cNvPr>
          <p:cNvSpPr txBox="1"/>
          <p:nvPr/>
        </p:nvSpPr>
        <p:spPr>
          <a:xfrm>
            <a:off x="381000" y="195943"/>
            <a:ext cx="11527971" cy="5078313"/>
          </a:xfrm>
          <a:prstGeom prst="rect">
            <a:avLst/>
          </a:prstGeom>
          <a:noFill/>
        </p:spPr>
        <p:txBody>
          <a:bodyPr wrap="square">
            <a:spAutoFit/>
          </a:bodyPr>
          <a:lstStyle/>
          <a:p>
            <a:pPr algn="ctr"/>
            <a:r>
              <a:rPr lang="en-IN" sz="3600" b="1" dirty="0"/>
              <a:t>Empirical Risk Minimization (ERM)</a:t>
            </a:r>
          </a:p>
          <a:p>
            <a:r>
              <a:rPr lang="en-US" sz="3600" b="1" dirty="0"/>
              <a:t>What does “risk” mean in machine learning?</a:t>
            </a:r>
          </a:p>
          <a:p>
            <a:r>
              <a:rPr lang="en-US" sz="3600" b="1" dirty="0"/>
              <a:t>Answer-</a:t>
            </a:r>
            <a:br>
              <a:rPr lang="en-US" sz="3600" dirty="0"/>
            </a:br>
            <a:r>
              <a:rPr lang="en-US" sz="3600" dirty="0"/>
              <a:t>In ML, </a:t>
            </a:r>
            <a:r>
              <a:rPr lang="en-US" sz="3600" b="1" dirty="0"/>
              <a:t>risk</a:t>
            </a:r>
            <a:r>
              <a:rPr lang="en-US" sz="3600" dirty="0"/>
              <a:t> (</a:t>
            </a:r>
            <a:r>
              <a:rPr lang="en-US" sz="3600" b="1" dirty="0"/>
              <a:t>Generalization Error</a:t>
            </a:r>
            <a:r>
              <a:rPr lang="en-US" sz="3600" dirty="0"/>
              <a:t>) refers to how well the model performs — more precisely, how much </a:t>
            </a:r>
            <a:r>
              <a:rPr lang="en-US" sz="3600" b="1" dirty="0"/>
              <a:t>error or loss</a:t>
            </a:r>
            <a:r>
              <a:rPr lang="en-US" sz="3600" dirty="0"/>
              <a:t> it makes </a:t>
            </a:r>
            <a:r>
              <a:rPr lang="en-US" sz="3600" b="1" dirty="0"/>
              <a:t>on average</a:t>
            </a:r>
            <a:r>
              <a:rPr lang="en-US" sz="3600" dirty="0"/>
              <a:t> when predicting.</a:t>
            </a:r>
          </a:p>
          <a:p>
            <a:endParaRPr lang="en-US" sz="3600" dirty="0"/>
          </a:p>
          <a:p>
            <a:r>
              <a:rPr lang="en-US" sz="3600" dirty="0"/>
              <a:t>There are two types: True Risk /Empirical Risk</a:t>
            </a:r>
          </a:p>
          <a:p>
            <a:endParaRPr lang="en-IN" sz="3600" dirty="0"/>
          </a:p>
        </p:txBody>
      </p:sp>
      <p:sp>
        <p:nvSpPr>
          <p:cNvPr id="2" name="Arrow: Down 1">
            <a:extLst>
              <a:ext uri="{FF2B5EF4-FFF2-40B4-BE49-F238E27FC236}">
                <a16:creationId xmlns:a16="http://schemas.microsoft.com/office/drawing/2014/main" id="{7338DF3E-E66E-6DA0-512B-674DBB8AB059}"/>
              </a:ext>
            </a:extLst>
          </p:cNvPr>
          <p:cNvSpPr/>
          <p:nvPr/>
        </p:nvSpPr>
        <p:spPr>
          <a:xfrm>
            <a:off x="5225143" y="5007429"/>
            <a:ext cx="2231571" cy="14804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11147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DF5F-1C6D-6897-29AC-63DD3FB84F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4E2A09A-0A3A-B899-9809-0EC53D821D4C}"/>
              </a:ext>
            </a:extLst>
          </p:cNvPr>
          <p:cNvPicPr>
            <a:picLocks noChangeAspect="1"/>
          </p:cNvPicPr>
          <p:nvPr/>
        </p:nvPicPr>
        <p:blipFill>
          <a:blip r:embed="rId2"/>
          <a:stretch>
            <a:fillRect/>
          </a:stretch>
        </p:blipFill>
        <p:spPr>
          <a:xfrm>
            <a:off x="1143002" y="217717"/>
            <a:ext cx="9024255" cy="2209797"/>
          </a:xfrm>
          <a:prstGeom prst="rect">
            <a:avLst/>
          </a:prstGeom>
        </p:spPr>
      </p:pic>
      <p:pic>
        <p:nvPicPr>
          <p:cNvPr id="4" name="Picture 3">
            <a:extLst>
              <a:ext uri="{FF2B5EF4-FFF2-40B4-BE49-F238E27FC236}">
                <a16:creationId xmlns:a16="http://schemas.microsoft.com/office/drawing/2014/main" id="{67E2048B-4192-C2EC-943A-6405501EDC5E}"/>
              </a:ext>
            </a:extLst>
          </p:cNvPr>
          <p:cNvPicPr>
            <a:picLocks noChangeAspect="1"/>
          </p:cNvPicPr>
          <p:nvPr/>
        </p:nvPicPr>
        <p:blipFill>
          <a:blip r:embed="rId3"/>
          <a:stretch>
            <a:fillRect/>
          </a:stretch>
        </p:blipFill>
        <p:spPr>
          <a:xfrm>
            <a:off x="457199" y="2242456"/>
            <a:ext cx="11059886" cy="4295942"/>
          </a:xfrm>
          <a:prstGeom prst="rect">
            <a:avLst/>
          </a:prstGeom>
        </p:spPr>
      </p:pic>
    </p:spTree>
    <p:extLst>
      <p:ext uri="{BB962C8B-B14F-4D97-AF65-F5344CB8AC3E}">
        <p14:creationId xmlns:p14="http://schemas.microsoft.com/office/powerpoint/2010/main" val="14691805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9B711-4203-AC86-3A8C-416EF9FD3A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E2B823-36DF-9A6B-1320-8F7F290EBB28}"/>
              </a:ext>
            </a:extLst>
          </p:cNvPr>
          <p:cNvPicPr>
            <a:picLocks noChangeAspect="1"/>
          </p:cNvPicPr>
          <p:nvPr/>
        </p:nvPicPr>
        <p:blipFill>
          <a:blip r:embed="rId2"/>
          <a:stretch>
            <a:fillRect/>
          </a:stretch>
        </p:blipFill>
        <p:spPr>
          <a:xfrm>
            <a:off x="970189" y="1176336"/>
            <a:ext cx="10829926" cy="4386264"/>
          </a:xfrm>
          <a:prstGeom prst="rect">
            <a:avLst/>
          </a:prstGeom>
        </p:spPr>
      </p:pic>
      <p:sp>
        <p:nvSpPr>
          <p:cNvPr id="5" name="TextBox 4">
            <a:extLst>
              <a:ext uri="{FF2B5EF4-FFF2-40B4-BE49-F238E27FC236}">
                <a16:creationId xmlns:a16="http://schemas.microsoft.com/office/drawing/2014/main" id="{B7AD607D-D646-87E2-7E3F-1C99F585BB57}"/>
              </a:ext>
            </a:extLst>
          </p:cNvPr>
          <p:cNvSpPr txBox="1"/>
          <p:nvPr/>
        </p:nvSpPr>
        <p:spPr>
          <a:xfrm>
            <a:off x="1948543" y="326963"/>
            <a:ext cx="6096000" cy="646331"/>
          </a:xfrm>
          <a:prstGeom prst="rect">
            <a:avLst/>
          </a:prstGeom>
          <a:noFill/>
        </p:spPr>
        <p:txBody>
          <a:bodyPr wrap="square">
            <a:spAutoFit/>
          </a:bodyPr>
          <a:lstStyle/>
          <a:p>
            <a:r>
              <a:rPr lang="en-IN" sz="3600" b="1" dirty="0"/>
              <a:t>Empirical risk  (Training Error</a:t>
            </a:r>
            <a:r>
              <a:rPr lang="en-IN" sz="3600" dirty="0"/>
              <a:t>)</a:t>
            </a:r>
            <a:r>
              <a:rPr lang="en-IN" sz="3600" b="1" dirty="0"/>
              <a:t>-</a:t>
            </a:r>
          </a:p>
        </p:txBody>
      </p:sp>
    </p:spTree>
    <p:extLst>
      <p:ext uri="{BB962C8B-B14F-4D97-AF65-F5344CB8AC3E}">
        <p14:creationId xmlns:p14="http://schemas.microsoft.com/office/powerpoint/2010/main" val="487721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9DE8-C0CD-28EA-4205-72967E1219D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29DA791-FD7E-0B97-0CA9-D9C7E1A97D11}"/>
              </a:ext>
            </a:extLst>
          </p:cNvPr>
          <p:cNvSpPr txBox="1"/>
          <p:nvPr/>
        </p:nvSpPr>
        <p:spPr>
          <a:xfrm>
            <a:off x="849087" y="98362"/>
            <a:ext cx="10504714" cy="646331"/>
          </a:xfrm>
          <a:prstGeom prst="rect">
            <a:avLst/>
          </a:prstGeom>
          <a:noFill/>
        </p:spPr>
        <p:txBody>
          <a:bodyPr wrap="square">
            <a:spAutoFit/>
          </a:bodyPr>
          <a:lstStyle/>
          <a:p>
            <a:r>
              <a:rPr lang="en-US" sz="3600" dirty="0"/>
              <a:t>What is </a:t>
            </a:r>
            <a:r>
              <a:rPr lang="en-US" sz="3600" b="1" dirty="0"/>
              <a:t>Empirical Risk Minimization (ERM)</a:t>
            </a:r>
            <a:r>
              <a:rPr lang="en-US" sz="3600" dirty="0"/>
              <a:t>?</a:t>
            </a:r>
            <a:endParaRPr lang="en-IN" sz="3600" dirty="0"/>
          </a:p>
        </p:txBody>
      </p:sp>
      <p:pic>
        <p:nvPicPr>
          <p:cNvPr id="9" name="Picture 8">
            <a:extLst>
              <a:ext uri="{FF2B5EF4-FFF2-40B4-BE49-F238E27FC236}">
                <a16:creationId xmlns:a16="http://schemas.microsoft.com/office/drawing/2014/main" id="{F1A79BBB-FE9D-3E7C-30B8-76E550C6478D}"/>
              </a:ext>
            </a:extLst>
          </p:cNvPr>
          <p:cNvPicPr>
            <a:picLocks noChangeAspect="1"/>
          </p:cNvPicPr>
          <p:nvPr/>
        </p:nvPicPr>
        <p:blipFill>
          <a:blip r:embed="rId2"/>
          <a:stretch>
            <a:fillRect/>
          </a:stretch>
        </p:blipFill>
        <p:spPr>
          <a:xfrm>
            <a:off x="696686" y="1502228"/>
            <a:ext cx="11168743" cy="3559629"/>
          </a:xfrm>
          <a:prstGeom prst="rect">
            <a:avLst/>
          </a:prstGeom>
        </p:spPr>
      </p:pic>
    </p:spTree>
    <p:extLst>
      <p:ext uri="{BB962C8B-B14F-4D97-AF65-F5344CB8AC3E}">
        <p14:creationId xmlns:p14="http://schemas.microsoft.com/office/powerpoint/2010/main" val="2392658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CE8BE-9AC6-617B-1BFC-469F8925F05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6CA4C7F-5A0F-A8BC-5AD4-E9AF0DE584FB}"/>
              </a:ext>
            </a:extLst>
          </p:cNvPr>
          <p:cNvSpPr txBox="1"/>
          <p:nvPr/>
        </p:nvSpPr>
        <p:spPr>
          <a:xfrm>
            <a:off x="849087" y="98362"/>
            <a:ext cx="10504714" cy="646331"/>
          </a:xfrm>
          <a:prstGeom prst="rect">
            <a:avLst/>
          </a:prstGeom>
          <a:noFill/>
        </p:spPr>
        <p:txBody>
          <a:bodyPr wrap="square">
            <a:spAutoFit/>
          </a:bodyPr>
          <a:lstStyle/>
          <a:p>
            <a:r>
              <a:rPr lang="en-US" sz="3600" dirty="0"/>
              <a:t>What is </a:t>
            </a:r>
            <a:r>
              <a:rPr lang="en-US" sz="3600" b="1" dirty="0"/>
              <a:t>Empirical Risk Minimization (ERM)</a:t>
            </a:r>
            <a:r>
              <a:rPr lang="en-US" sz="3600" dirty="0"/>
              <a:t>?</a:t>
            </a:r>
            <a:endParaRPr lang="en-IN" sz="3600" dirty="0"/>
          </a:p>
        </p:txBody>
      </p:sp>
      <p:pic>
        <p:nvPicPr>
          <p:cNvPr id="3" name="Picture 2">
            <a:extLst>
              <a:ext uri="{FF2B5EF4-FFF2-40B4-BE49-F238E27FC236}">
                <a16:creationId xmlns:a16="http://schemas.microsoft.com/office/drawing/2014/main" id="{A4887DF8-5711-17E9-542D-026F2D3C4185}"/>
              </a:ext>
            </a:extLst>
          </p:cNvPr>
          <p:cNvPicPr>
            <a:picLocks noChangeAspect="1"/>
          </p:cNvPicPr>
          <p:nvPr/>
        </p:nvPicPr>
        <p:blipFill>
          <a:blip r:embed="rId2"/>
          <a:stretch>
            <a:fillRect/>
          </a:stretch>
        </p:blipFill>
        <p:spPr>
          <a:xfrm>
            <a:off x="854915" y="1076324"/>
            <a:ext cx="10063456" cy="4954361"/>
          </a:xfrm>
          <a:prstGeom prst="rect">
            <a:avLst/>
          </a:prstGeom>
        </p:spPr>
      </p:pic>
    </p:spTree>
    <p:extLst>
      <p:ext uri="{BB962C8B-B14F-4D97-AF65-F5344CB8AC3E}">
        <p14:creationId xmlns:p14="http://schemas.microsoft.com/office/powerpoint/2010/main" val="47202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CAF44-B1F8-2440-42D9-31C6311AEA5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CA38498-178F-BEE8-08CE-C9DA392B5CB0}"/>
              </a:ext>
            </a:extLst>
          </p:cNvPr>
          <p:cNvSpPr txBox="1"/>
          <p:nvPr/>
        </p:nvSpPr>
        <p:spPr>
          <a:xfrm>
            <a:off x="1589314" y="522904"/>
            <a:ext cx="8904515" cy="646331"/>
          </a:xfrm>
          <a:prstGeom prst="rect">
            <a:avLst/>
          </a:prstGeom>
          <a:noFill/>
        </p:spPr>
        <p:txBody>
          <a:bodyPr wrap="square">
            <a:spAutoFit/>
          </a:bodyPr>
          <a:lstStyle/>
          <a:p>
            <a:r>
              <a:rPr lang="en-US" sz="3600" b="1" dirty="0"/>
              <a:t>What is Empirical Risk Minimization (ERM)</a:t>
            </a:r>
            <a:r>
              <a:rPr lang="en-US" sz="3600" dirty="0"/>
              <a:t>?</a:t>
            </a:r>
            <a:endParaRPr lang="en-IN" sz="3600" dirty="0"/>
          </a:p>
        </p:txBody>
      </p:sp>
      <p:pic>
        <p:nvPicPr>
          <p:cNvPr id="3" name="Picture 2">
            <a:extLst>
              <a:ext uri="{FF2B5EF4-FFF2-40B4-BE49-F238E27FC236}">
                <a16:creationId xmlns:a16="http://schemas.microsoft.com/office/drawing/2014/main" id="{33440867-E1C0-15E5-266B-7BCE22184E11}"/>
              </a:ext>
            </a:extLst>
          </p:cNvPr>
          <p:cNvPicPr>
            <a:picLocks noChangeAspect="1"/>
          </p:cNvPicPr>
          <p:nvPr/>
        </p:nvPicPr>
        <p:blipFill>
          <a:blip r:embed="rId2"/>
          <a:stretch>
            <a:fillRect/>
          </a:stretch>
        </p:blipFill>
        <p:spPr>
          <a:xfrm>
            <a:off x="480605" y="1363437"/>
            <a:ext cx="11408228" cy="5208216"/>
          </a:xfrm>
          <a:prstGeom prst="rect">
            <a:avLst/>
          </a:prstGeom>
        </p:spPr>
      </p:pic>
    </p:spTree>
    <p:extLst>
      <p:ext uri="{BB962C8B-B14F-4D97-AF65-F5344CB8AC3E}">
        <p14:creationId xmlns:p14="http://schemas.microsoft.com/office/powerpoint/2010/main" val="8113124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3EB1-8116-00C3-E64F-10B1DB1BCE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AF02CAE-B23B-AA6B-8B4F-B295F0906E81}"/>
              </a:ext>
            </a:extLst>
          </p:cNvPr>
          <p:cNvPicPr>
            <a:picLocks noChangeAspect="1"/>
          </p:cNvPicPr>
          <p:nvPr/>
        </p:nvPicPr>
        <p:blipFill>
          <a:blip r:embed="rId2"/>
          <a:stretch>
            <a:fillRect/>
          </a:stretch>
        </p:blipFill>
        <p:spPr>
          <a:xfrm>
            <a:off x="2080260" y="363805"/>
            <a:ext cx="8206740" cy="6299755"/>
          </a:xfrm>
          <a:prstGeom prst="rect">
            <a:avLst/>
          </a:prstGeom>
        </p:spPr>
      </p:pic>
    </p:spTree>
    <p:extLst>
      <p:ext uri="{BB962C8B-B14F-4D97-AF65-F5344CB8AC3E}">
        <p14:creationId xmlns:p14="http://schemas.microsoft.com/office/powerpoint/2010/main" val="3568670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8210D-5351-AAC3-59B9-B30A520826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D3832E-6F7C-2E0F-A19B-2F9FA20BDEEB}"/>
              </a:ext>
            </a:extLst>
          </p:cNvPr>
          <p:cNvSpPr txBox="1"/>
          <p:nvPr/>
        </p:nvSpPr>
        <p:spPr>
          <a:xfrm>
            <a:off x="97971" y="195943"/>
            <a:ext cx="11680372" cy="4401205"/>
          </a:xfrm>
          <a:prstGeom prst="rect">
            <a:avLst/>
          </a:prstGeom>
          <a:noFill/>
        </p:spPr>
        <p:txBody>
          <a:bodyPr wrap="square">
            <a:spAutoFit/>
          </a:bodyPr>
          <a:lstStyle/>
          <a:p>
            <a:pPr algn="ctr">
              <a:buNone/>
            </a:pPr>
            <a:r>
              <a:rPr lang="en-US" sz="4500" b="1" dirty="0">
                <a:highlight>
                  <a:srgbClr val="FFFF00"/>
                </a:highlight>
              </a:rPr>
              <a:t>What is the role of optimization in ERM here…..(Optimization techniques in ML</a:t>
            </a:r>
            <a:r>
              <a:rPr lang="en-US" sz="5500" b="1" dirty="0"/>
              <a:t>???</a:t>
            </a:r>
          </a:p>
          <a:p>
            <a:pPr algn="ctr"/>
            <a:br>
              <a:rPr lang="en-US" sz="3600" dirty="0"/>
            </a:br>
            <a:r>
              <a:rPr lang="en-US" sz="3600" dirty="0"/>
              <a:t> </a:t>
            </a:r>
            <a:r>
              <a:rPr lang="en-US" sz="3600" dirty="0">
                <a:highlight>
                  <a:srgbClr val="00FF00"/>
                </a:highlight>
              </a:rPr>
              <a:t>ERM defines a </a:t>
            </a:r>
            <a:r>
              <a:rPr lang="en-US" sz="3600" b="1" dirty="0">
                <a:highlight>
                  <a:srgbClr val="00FF00"/>
                </a:highlight>
              </a:rPr>
              <a:t>cost function</a:t>
            </a:r>
            <a:r>
              <a:rPr lang="en-US" sz="3600" dirty="0">
                <a:highlight>
                  <a:srgbClr val="00FF00"/>
                </a:highlight>
              </a:rPr>
              <a:t>.</a:t>
            </a:r>
            <a:br>
              <a:rPr lang="en-US" sz="3600" dirty="0">
                <a:highlight>
                  <a:srgbClr val="00FF00"/>
                </a:highlight>
              </a:rPr>
            </a:br>
            <a:r>
              <a:rPr lang="en-US" sz="3600" dirty="0">
                <a:highlight>
                  <a:srgbClr val="00FF00"/>
                </a:highlight>
              </a:rPr>
              <a:t>We then use </a:t>
            </a:r>
            <a:r>
              <a:rPr lang="en-US" sz="3600" b="1" dirty="0">
                <a:highlight>
                  <a:srgbClr val="00FF00"/>
                </a:highlight>
              </a:rPr>
              <a:t>optimization techniques</a:t>
            </a:r>
            <a:r>
              <a:rPr lang="en-US" sz="3600" dirty="0">
                <a:highlight>
                  <a:srgbClr val="00FF00"/>
                </a:highlight>
              </a:rPr>
              <a:t> </a:t>
            </a:r>
          </a:p>
          <a:p>
            <a:pPr algn="ctr"/>
            <a:r>
              <a:rPr lang="en-US" sz="3600" dirty="0">
                <a:highlight>
                  <a:srgbClr val="00FF00"/>
                </a:highlight>
              </a:rPr>
              <a:t>(e.g., gradient descent, stochastic gradient descent) to find the best model parameters θ</a:t>
            </a:r>
            <a:r>
              <a:rPr lang="en-US" sz="3600" dirty="0"/>
              <a:t>∗</a:t>
            </a:r>
          </a:p>
        </p:txBody>
      </p:sp>
      <p:sp>
        <p:nvSpPr>
          <p:cNvPr id="5" name="TextBox 4">
            <a:extLst>
              <a:ext uri="{FF2B5EF4-FFF2-40B4-BE49-F238E27FC236}">
                <a16:creationId xmlns:a16="http://schemas.microsoft.com/office/drawing/2014/main" id="{23D65D76-548B-8A16-C6DA-DFC81E2D946C}"/>
              </a:ext>
            </a:extLst>
          </p:cNvPr>
          <p:cNvSpPr txBox="1"/>
          <p:nvPr/>
        </p:nvSpPr>
        <p:spPr>
          <a:xfrm>
            <a:off x="827313" y="4343789"/>
            <a:ext cx="10972800" cy="707886"/>
          </a:xfrm>
          <a:prstGeom prst="rect">
            <a:avLst/>
          </a:prstGeom>
          <a:noFill/>
        </p:spPr>
        <p:txBody>
          <a:bodyPr wrap="square">
            <a:spAutoFit/>
          </a:bodyPr>
          <a:lstStyle/>
          <a:p>
            <a:r>
              <a:rPr lang="en-US" sz="4000" dirty="0"/>
              <a:t>ERM Example: Linear Regression with 2 Data Points</a:t>
            </a:r>
            <a:endParaRPr lang="en-IN" sz="4000" dirty="0"/>
          </a:p>
        </p:txBody>
      </p:sp>
      <p:sp>
        <p:nvSpPr>
          <p:cNvPr id="2" name="Arrow: Down 1">
            <a:extLst>
              <a:ext uri="{FF2B5EF4-FFF2-40B4-BE49-F238E27FC236}">
                <a16:creationId xmlns:a16="http://schemas.microsoft.com/office/drawing/2014/main" id="{2582948D-CEE3-9A8A-766B-C37BDD8AA44B}"/>
              </a:ext>
            </a:extLst>
          </p:cNvPr>
          <p:cNvSpPr/>
          <p:nvPr/>
        </p:nvSpPr>
        <p:spPr>
          <a:xfrm>
            <a:off x="5148943" y="5366657"/>
            <a:ext cx="1012371" cy="10559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78859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91AA-0747-17DB-B8F0-0525C8E8EF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84B04A-27F3-5ED9-59E9-5EB0BFA88401}"/>
              </a:ext>
            </a:extLst>
          </p:cNvPr>
          <p:cNvPicPr>
            <a:picLocks noChangeAspect="1"/>
          </p:cNvPicPr>
          <p:nvPr/>
        </p:nvPicPr>
        <p:blipFill>
          <a:blip r:embed="rId2"/>
          <a:stretch>
            <a:fillRect/>
          </a:stretch>
        </p:blipFill>
        <p:spPr>
          <a:xfrm>
            <a:off x="664029" y="228600"/>
            <a:ext cx="10863942" cy="6237514"/>
          </a:xfrm>
          <a:prstGeom prst="rect">
            <a:avLst/>
          </a:prstGeom>
        </p:spPr>
      </p:pic>
    </p:spTree>
    <p:extLst>
      <p:ext uri="{BB962C8B-B14F-4D97-AF65-F5344CB8AC3E}">
        <p14:creationId xmlns:p14="http://schemas.microsoft.com/office/powerpoint/2010/main" val="13229149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1E75-F7FF-58A9-974C-023315D717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A5F828-691E-585D-AEA8-499BF9237114}"/>
              </a:ext>
            </a:extLst>
          </p:cNvPr>
          <p:cNvPicPr>
            <a:picLocks noChangeAspect="1"/>
          </p:cNvPicPr>
          <p:nvPr/>
        </p:nvPicPr>
        <p:blipFill>
          <a:blip r:embed="rId2"/>
          <a:stretch>
            <a:fillRect/>
          </a:stretch>
        </p:blipFill>
        <p:spPr>
          <a:xfrm>
            <a:off x="1545771" y="1169534"/>
            <a:ext cx="9492343" cy="4970009"/>
          </a:xfrm>
          <a:prstGeom prst="rect">
            <a:avLst/>
          </a:prstGeom>
        </p:spPr>
      </p:pic>
      <p:sp>
        <p:nvSpPr>
          <p:cNvPr id="6" name="TextBox 5">
            <a:extLst>
              <a:ext uri="{FF2B5EF4-FFF2-40B4-BE49-F238E27FC236}">
                <a16:creationId xmlns:a16="http://schemas.microsoft.com/office/drawing/2014/main" id="{AF9ABD3E-8249-81EA-F6C8-313343FCCC60}"/>
              </a:ext>
            </a:extLst>
          </p:cNvPr>
          <p:cNvSpPr txBox="1"/>
          <p:nvPr/>
        </p:nvSpPr>
        <p:spPr>
          <a:xfrm>
            <a:off x="1643743" y="381392"/>
            <a:ext cx="9808028" cy="461665"/>
          </a:xfrm>
          <a:prstGeom prst="rect">
            <a:avLst/>
          </a:prstGeom>
          <a:noFill/>
        </p:spPr>
        <p:txBody>
          <a:bodyPr wrap="square">
            <a:spAutoFit/>
          </a:bodyPr>
          <a:lstStyle/>
          <a:p>
            <a:r>
              <a:rPr lang="en-US" sz="2400" b="1" dirty="0">
                <a:latin typeface="Arial Black" panose="020B0A04020102020204" pitchFamily="34" charset="0"/>
                <a:ea typeface="Tahoma" panose="020B0604030504040204" pitchFamily="34" charset="0"/>
                <a:cs typeface="Tahoma" panose="020B0604030504040204" pitchFamily="34" charset="0"/>
              </a:rPr>
              <a:t>Step 1: Define the Empirical Risk (Cost Function)</a:t>
            </a:r>
            <a:endParaRPr lang="en-IN" sz="2400" b="1" dirty="0">
              <a:latin typeface="Arial Black" panose="020B0A0402010202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711378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F0C74-3FF6-7EDC-9909-15166B9DD7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45D497-AA42-E741-2435-F27C4CAA8F1E}"/>
              </a:ext>
            </a:extLst>
          </p:cNvPr>
          <p:cNvPicPr>
            <a:picLocks noChangeAspect="1"/>
          </p:cNvPicPr>
          <p:nvPr/>
        </p:nvPicPr>
        <p:blipFill>
          <a:blip r:embed="rId2"/>
          <a:stretch>
            <a:fillRect/>
          </a:stretch>
        </p:blipFill>
        <p:spPr>
          <a:xfrm>
            <a:off x="859971" y="495300"/>
            <a:ext cx="10482943" cy="5985494"/>
          </a:xfrm>
          <a:prstGeom prst="rect">
            <a:avLst/>
          </a:prstGeom>
        </p:spPr>
      </p:pic>
    </p:spTree>
    <p:extLst>
      <p:ext uri="{BB962C8B-B14F-4D97-AF65-F5344CB8AC3E}">
        <p14:creationId xmlns:p14="http://schemas.microsoft.com/office/powerpoint/2010/main" val="34380836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F2030-4295-03AA-B914-9AB999C908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81D5972-935D-27A1-F78C-58075C6E0656}"/>
              </a:ext>
            </a:extLst>
          </p:cNvPr>
          <p:cNvPicPr>
            <a:picLocks noChangeAspect="1"/>
          </p:cNvPicPr>
          <p:nvPr/>
        </p:nvPicPr>
        <p:blipFill>
          <a:blip r:embed="rId2"/>
          <a:stretch>
            <a:fillRect/>
          </a:stretch>
        </p:blipFill>
        <p:spPr>
          <a:xfrm>
            <a:off x="1240970" y="201701"/>
            <a:ext cx="10411909" cy="6253528"/>
          </a:xfrm>
          <a:prstGeom prst="rect">
            <a:avLst/>
          </a:prstGeom>
        </p:spPr>
      </p:pic>
    </p:spTree>
    <p:extLst>
      <p:ext uri="{BB962C8B-B14F-4D97-AF65-F5344CB8AC3E}">
        <p14:creationId xmlns:p14="http://schemas.microsoft.com/office/powerpoint/2010/main" val="14430416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ABF8-8B97-8876-132A-B970E0689F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3837920-B5E0-F2AF-2502-F887CC60689B}"/>
              </a:ext>
            </a:extLst>
          </p:cNvPr>
          <p:cNvPicPr>
            <a:picLocks noChangeAspect="1"/>
          </p:cNvPicPr>
          <p:nvPr/>
        </p:nvPicPr>
        <p:blipFill>
          <a:blip r:embed="rId2"/>
          <a:stretch>
            <a:fillRect/>
          </a:stretch>
        </p:blipFill>
        <p:spPr>
          <a:xfrm>
            <a:off x="1193569" y="707571"/>
            <a:ext cx="9765642" cy="5421085"/>
          </a:xfrm>
          <a:prstGeom prst="rect">
            <a:avLst/>
          </a:prstGeom>
        </p:spPr>
      </p:pic>
    </p:spTree>
    <p:extLst>
      <p:ext uri="{BB962C8B-B14F-4D97-AF65-F5344CB8AC3E}">
        <p14:creationId xmlns:p14="http://schemas.microsoft.com/office/powerpoint/2010/main" val="14827524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E195A-40C0-2E75-BF61-0BD34AAB678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FDF405-C143-D90F-3E8D-1022A334F33C}"/>
              </a:ext>
            </a:extLst>
          </p:cNvPr>
          <p:cNvPicPr>
            <a:picLocks noChangeAspect="1"/>
          </p:cNvPicPr>
          <p:nvPr/>
        </p:nvPicPr>
        <p:blipFill>
          <a:blip r:embed="rId2"/>
          <a:stretch>
            <a:fillRect/>
          </a:stretch>
        </p:blipFill>
        <p:spPr>
          <a:xfrm>
            <a:off x="388620" y="478971"/>
            <a:ext cx="11144250" cy="6020925"/>
          </a:xfrm>
          <a:prstGeom prst="rect">
            <a:avLst/>
          </a:prstGeom>
        </p:spPr>
      </p:pic>
    </p:spTree>
    <p:extLst>
      <p:ext uri="{BB962C8B-B14F-4D97-AF65-F5344CB8AC3E}">
        <p14:creationId xmlns:p14="http://schemas.microsoft.com/office/powerpoint/2010/main" val="2053781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EA63F-5412-BB91-2304-69D64181DC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B9AF3B-9C3B-4ACE-6B79-AB9456C2FFD0}"/>
              </a:ext>
            </a:extLst>
          </p:cNvPr>
          <p:cNvSpPr txBox="1"/>
          <p:nvPr/>
        </p:nvSpPr>
        <p:spPr>
          <a:xfrm>
            <a:off x="424542" y="947058"/>
            <a:ext cx="11310258" cy="4801314"/>
          </a:xfrm>
          <a:prstGeom prst="rect">
            <a:avLst/>
          </a:prstGeom>
          <a:noFill/>
        </p:spPr>
        <p:txBody>
          <a:bodyPr wrap="square">
            <a:spAutoFit/>
          </a:bodyPr>
          <a:lstStyle/>
          <a:p>
            <a:pPr>
              <a:buNone/>
            </a:pPr>
            <a:r>
              <a:rPr lang="en-US" sz="3400" b="1" dirty="0"/>
              <a:t>Conclusion on ERM :</a:t>
            </a:r>
          </a:p>
          <a:p>
            <a:pPr>
              <a:buFont typeface="Arial" panose="020B0604020202020204" pitchFamily="34" charset="0"/>
              <a:buChar char="•"/>
            </a:pPr>
            <a:r>
              <a:rPr lang="en-US" sz="3400" b="1" dirty="0"/>
              <a:t>ERM minimizes training error</a:t>
            </a:r>
            <a:r>
              <a:rPr lang="en-US" sz="3400" dirty="0"/>
              <a:t> only.</a:t>
            </a:r>
          </a:p>
          <a:p>
            <a:pPr>
              <a:buFont typeface="Arial" panose="020B0604020202020204" pitchFamily="34" charset="0"/>
              <a:buChar char="•"/>
            </a:pPr>
            <a:r>
              <a:rPr lang="en-US" sz="3400" b="1" dirty="0"/>
              <a:t>True error is what we actually care about</a:t>
            </a:r>
            <a:r>
              <a:rPr lang="en-US" sz="3400" dirty="0"/>
              <a:t> in real-world prediction settings.</a:t>
            </a:r>
          </a:p>
          <a:p>
            <a:pPr>
              <a:buFont typeface="Arial" panose="020B0604020202020204" pitchFamily="34" charset="0"/>
              <a:buChar char="•"/>
            </a:pPr>
            <a:r>
              <a:rPr lang="en-US" sz="3400" dirty="0"/>
              <a:t>A model with </a:t>
            </a:r>
            <a:r>
              <a:rPr lang="en-US" sz="3400" b="1" dirty="0">
                <a:highlight>
                  <a:srgbClr val="00FFFF"/>
                </a:highlight>
              </a:rPr>
              <a:t>low empirical risk</a:t>
            </a:r>
            <a:r>
              <a:rPr lang="en-US" sz="3400" dirty="0">
                <a:highlight>
                  <a:srgbClr val="00FFFF"/>
                </a:highlight>
              </a:rPr>
              <a:t> </a:t>
            </a:r>
            <a:r>
              <a:rPr lang="en-US" sz="3400" dirty="0"/>
              <a:t>does </a:t>
            </a:r>
            <a:r>
              <a:rPr lang="en-US" sz="3400" b="1" dirty="0"/>
              <a:t>not guarantee</a:t>
            </a:r>
            <a:r>
              <a:rPr lang="en-US" sz="3400" dirty="0"/>
              <a:t> low true risk unless it generalizes well.</a:t>
            </a:r>
          </a:p>
          <a:p>
            <a:pPr>
              <a:buFont typeface="Arial" panose="020B0604020202020204" pitchFamily="34" charset="0"/>
              <a:buChar char="•"/>
            </a:pPr>
            <a:r>
              <a:rPr lang="en-US" sz="3400" dirty="0"/>
              <a:t>Optimization in ML (e.g., minimizing ERM) should always be coupled with evaluation techniques (test set, cross-validation) to estimate true error.</a:t>
            </a:r>
          </a:p>
        </p:txBody>
      </p:sp>
    </p:spTree>
    <p:extLst>
      <p:ext uri="{BB962C8B-B14F-4D97-AF65-F5344CB8AC3E}">
        <p14:creationId xmlns:p14="http://schemas.microsoft.com/office/powerpoint/2010/main" val="28418680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Generated image">
            <a:extLst>
              <a:ext uri="{FF2B5EF4-FFF2-40B4-BE49-F238E27FC236}">
                <a16:creationId xmlns:a16="http://schemas.microsoft.com/office/drawing/2014/main" id="{AF2F623D-2119-0296-701E-1F70CE6854A9}"/>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057400" y="91440"/>
            <a:ext cx="7738110" cy="6352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9933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5C470-6435-797D-7A15-510BA4FD49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E13C32-ADCA-10E4-043B-334306A24D23}"/>
              </a:ext>
            </a:extLst>
          </p:cNvPr>
          <p:cNvPicPr>
            <a:picLocks noChangeAspect="1"/>
          </p:cNvPicPr>
          <p:nvPr/>
        </p:nvPicPr>
        <p:blipFill>
          <a:blip r:embed="rId2"/>
          <a:stretch>
            <a:fillRect/>
          </a:stretch>
        </p:blipFill>
        <p:spPr>
          <a:xfrm>
            <a:off x="1382486" y="307618"/>
            <a:ext cx="9677399" cy="2530151"/>
          </a:xfrm>
          <a:prstGeom prst="rect">
            <a:avLst/>
          </a:prstGeom>
        </p:spPr>
      </p:pic>
      <p:pic>
        <p:nvPicPr>
          <p:cNvPr id="5" name="Picture 4">
            <a:extLst>
              <a:ext uri="{FF2B5EF4-FFF2-40B4-BE49-F238E27FC236}">
                <a16:creationId xmlns:a16="http://schemas.microsoft.com/office/drawing/2014/main" id="{D53FB993-2588-03F7-1213-BB2647B54129}"/>
              </a:ext>
            </a:extLst>
          </p:cNvPr>
          <p:cNvPicPr>
            <a:picLocks noChangeAspect="1"/>
          </p:cNvPicPr>
          <p:nvPr/>
        </p:nvPicPr>
        <p:blipFill>
          <a:blip r:embed="rId3"/>
          <a:stretch>
            <a:fillRect/>
          </a:stretch>
        </p:blipFill>
        <p:spPr>
          <a:xfrm>
            <a:off x="1197429" y="2743200"/>
            <a:ext cx="10308771" cy="3233057"/>
          </a:xfrm>
          <a:prstGeom prst="rect">
            <a:avLst/>
          </a:prstGeom>
        </p:spPr>
      </p:pic>
    </p:spTree>
    <p:extLst>
      <p:ext uri="{BB962C8B-B14F-4D97-AF65-F5344CB8AC3E}">
        <p14:creationId xmlns:p14="http://schemas.microsoft.com/office/powerpoint/2010/main" val="36257278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17BE9-F8D3-D2F8-88F8-44B4BEF38E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1AF69B-8A4D-423B-9282-63102DA6648C}"/>
              </a:ext>
            </a:extLst>
          </p:cNvPr>
          <p:cNvPicPr>
            <a:picLocks noChangeAspect="1"/>
          </p:cNvPicPr>
          <p:nvPr/>
        </p:nvPicPr>
        <p:blipFill>
          <a:blip r:embed="rId2"/>
          <a:stretch>
            <a:fillRect/>
          </a:stretch>
        </p:blipFill>
        <p:spPr>
          <a:xfrm>
            <a:off x="823912" y="195943"/>
            <a:ext cx="10486345" cy="2850696"/>
          </a:xfrm>
          <a:prstGeom prst="rect">
            <a:avLst/>
          </a:prstGeom>
        </p:spPr>
      </p:pic>
      <p:pic>
        <p:nvPicPr>
          <p:cNvPr id="5" name="Picture 4">
            <a:extLst>
              <a:ext uri="{FF2B5EF4-FFF2-40B4-BE49-F238E27FC236}">
                <a16:creationId xmlns:a16="http://schemas.microsoft.com/office/drawing/2014/main" id="{B6DB44FE-7AAA-38D0-BB0A-1E760167A4CE}"/>
              </a:ext>
            </a:extLst>
          </p:cNvPr>
          <p:cNvPicPr>
            <a:picLocks noChangeAspect="1"/>
          </p:cNvPicPr>
          <p:nvPr/>
        </p:nvPicPr>
        <p:blipFill>
          <a:blip r:embed="rId3"/>
          <a:stretch>
            <a:fillRect/>
          </a:stretch>
        </p:blipFill>
        <p:spPr>
          <a:xfrm>
            <a:off x="1034145" y="3439886"/>
            <a:ext cx="10069284" cy="2732314"/>
          </a:xfrm>
          <a:prstGeom prst="rect">
            <a:avLst/>
          </a:prstGeom>
        </p:spPr>
      </p:pic>
    </p:spTree>
    <p:extLst>
      <p:ext uri="{BB962C8B-B14F-4D97-AF65-F5344CB8AC3E}">
        <p14:creationId xmlns:p14="http://schemas.microsoft.com/office/powerpoint/2010/main" val="3134127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5F266-D440-7021-857B-A15B85BB33C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A674E7-3650-176A-8C70-0D2BAD073D95}"/>
              </a:ext>
            </a:extLst>
          </p:cNvPr>
          <p:cNvPicPr>
            <a:picLocks noChangeAspect="1"/>
          </p:cNvPicPr>
          <p:nvPr/>
        </p:nvPicPr>
        <p:blipFill>
          <a:blip r:embed="rId2"/>
          <a:stretch>
            <a:fillRect/>
          </a:stretch>
        </p:blipFill>
        <p:spPr>
          <a:xfrm>
            <a:off x="1164772" y="772886"/>
            <a:ext cx="9405257" cy="4082824"/>
          </a:xfrm>
          <a:prstGeom prst="rect">
            <a:avLst/>
          </a:prstGeom>
        </p:spPr>
      </p:pic>
    </p:spTree>
    <p:extLst>
      <p:ext uri="{BB962C8B-B14F-4D97-AF65-F5344CB8AC3E}">
        <p14:creationId xmlns:p14="http://schemas.microsoft.com/office/powerpoint/2010/main" val="23040632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C0E5-6582-4088-D788-02DABE6B9ED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D255E61-6F54-460E-8E0D-8C5F6C0697BC}"/>
              </a:ext>
            </a:extLst>
          </p:cNvPr>
          <p:cNvPicPr>
            <a:picLocks noChangeAspect="1"/>
          </p:cNvPicPr>
          <p:nvPr/>
        </p:nvPicPr>
        <p:blipFill>
          <a:blip r:embed="rId2"/>
          <a:stretch>
            <a:fillRect/>
          </a:stretch>
        </p:blipFill>
        <p:spPr>
          <a:xfrm>
            <a:off x="1035522" y="478971"/>
            <a:ext cx="9186163" cy="4855242"/>
          </a:xfrm>
          <a:prstGeom prst="rect">
            <a:avLst/>
          </a:prstGeom>
        </p:spPr>
      </p:pic>
    </p:spTree>
    <p:extLst>
      <p:ext uri="{BB962C8B-B14F-4D97-AF65-F5344CB8AC3E}">
        <p14:creationId xmlns:p14="http://schemas.microsoft.com/office/powerpoint/2010/main" val="25966510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1350-C6EE-63EB-69BC-A64913E151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567474-7DE8-4105-82D7-82FDBBFAFB39}"/>
              </a:ext>
            </a:extLst>
          </p:cNvPr>
          <p:cNvPicPr>
            <a:picLocks noChangeAspect="1"/>
          </p:cNvPicPr>
          <p:nvPr/>
        </p:nvPicPr>
        <p:blipFill>
          <a:blip r:embed="rId2"/>
          <a:stretch>
            <a:fillRect/>
          </a:stretch>
        </p:blipFill>
        <p:spPr>
          <a:xfrm>
            <a:off x="1072497" y="424542"/>
            <a:ext cx="9259458" cy="4909457"/>
          </a:xfrm>
          <a:prstGeom prst="rect">
            <a:avLst/>
          </a:prstGeom>
        </p:spPr>
      </p:pic>
    </p:spTree>
    <p:extLst>
      <p:ext uri="{BB962C8B-B14F-4D97-AF65-F5344CB8AC3E}">
        <p14:creationId xmlns:p14="http://schemas.microsoft.com/office/powerpoint/2010/main" val="30830463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1D33-FD14-B87E-876E-866E396AC6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FE95B8-259F-651F-9B63-CE3C440F7A40}"/>
              </a:ext>
            </a:extLst>
          </p:cNvPr>
          <p:cNvSpPr txBox="1"/>
          <p:nvPr/>
        </p:nvSpPr>
        <p:spPr>
          <a:xfrm>
            <a:off x="2057400" y="2144486"/>
            <a:ext cx="7032171" cy="830997"/>
          </a:xfrm>
          <a:prstGeom prst="rect">
            <a:avLst/>
          </a:prstGeom>
          <a:noFill/>
        </p:spPr>
        <p:txBody>
          <a:bodyPr wrap="square" rtlCol="0">
            <a:spAutoFit/>
          </a:bodyPr>
          <a:lstStyle/>
          <a:p>
            <a:r>
              <a:rPr lang="en-IN" sz="4800" b="1" dirty="0">
                <a:latin typeface="Arial Black" panose="020B0A04020102020204" pitchFamily="34" charset="0"/>
              </a:rPr>
              <a:t>EXERCISE ON ERM </a:t>
            </a:r>
          </a:p>
        </p:txBody>
      </p:sp>
    </p:spTree>
    <p:extLst>
      <p:ext uri="{BB962C8B-B14F-4D97-AF65-F5344CB8AC3E}">
        <p14:creationId xmlns:p14="http://schemas.microsoft.com/office/powerpoint/2010/main" val="23485878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ECE4F-D5E8-923F-D491-91AA44896C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079FBE-2CDA-E766-420B-D2CD434194A6}"/>
              </a:ext>
            </a:extLst>
          </p:cNvPr>
          <p:cNvPicPr>
            <a:picLocks noChangeAspect="1"/>
          </p:cNvPicPr>
          <p:nvPr/>
        </p:nvPicPr>
        <p:blipFill>
          <a:blip r:embed="rId2"/>
          <a:stretch>
            <a:fillRect/>
          </a:stretch>
        </p:blipFill>
        <p:spPr>
          <a:xfrm>
            <a:off x="2471737" y="1281112"/>
            <a:ext cx="7248525" cy="4295775"/>
          </a:xfrm>
          <a:prstGeom prst="rect">
            <a:avLst/>
          </a:prstGeom>
        </p:spPr>
      </p:pic>
      <p:sp>
        <p:nvSpPr>
          <p:cNvPr id="4" name="TextBox 3">
            <a:extLst>
              <a:ext uri="{FF2B5EF4-FFF2-40B4-BE49-F238E27FC236}">
                <a16:creationId xmlns:a16="http://schemas.microsoft.com/office/drawing/2014/main" id="{8EC1E375-D6B9-5655-23F9-FE39F614A7B2}"/>
              </a:ext>
            </a:extLst>
          </p:cNvPr>
          <p:cNvSpPr txBox="1"/>
          <p:nvPr/>
        </p:nvSpPr>
        <p:spPr>
          <a:xfrm>
            <a:off x="2950029" y="391886"/>
            <a:ext cx="6847580" cy="461665"/>
          </a:xfrm>
          <a:prstGeom prst="rect">
            <a:avLst/>
          </a:prstGeom>
          <a:noFill/>
        </p:spPr>
        <p:txBody>
          <a:bodyPr wrap="none" rtlCol="0">
            <a:spAutoFit/>
          </a:bodyPr>
          <a:lstStyle/>
          <a:p>
            <a:r>
              <a:rPr lang="en-IN" sz="2400" b="1" dirty="0"/>
              <a:t>Exercise - self solve using all steps 1-  step 7  by own </a:t>
            </a:r>
          </a:p>
        </p:txBody>
      </p:sp>
    </p:spTree>
    <p:extLst>
      <p:ext uri="{BB962C8B-B14F-4D97-AF65-F5344CB8AC3E}">
        <p14:creationId xmlns:p14="http://schemas.microsoft.com/office/powerpoint/2010/main" val="20126709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608E2-F811-7F81-C6C4-A88BFD20D95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218A021-46FF-9EF8-D542-20B81DDD7605}"/>
              </a:ext>
            </a:extLst>
          </p:cNvPr>
          <p:cNvPicPr>
            <a:picLocks noChangeAspect="1"/>
          </p:cNvPicPr>
          <p:nvPr/>
        </p:nvPicPr>
        <p:blipFill>
          <a:blip r:embed="rId2"/>
          <a:stretch>
            <a:fillRect/>
          </a:stretch>
        </p:blipFill>
        <p:spPr>
          <a:xfrm>
            <a:off x="568641" y="651510"/>
            <a:ext cx="11146659" cy="5304473"/>
          </a:xfrm>
          <a:prstGeom prst="rect">
            <a:avLst/>
          </a:prstGeom>
        </p:spPr>
      </p:pic>
    </p:spTree>
    <p:extLst>
      <p:ext uri="{BB962C8B-B14F-4D97-AF65-F5344CB8AC3E}">
        <p14:creationId xmlns:p14="http://schemas.microsoft.com/office/powerpoint/2010/main" val="31707100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E5A4A-DA7E-D8CE-D233-4E3F5EC93F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91F0A1-0D95-5A81-2F32-7E72340655E6}"/>
              </a:ext>
            </a:extLst>
          </p:cNvPr>
          <p:cNvPicPr>
            <a:picLocks noChangeAspect="1"/>
          </p:cNvPicPr>
          <p:nvPr/>
        </p:nvPicPr>
        <p:blipFill>
          <a:blip r:embed="rId2"/>
          <a:stretch>
            <a:fillRect/>
          </a:stretch>
        </p:blipFill>
        <p:spPr>
          <a:xfrm>
            <a:off x="1063942" y="1131570"/>
            <a:ext cx="10110786" cy="4872037"/>
          </a:xfrm>
          <a:prstGeom prst="rect">
            <a:avLst/>
          </a:prstGeom>
        </p:spPr>
      </p:pic>
    </p:spTree>
    <p:extLst>
      <p:ext uri="{BB962C8B-B14F-4D97-AF65-F5344CB8AC3E}">
        <p14:creationId xmlns:p14="http://schemas.microsoft.com/office/powerpoint/2010/main" val="24686844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CBB31-65F6-B30A-A557-C252E69401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D16BA0A-F746-2911-8269-67267C7B85DC}"/>
              </a:ext>
            </a:extLst>
          </p:cNvPr>
          <p:cNvPicPr>
            <a:picLocks noChangeAspect="1"/>
          </p:cNvPicPr>
          <p:nvPr/>
        </p:nvPicPr>
        <p:blipFill>
          <a:blip r:embed="rId2"/>
          <a:stretch>
            <a:fillRect/>
          </a:stretch>
        </p:blipFill>
        <p:spPr>
          <a:xfrm>
            <a:off x="810576" y="205740"/>
            <a:ext cx="10358461" cy="5973127"/>
          </a:xfrm>
          <a:prstGeom prst="rect">
            <a:avLst/>
          </a:prstGeom>
        </p:spPr>
      </p:pic>
    </p:spTree>
    <p:extLst>
      <p:ext uri="{BB962C8B-B14F-4D97-AF65-F5344CB8AC3E}">
        <p14:creationId xmlns:p14="http://schemas.microsoft.com/office/powerpoint/2010/main" val="31313560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49B54-9589-EBBE-4FB3-A060CE4EE83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A2F83E-7D7C-2812-010F-87E198A50C3C}"/>
              </a:ext>
            </a:extLst>
          </p:cNvPr>
          <p:cNvPicPr>
            <a:picLocks noChangeAspect="1"/>
          </p:cNvPicPr>
          <p:nvPr/>
        </p:nvPicPr>
        <p:blipFill>
          <a:blip r:embed="rId2"/>
          <a:stretch>
            <a:fillRect/>
          </a:stretch>
        </p:blipFill>
        <p:spPr>
          <a:xfrm>
            <a:off x="206691" y="594360"/>
            <a:ext cx="11501993" cy="5391150"/>
          </a:xfrm>
          <a:prstGeom prst="rect">
            <a:avLst/>
          </a:prstGeom>
        </p:spPr>
      </p:pic>
    </p:spTree>
    <p:extLst>
      <p:ext uri="{BB962C8B-B14F-4D97-AF65-F5344CB8AC3E}">
        <p14:creationId xmlns:p14="http://schemas.microsoft.com/office/powerpoint/2010/main" val="8610457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5A01A-5084-C6F2-BD96-51DFD3E4F8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F336A9-BAE0-A48D-0116-1F5BE5A781AF}"/>
              </a:ext>
            </a:extLst>
          </p:cNvPr>
          <p:cNvPicPr>
            <a:picLocks noChangeAspect="1"/>
          </p:cNvPicPr>
          <p:nvPr/>
        </p:nvPicPr>
        <p:blipFill>
          <a:blip r:embed="rId2"/>
          <a:stretch>
            <a:fillRect/>
          </a:stretch>
        </p:blipFill>
        <p:spPr>
          <a:xfrm>
            <a:off x="514350" y="238323"/>
            <a:ext cx="9224010" cy="6375174"/>
          </a:xfrm>
          <a:prstGeom prst="rect">
            <a:avLst/>
          </a:prstGeom>
        </p:spPr>
      </p:pic>
    </p:spTree>
    <p:extLst>
      <p:ext uri="{BB962C8B-B14F-4D97-AF65-F5344CB8AC3E}">
        <p14:creationId xmlns:p14="http://schemas.microsoft.com/office/powerpoint/2010/main" val="6157002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1E29F-2D1F-3CB6-A2C5-2C42DA818DEE}"/>
            </a:ext>
          </a:extLst>
        </p:cNvPr>
        <p:cNvGrpSpPr/>
        <p:nvPr/>
      </p:nvGrpSpPr>
      <p:grpSpPr>
        <a:xfrm>
          <a:off x="0" y="0"/>
          <a:ext cx="0" cy="0"/>
          <a:chOff x="0" y="0"/>
          <a:chExt cx="0" cy="0"/>
        </a:xfrm>
      </p:grpSpPr>
    </p:spTree>
    <p:extLst>
      <p:ext uri="{BB962C8B-B14F-4D97-AF65-F5344CB8AC3E}">
        <p14:creationId xmlns:p14="http://schemas.microsoft.com/office/powerpoint/2010/main" val="42321715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3C7C-BFB1-0C9D-FB51-7EEAE2506782}"/>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14C1E57B-BA7B-EB43-B36E-D77A49EC0D2B}"/>
              </a:ext>
            </a:extLst>
          </p:cNvPr>
          <p:cNvSpPr>
            <a:spLocks noChangeArrowheads="1"/>
          </p:cNvSpPr>
          <p:nvPr/>
        </p:nvSpPr>
        <p:spPr bwMode="auto">
          <a:xfrm>
            <a:off x="315686" y="486965"/>
            <a:ext cx="1129937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400" b="1" i="0" u="none" strike="noStrike" cap="none" normalizeH="0" baseline="0" dirty="0">
                <a:ln>
                  <a:noFill/>
                </a:ln>
                <a:solidFill>
                  <a:schemeClr val="tx1"/>
                </a:solidFill>
                <a:effectLst/>
                <a:latin typeface="Arial" panose="020B0604020202020204" pitchFamily="34" charset="0"/>
              </a:rPr>
              <a:t>Another Exampl</a:t>
            </a:r>
            <a:r>
              <a:rPr lang="en-US" altLang="en-US" sz="3400" b="1" dirty="0">
                <a:latin typeface="Arial" panose="020B0604020202020204" pitchFamily="34" charset="0"/>
              </a:rPr>
              <a:t>e</a:t>
            </a:r>
            <a:r>
              <a:rPr lang="en-US" altLang="en-US" sz="3400" dirty="0">
                <a:latin typeface="Arial" panose="020B0604020202020204" pitchFamily="34" charset="0"/>
              </a:rPr>
              <a:t>::</a:t>
            </a:r>
            <a:endParaRPr kumimoji="0" lang="en-US" altLang="en-US" sz="3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400" b="0" i="1" u="none" strike="noStrike" cap="none" normalizeH="0" baseline="0" dirty="0">
                <a:ln>
                  <a:noFill/>
                </a:ln>
                <a:solidFill>
                  <a:schemeClr val="tx1"/>
                </a:solidFill>
                <a:effectLst/>
                <a:latin typeface="Arial" panose="020B0604020202020204" pitchFamily="34" charset="0"/>
              </a:rPr>
              <a:t>A binary classifier is tested on a test set of n = 100 examples and It correctly predicts 62 labels</a:t>
            </a:r>
            <a:r>
              <a:rPr lang="en-US" altLang="en-US" sz="3400" i="1" dirty="0">
                <a:latin typeface="Arial" panose="020B0604020202020204" pitchFamily="34" charset="0"/>
              </a:rPr>
              <a:t>, </a:t>
            </a:r>
            <a:r>
              <a:rPr kumimoji="0" lang="en-US" altLang="en-US" sz="3400" b="0" i="1" u="none" strike="noStrike" cap="none" normalizeH="0" baseline="0" dirty="0">
                <a:ln>
                  <a:noFill/>
                </a:ln>
                <a:solidFill>
                  <a:schemeClr val="tx1"/>
                </a:solidFill>
                <a:effectLst/>
                <a:latin typeface="Arial" panose="020B0604020202020204" pitchFamily="34" charset="0"/>
              </a:rPr>
              <a:t>So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1" u="none" strike="noStrike" cap="none" normalizeH="0" baseline="0" dirty="0">
                <a:ln>
                  <a:noFill/>
                </a:ln>
                <a:solidFill>
                  <a:schemeClr val="tx1"/>
                </a:solidFill>
                <a:effectLst/>
                <a:latin typeface="Arial" panose="020B0604020202020204" pitchFamily="34" charset="0"/>
              </a:rPr>
              <a:t>Empirical Accuracy = 62%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1" u="none" strike="noStrike" cap="none" normalizeH="0" baseline="0" dirty="0">
                <a:ln>
                  <a:noFill/>
                </a:ln>
                <a:solidFill>
                  <a:schemeClr val="tx1"/>
                </a:solidFill>
                <a:effectLst/>
                <a:latin typeface="Arial" panose="020B0604020202020204" pitchFamily="34" charset="0"/>
              </a:rPr>
              <a:t>Empirical Error = 38%</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400" i="1" dirty="0">
                <a:latin typeface="Arial" panose="020B0604020202020204" pitchFamily="34" charset="0"/>
              </a:rPr>
              <a:t>We</a:t>
            </a:r>
            <a:r>
              <a:rPr kumimoji="0" lang="en-US" altLang="en-US" sz="3400" b="0" i="1" u="none" strike="noStrike" cap="none" normalizeH="0" baseline="0" dirty="0">
                <a:ln>
                  <a:noFill/>
                </a:ln>
                <a:solidFill>
                  <a:schemeClr val="tx1"/>
                </a:solidFill>
                <a:effectLst/>
                <a:latin typeface="Arial" panose="020B0604020202020204" pitchFamily="34" charset="0"/>
              </a:rPr>
              <a:t> want to know that is this accuracy statistically better than chance (i.e., better than 50%)?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400" b="0" i="0" u="none" strike="noStrike" cap="none" normalizeH="0" baseline="0" dirty="0">
                <a:ln>
                  <a:noFill/>
                </a:ln>
                <a:solidFill>
                  <a:schemeClr val="tx1"/>
                </a:solidFill>
                <a:effectLst/>
                <a:highlight>
                  <a:srgbClr val="FFFF00"/>
                </a:highlight>
                <a:latin typeface="Arial" panose="020B0604020202020204" pitchFamily="34" charset="0"/>
              </a:rPr>
              <a:t>This is a one-tailed hypothesis test of proportions</a:t>
            </a:r>
            <a:r>
              <a:rPr kumimoji="0" lang="en-US" altLang="en-US" sz="3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3569058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1EF1-5978-38BC-837D-7DE488BC8AA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445A60B-CFD6-1462-3437-DDC560B88AC6}"/>
              </a:ext>
            </a:extLst>
          </p:cNvPr>
          <p:cNvPicPr>
            <a:picLocks noChangeAspect="1"/>
          </p:cNvPicPr>
          <p:nvPr/>
        </p:nvPicPr>
        <p:blipFill>
          <a:blip r:embed="rId2"/>
          <a:stretch>
            <a:fillRect/>
          </a:stretch>
        </p:blipFill>
        <p:spPr>
          <a:xfrm>
            <a:off x="1143001" y="1189264"/>
            <a:ext cx="9971314" cy="3328307"/>
          </a:xfrm>
          <a:prstGeom prst="rect">
            <a:avLst/>
          </a:prstGeom>
        </p:spPr>
      </p:pic>
    </p:spTree>
    <p:extLst>
      <p:ext uri="{BB962C8B-B14F-4D97-AF65-F5344CB8AC3E}">
        <p14:creationId xmlns:p14="http://schemas.microsoft.com/office/powerpoint/2010/main" val="41931000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EF53-8A02-AB4A-EC65-348CA48482C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2563BA7-4C1B-4880-D4A4-C001E5C816D7}"/>
              </a:ext>
            </a:extLst>
          </p:cNvPr>
          <p:cNvPicPr>
            <a:picLocks noChangeAspect="1"/>
          </p:cNvPicPr>
          <p:nvPr/>
        </p:nvPicPr>
        <p:blipFill>
          <a:blip r:embed="rId2"/>
          <a:stretch>
            <a:fillRect/>
          </a:stretch>
        </p:blipFill>
        <p:spPr>
          <a:xfrm>
            <a:off x="1284514" y="794657"/>
            <a:ext cx="9431829" cy="4169229"/>
          </a:xfrm>
          <a:prstGeom prst="rect">
            <a:avLst/>
          </a:prstGeom>
        </p:spPr>
      </p:pic>
    </p:spTree>
    <p:extLst>
      <p:ext uri="{BB962C8B-B14F-4D97-AF65-F5344CB8AC3E}">
        <p14:creationId xmlns:p14="http://schemas.microsoft.com/office/powerpoint/2010/main" val="22540522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A6BD5-9270-D253-58CF-C0BC5550BC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E09E74-8751-1C79-78AE-9E3967541898}"/>
              </a:ext>
            </a:extLst>
          </p:cNvPr>
          <p:cNvPicPr>
            <a:picLocks noChangeAspect="1"/>
          </p:cNvPicPr>
          <p:nvPr/>
        </p:nvPicPr>
        <p:blipFill>
          <a:blip r:embed="rId2"/>
          <a:stretch>
            <a:fillRect/>
          </a:stretch>
        </p:blipFill>
        <p:spPr>
          <a:xfrm>
            <a:off x="1415143" y="511629"/>
            <a:ext cx="8357507" cy="5231946"/>
          </a:xfrm>
          <a:prstGeom prst="rect">
            <a:avLst/>
          </a:prstGeom>
        </p:spPr>
      </p:pic>
    </p:spTree>
    <p:extLst>
      <p:ext uri="{BB962C8B-B14F-4D97-AF65-F5344CB8AC3E}">
        <p14:creationId xmlns:p14="http://schemas.microsoft.com/office/powerpoint/2010/main" val="17569088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27AD6-8827-3EF1-4368-D058204653E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419136-EA09-EC7B-0F9A-83BA19C0515B}"/>
              </a:ext>
            </a:extLst>
          </p:cNvPr>
          <p:cNvPicPr>
            <a:picLocks noChangeAspect="1"/>
          </p:cNvPicPr>
          <p:nvPr/>
        </p:nvPicPr>
        <p:blipFill>
          <a:blip r:embed="rId2"/>
          <a:stretch>
            <a:fillRect/>
          </a:stretch>
        </p:blipFill>
        <p:spPr>
          <a:xfrm>
            <a:off x="1643743" y="532549"/>
            <a:ext cx="9524181" cy="4246280"/>
          </a:xfrm>
          <a:prstGeom prst="rect">
            <a:avLst/>
          </a:prstGeom>
        </p:spPr>
      </p:pic>
    </p:spTree>
    <p:extLst>
      <p:ext uri="{BB962C8B-B14F-4D97-AF65-F5344CB8AC3E}">
        <p14:creationId xmlns:p14="http://schemas.microsoft.com/office/powerpoint/2010/main" val="22245587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C5F5-1554-ADD9-025E-340A23CB70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761C55-E2E5-7A51-99F7-D268FD8BFBC4}"/>
              </a:ext>
            </a:extLst>
          </p:cNvPr>
          <p:cNvPicPr>
            <a:picLocks noChangeAspect="1"/>
          </p:cNvPicPr>
          <p:nvPr/>
        </p:nvPicPr>
        <p:blipFill>
          <a:blip r:embed="rId2"/>
          <a:stretch>
            <a:fillRect/>
          </a:stretch>
        </p:blipFill>
        <p:spPr>
          <a:xfrm>
            <a:off x="148874" y="628650"/>
            <a:ext cx="11787889" cy="4343399"/>
          </a:xfrm>
          <a:prstGeom prst="rect">
            <a:avLst/>
          </a:prstGeom>
        </p:spPr>
      </p:pic>
    </p:spTree>
    <p:extLst>
      <p:ext uri="{BB962C8B-B14F-4D97-AF65-F5344CB8AC3E}">
        <p14:creationId xmlns:p14="http://schemas.microsoft.com/office/powerpoint/2010/main" val="21861121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E8DE-963C-F208-78AB-F12769A607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2CD60B-A3B3-BED5-AE82-6FF2CF000C95}"/>
              </a:ext>
            </a:extLst>
          </p:cNvPr>
          <p:cNvSpPr txBox="1"/>
          <p:nvPr/>
        </p:nvSpPr>
        <p:spPr>
          <a:xfrm>
            <a:off x="195942" y="522514"/>
            <a:ext cx="11898087" cy="5016758"/>
          </a:xfrm>
          <a:prstGeom prst="rect">
            <a:avLst/>
          </a:prstGeom>
          <a:noFill/>
        </p:spPr>
        <p:txBody>
          <a:bodyPr wrap="square">
            <a:spAutoFit/>
          </a:bodyPr>
          <a:lstStyle/>
          <a:p>
            <a:pPr>
              <a:buNone/>
            </a:pPr>
            <a:r>
              <a:rPr lang="en-US" sz="4000" dirty="0"/>
              <a:t>In this example:-</a:t>
            </a:r>
          </a:p>
          <a:p>
            <a:pPr>
              <a:buFont typeface="Arial" panose="020B0604020202020204" pitchFamily="34" charset="0"/>
              <a:buChar char="•"/>
            </a:pPr>
            <a:r>
              <a:rPr lang="en-US" sz="4000" dirty="0"/>
              <a:t>The model trained via ERM gave 62% accuracy on test data</a:t>
            </a:r>
          </a:p>
          <a:p>
            <a:pPr>
              <a:buFont typeface="Arial" panose="020B0604020202020204" pitchFamily="34" charset="0"/>
              <a:buChar char="•"/>
            </a:pPr>
            <a:r>
              <a:rPr lang="en-US" sz="4000" dirty="0"/>
              <a:t>A hypothesis test confirmed that this performance is statistically better than chance</a:t>
            </a:r>
          </a:p>
          <a:p>
            <a:pPr>
              <a:buFont typeface="Arial" panose="020B0604020202020204" pitchFamily="34" charset="0"/>
              <a:buChar char="•"/>
            </a:pPr>
            <a:endParaRPr lang="en-US" sz="4000" b="1" dirty="0">
              <a:highlight>
                <a:srgbClr val="00FFFF"/>
              </a:highlight>
            </a:endParaRPr>
          </a:p>
          <a:p>
            <a:pPr>
              <a:buFont typeface="Arial" panose="020B0604020202020204" pitchFamily="34" charset="0"/>
              <a:buChar char="•"/>
            </a:pPr>
            <a:r>
              <a:rPr lang="en-US" sz="4000" b="1" i="1" dirty="0">
                <a:highlight>
                  <a:srgbClr val="00FFFF"/>
                </a:highlight>
              </a:rPr>
              <a:t>Therefore, we conclude that ERM has succeeded in finding a generalizable model in this case</a:t>
            </a:r>
          </a:p>
        </p:txBody>
      </p:sp>
    </p:spTree>
    <p:extLst>
      <p:ext uri="{BB962C8B-B14F-4D97-AF65-F5344CB8AC3E}">
        <p14:creationId xmlns:p14="http://schemas.microsoft.com/office/powerpoint/2010/main" val="42060330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60A4D-A387-D7A8-15D5-5F26B483D0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38ACAA-30AF-82DA-5A0B-3C9914F13362}"/>
              </a:ext>
            </a:extLst>
          </p:cNvPr>
          <p:cNvSpPr txBox="1"/>
          <p:nvPr/>
        </p:nvSpPr>
        <p:spPr>
          <a:xfrm>
            <a:off x="609600" y="402771"/>
            <a:ext cx="10983686" cy="2862322"/>
          </a:xfrm>
          <a:prstGeom prst="rect">
            <a:avLst/>
          </a:prstGeom>
          <a:noFill/>
        </p:spPr>
        <p:txBody>
          <a:bodyPr wrap="square">
            <a:spAutoFit/>
          </a:bodyPr>
          <a:lstStyle/>
          <a:p>
            <a:pPr>
              <a:buNone/>
            </a:pPr>
            <a:r>
              <a:rPr lang="en-US" sz="3000" dirty="0"/>
              <a:t>Empirical Risk Minimization (ERM) is a core optimization principle in machine learning. </a:t>
            </a:r>
          </a:p>
          <a:p>
            <a:pPr>
              <a:buNone/>
            </a:pPr>
            <a:endParaRPr lang="en-US" sz="3000" dirty="0"/>
          </a:p>
          <a:p>
            <a:pPr>
              <a:buNone/>
            </a:pPr>
            <a:r>
              <a:rPr lang="en-US" sz="3000" dirty="0"/>
              <a:t>It says:</a:t>
            </a:r>
          </a:p>
          <a:p>
            <a:r>
              <a:rPr lang="en-US" sz="3000" dirty="0"/>
              <a:t>Given a </a:t>
            </a:r>
            <a:r>
              <a:rPr lang="en-US" sz="3000" dirty="0">
                <a:highlight>
                  <a:srgbClr val="FFFF00"/>
                </a:highlight>
              </a:rPr>
              <a:t>hypothesis space 𝓗 </a:t>
            </a:r>
            <a:r>
              <a:rPr lang="en-US" sz="3000" dirty="0"/>
              <a:t>and a </a:t>
            </a:r>
            <a:r>
              <a:rPr lang="en-US" sz="3000" dirty="0">
                <a:highlight>
                  <a:srgbClr val="00FF00"/>
                </a:highlight>
              </a:rPr>
              <a:t>loss function L</a:t>
            </a:r>
            <a:r>
              <a:rPr lang="en-US" sz="3000" dirty="0"/>
              <a:t>, select a </a:t>
            </a:r>
            <a:r>
              <a:rPr lang="en-US" sz="3000" dirty="0">
                <a:highlight>
                  <a:srgbClr val="FF00FF"/>
                </a:highlight>
              </a:rPr>
              <a:t>function f</a:t>
            </a:r>
            <a:r>
              <a:rPr lang="en-US" sz="3000" dirty="0"/>
              <a:t> that minimizes the average loss over the training dataset:</a:t>
            </a:r>
          </a:p>
        </p:txBody>
      </p:sp>
      <p:pic>
        <p:nvPicPr>
          <p:cNvPr id="5" name="Picture 4">
            <a:extLst>
              <a:ext uri="{FF2B5EF4-FFF2-40B4-BE49-F238E27FC236}">
                <a16:creationId xmlns:a16="http://schemas.microsoft.com/office/drawing/2014/main" id="{EE8CE10E-C12D-79B3-C901-299C24F6C268}"/>
              </a:ext>
            </a:extLst>
          </p:cNvPr>
          <p:cNvPicPr>
            <a:picLocks noChangeAspect="1"/>
          </p:cNvPicPr>
          <p:nvPr/>
        </p:nvPicPr>
        <p:blipFill>
          <a:blip r:embed="rId2"/>
          <a:stretch>
            <a:fillRect/>
          </a:stretch>
        </p:blipFill>
        <p:spPr>
          <a:xfrm>
            <a:off x="468085" y="3450771"/>
            <a:ext cx="11159140" cy="2852057"/>
          </a:xfrm>
          <a:prstGeom prst="rect">
            <a:avLst/>
          </a:prstGeom>
        </p:spPr>
      </p:pic>
    </p:spTree>
    <p:extLst>
      <p:ext uri="{BB962C8B-B14F-4D97-AF65-F5344CB8AC3E}">
        <p14:creationId xmlns:p14="http://schemas.microsoft.com/office/powerpoint/2010/main" val="4887780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2020-CE4A-72F1-3C0B-2F4F227F5B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D13C57-1DB2-0438-9C03-D6F7C8251A2C}"/>
              </a:ext>
            </a:extLst>
          </p:cNvPr>
          <p:cNvSpPr txBox="1"/>
          <p:nvPr/>
        </p:nvSpPr>
        <p:spPr>
          <a:xfrm>
            <a:off x="609600" y="402771"/>
            <a:ext cx="10983686" cy="2862322"/>
          </a:xfrm>
          <a:prstGeom prst="rect">
            <a:avLst/>
          </a:prstGeom>
          <a:noFill/>
        </p:spPr>
        <p:txBody>
          <a:bodyPr wrap="square">
            <a:spAutoFit/>
          </a:bodyPr>
          <a:lstStyle/>
          <a:p>
            <a:pPr>
              <a:buNone/>
            </a:pPr>
            <a:r>
              <a:rPr lang="en-US" sz="3000" dirty="0"/>
              <a:t>Empirical Risk Minimization (ERM) is a core optimization principle in machine learning. </a:t>
            </a:r>
          </a:p>
          <a:p>
            <a:pPr>
              <a:buNone/>
            </a:pPr>
            <a:endParaRPr lang="en-US" sz="3000" dirty="0"/>
          </a:p>
          <a:p>
            <a:pPr>
              <a:buNone/>
            </a:pPr>
            <a:r>
              <a:rPr lang="en-US" sz="3000" dirty="0"/>
              <a:t>It says:</a:t>
            </a:r>
          </a:p>
          <a:p>
            <a:r>
              <a:rPr lang="en-US" sz="3000" dirty="0"/>
              <a:t>Given a </a:t>
            </a:r>
            <a:r>
              <a:rPr lang="en-US" sz="3000" dirty="0">
                <a:highlight>
                  <a:srgbClr val="FFFF00"/>
                </a:highlight>
              </a:rPr>
              <a:t>hypothesis space 𝓗 </a:t>
            </a:r>
            <a:r>
              <a:rPr lang="en-US" sz="3000" dirty="0"/>
              <a:t>and a </a:t>
            </a:r>
            <a:r>
              <a:rPr lang="en-US" sz="3000" dirty="0">
                <a:highlight>
                  <a:srgbClr val="00FF00"/>
                </a:highlight>
              </a:rPr>
              <a:t>loss function L</a:t>
            </a:r>
            <a:r>
              <a:rPr lang="en-US" sz="3000" dirty="0"/>
              <a:t>, select a </a:t>
            </a:r>
            <a:r>
              <a:rPr lang="en-US" sz="3000" dirty="0">
                <a:highlight>
                  <a:srgbClr val="FF00FF"/>
                </a:highlight>
              </a:rPr>
              <a:t>function f</a:t>
            </a:r>
            <a:r>
              <a:rPr lang="en-US" sz="3000" dirty="0"/>
              <a:t> that minimizes the average loss over the training dataset:</a:t>
            </a:r>
          </a:p>
        </p:txBody>
      </p:sp>
      <p:pic>
        <p:nvPicPr>
          <p:cNvPr id="5" name="Picture 4">
            <a:extLst>
              <a:ext uri="{FF2B5EF4-FFF2-40B4-BE49-F238E27FC236}">
                <a16:creationId xmlns:a16="http://schemas.microsoft.com/office/drawing/2014/main" id="{91EF7A81-949B-2FF4-3240-5EA1D78AB5E2}"/>
              </a:ext>
            </a:extLst>
          </p:cNvPr>
          <p:cNvPicPr>
            <a:picLocks noChangeAspect="1"/>
          </p:cNvPicPr>
          <p:nvPr/>
        </p:nvPicPr>
        <p:blipFill>
          <a:blip r:embed="rId2"/>
          <a:stretch>
            <a:fillRect/>
          </a:stretch>
        </p:blipFill>
        <p:spPr>
          <a:xfrm>
            <a:off x="468085" y="3450771"/>
            <a:ext cx="11159140" cy="2852057"/>
          </a:xfrm>
          <a:prstGeom prst="rect">
            <a:avLst/>
          </a:prstGeom>
        </p:spPr>
      </p:pic>
    </p:spTree>
    <p:extLst>
      <p:ext uri="{BB962C8B-B14F-4D97-AF65-F5344CB8AC3E}">
        <p14:creationId xmlns:p14="http://schemas.microsoft.com/office/powerpoint/2010/main" val="42791541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F34F8-AF7D-9934-E49D-A79AF73768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B5165F-08B2-6619-3E22-1B79A07AB699}"/>
              </a:ext>
            </a:extLst>
          </p:cNvPr>
          <p:cNvSpPr txBox="1"/>
          <p:nvPr/>
        </p:nvSpPr>
        <p:spPr>
          <a:xfrm>
            <a:off x="381001" y="381000"/>
            <a:ext cx="11527970" cy="5940088"/>
          </a:xfrm>
          <a:prstGeom prst="rect">
            <a:avLst/>
          </a:prstGeom>
          <a:noFill/>
        </p:spPr>
        <p:txBody>
          <a:bodyPr wrap="square">
            <a:spAutoFit/>
          </a:bodyPr>
          <a:lstStyle/>
          <a:p>
            <a:pPr algn="ctr">
              <a:buNone/>
            </a:pPr>
            <a:r>
              <a:rPr lang="en-US" sz="3600" b="1" dirty="0">
                <a:highlight>
                  <a:srgbClr val="FFFF00"/>
                </a:highlight>
              </a:rPr>
              <a:t>What is Parameter Estimation?</a:t>
            </a:r>
          </a:p>
          <a:p>
            <a:pPr algn="ctr">
              <a:buNone/>
            </a:pPr>
            <a:endParaRPr lang="en-US" sz="3600" b="1" dirty="0">
              <a:highlight>
                <a:srgbClr val="FFFF00"/>
              </a:highlight>
            </a:endParaRPr>
          </a:p>
          <a:p>
            <a:pPr>
              <a:buNone/>
            </a:pPr>
            <a:r>
              <a:rPr lang="en-US" sz="3600" dirty="0"/>
              <a:t>In machine learning, we build models to </a:t>
            </a:r>
            <a:r>
              <a:rPr lang="en-US" sz="3600" b="1" dirty="0"/>
              <a:t>predict or explain</a:t>
            </a:r>
            <a:r>
              <a:rPr lang="en-US" sz="3600" dirty="0"/>
              <a:t> things. These models have certain </a:t>
            </a:r>
            <a:r>
              <a:rPr lang="en-US" sz="3600" b="1" dirty="0"/>
              <a:t>parameters</a:t>
            </a:r>
            <a:r>
              <a:rPr lang="en-US" sz="3600" dirty="0"/>
              <a:t> — like the </a:t>
            </a:r>
            <a:r>
              <a:rPr lang="en-US" sz="3600" b="1" dirty="0"/>
              <a:t>slope and intercept</a:t>
            </a:r>
            <a:r>
              <a:rPr lang="en-US" sz="3600" dirty="0"/>
              <a:t> in a straight-line equation — that need to be "learned" from data.</a:t>
            </a:r>
          </a:p>
          <a:p>
            <a:r>
              <a:rPr lang="en-US" sz="4000" b="1" dirty="0">
                <a:highlight>
                  <a:srgbClr val="FFFF00"/>
                </a:highlight>
              </a:rPr>
              <a:t>Parameter estimation is the process of figuring out the best values for these parameters, using the data we have.</a:t>
            </a:r>
          </a:p>
          <a:p>
            <a:r>
              <a:rPr lang="en-US" sz="2200" b="1" i="1" dirty="0"/>
              <a:t>machine learning and OTML</a:t>
            </a:r>
            <a:r>
              <a:rPr lang="en-US" sz="2200" i="1" dirty="0"/>
              <a:t>, we usually work with </a:t>
            </a:r>
            <a:r>
              <a:rPr lang="en-US" sz="2200" b="1" i="1" dirty="0"/>
              <a:t>samples</a:t>
            </a:r>
            <a:r>
              <a:rPr lang="en-US" sz="2200" i="1" dirty="0"/>
              <a:t>, and our goal is to </a:t>
            </a:r>
            <a:r>
              <a:rPr lang="en-US" sz="2200" b="1" i="1" dirty="0"/>
              <a:t>estimate unknown parameters</a:t>
            </a:r>
            <a:r>
              <a:rPr lang="en-US" sz="2200" i="1" dirty="0"/>
              <a:t> (like μ )using estimators (like xˉ).</a:t>
            </a:r>
            <a:endParaRPr lang="en-US" sz="2200" b="1" i="1" dirty="0">
              <a:highlight>
                <a:srgbClr val="FFFF00"/>
              </a:highlight>
            </a:endParaRPr>
          </a:p>
        </p:txBody>
      </p:sp>
    </p:spTree>
    <p:extLst>
      <p:ext uri="{BB962C8B-B14F-4D97-AF65-F5344CB8AC3E}">
        <p14:creationId xmlns:p14="http://schemas.microsoft.com/office/powerpoint/2010/main" val="39015987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AEB29-3A88-BBA7-8561-1AB8C2EA94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5630BB2-FFD9-EE99-ED93-F132B0086600}"/>
              </a:ext>
            </a:extLst>
          </p:cNvPr>
          <p:cNvPicPr>
            <a:picLocks noChangeAspect="1"/>
          </p:cNvPicPr>
          <p:nvPr/>
        </p:nvPicPr>
        <p:blipFill>
          <a:blip r:embed="rId2"/>
          <a:stretch>
            <a:fillRect/>
          </a:stretch>
        </p:blipFill>
        <p:spPr>
          <a:xfrm>
            <a:off x="285750" y="240030"/>
            <a:ext cx="11590020" cy="6008810"/>
          </a:xfrm>
          <a:prstGeom prst="rect">
            <a:avLst/>
          </a:prstGeom>
        </p:spPr>
      </p:pic>
    </p:spTree>
    <p:extLst>
      <p:ext uri="{BB962C8B-B14F-4D97-AF65-F5344CB8AC3E}">
        <p14:creationId xmlns:p14="http://schemas.microsoft.com/office/powerpoint/2010/main" val="22165467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3E12D-3297-F5D2-8770-FCBA3D95BC8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248E81B-04B2-A8A7-6433-07E33AEB5BDB}"/>
              </a:ext>
            </a:extLst>
          </p:cNvPr>
          <p:cNvPicPr>
            <a:picLocks noChangeAspect="1"/>
          </p:cNvPicPr>
          <p:nvPr/>
        </p:nvPicPr>
        <p:blipFill>
          <a:blip r:embed="rId2"/>
          <a:stretch>
            <a:fillRect/>
          </a:stretch>
        </p:blipFill>
        <p:spPr>
          <a:xfrm>
            <a:off x="469173" y="708661"/>
            <a:ext cx="10892248" cy="3590294"/>
          </a:xfrm>
          <a:prstGeom prst="rect">
            <a:avLst/>
          </a:prstGeom>
        </p:spPr>
      </p:pic>
    </p:spTree>
    <p:extLst>
      <p:ext uri="{BB962C8B-B14F-4D97-AF65-F5344CB8AC3E}">
        <p14:creationId xmlns:p14="http://schemas.microsoft.com/office/powerpoint/2010/main" val="10051420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E730-2A55-A2C0-BD9A-68617F8A3A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61FCF5-ACD7-CAAB-A646-87A60BDB0077}"/>
              </a:ext>
            </a:extLst>
          </p:cNvPr>
          <p:cNvSpPr txBox="1"/>
          <p:nvPr/>
        </p:nvSpPr>
        <p:spPr>
          <a:xfrm>
            <a:off x="152400" y="0"/>
            <a:ext cx="11654790" cy="5878532"/>
          </a:xfrm>
          <a:prstGeom prst="rect">
            <a:avLst/>
          </a:prstGeom>
          <a:noFill/>
        </p:spPr>
        <p:txBody>
          <a:bodyPr wrap="square">
            <a:spAutoFit/>
          </a:bodyPr>
          <a:lstStyle/>
          <a:p>
            <a:pPr>
              <a:buNone/>
            </a:pPr>
            <a:r>
              <a:rPr lang="en-US" sz="2800" b="1" dirty="0"/>
              <a:t>Scenario as an example to understand </a:t>
            </a:r>
            <a:r>
              <a:rPr lang="en-US" sz="4000" b="1" dirty="0">
                <a:highlight>
                  <a:srgbClr val="FFFF00"/>
                </a:highlight>
              </a:rPr>
              <a:t>parameter estimation </a:t>
            </a:r>
            <a:r>
              <a:rPr lang="en-US" sz="2800" b="1" dirty="0"/>
              <a:t>:</a:t>
            </a:r>
          </a:p>
          <a:p>
            <a:pPr>
              <a:buNone/>
            </a:pPr>
            <a:endParaRPr lang="en-US" sz="2800" b="1" dirty="0"/>
          </a:p>
          <a:p>
            <a:pPr>
              <a:buNone/>
            </a:pPr>
            <a:r>
              <a:rPr lang="en-US" sz="2800" b="1" dirty="0">
                <a:highlight>
                  <a:srgbClr val="00FF00"/>
                </a:highlight>
              </a:rPr>
              <a:t>A factory has 1,000 sensors monitoring temperature on machines. You want to compute the average temperature across all sensors to detect overheating.</a:t>
            </a:r>
          </a:p>
          <a:p>
            <a:pPr>
              <a:buNone/>
            </a:pPr>
            <a:r>
              <a:rPr lang="en-US" sz="2800" b="1" dirty="0">
                <a:highlight>
                  <a:srgbClr val="FF0000"/>
                </a:highlight>
              </a:rPr>
              <a:t>Challenge:</a:t>
            </a:r>
          </a:p>
          <a:p>
            <a:r>
              <a:rPr lang="en-US" sz="2800" b="1" dirty="0"/>
              <a:t>You cannot access data from all 1,000 sensors every minute due to data transfer and power limitations.</a:t>
            </a:r>
          </a:p>
          <a:p>
            <a:endParaRPr lang="en-US" sz="2800" b="1" dirty="0"/>
          </a:p>
          <a:p>
            <a:r>
              <a:rPr lang="en-US" sz="2800" b="1" dirty="0">
                <a:highlight>
                  <a:srgbClr val="00FF00"/>
                </a:highlight>
              </a:rPr>
              <a:t>A data science team is hired to predict the average support for a political party across an entire country of 10 million voters.</a:t>
            </a:r>
          </a:p>
          <a:p>
            <a:r>
              <a:rPr lang="en-US" sz="2800" b="1" dirty="0">
                <a:highlight>
                  <a:srgbClr val="FF0000"/>
                </a:highlight>
              </a:rPr>
              <a:t>Challenge:</a:t>
            </a:r>
          </a:p>
          <a:p>
            <a:r>
              <a:rPr lang="en-US" sz="2800" b="1" dirty="0"/>
              <a:t>Surveying all 10 million people is impossible (costly and time-consuming).</a:t>
            </a:r>
          </a:p>
          <a:p>
            <a:endParaRPr lang="en-US" sz="2800" b="1" dirty="0"/>
          </a:p>
        </p:txBody>
      </p:sp>
    </p:spTree>
    <p:extLst>
      <p:ext uri="{BB962C8B-B14F-4D97-AF65-F5344CB8AC3E}">
        <p14:creationId xmlns:p14="http://schemas.microsoft.com/office/powerpoint/2010/main" val="1256211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A6891-D729-7066-575D-302C964171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550A774-5D54-5A76-262D-30948C4C1A07}"/>
              </a:ext>
            </a:extLst>
          </p:cNvPr>
          <p:cNvSpPr txBox="1"/>
          <p:nvPr/>
        </p:nvSpPr>
        <p:spPr>
          <a:xfrm>
            <a:off x="642257" y="370114"/>
            <a:ext cx="11190514" cy="4585871"/>
          </a:xfrm>
          <a:prstGeom prst="rect">
            <a:avLst/>
          </a:prstGeom>
          <a:noFill/>
        </p:spPr>
        <p:txBody>
          <a:bodyPr wrap="square">
            <a:spAutoFit/>
          </a:bodyPr>
          <a:lstStyle/>
          <a:p>
            <a:pPr>
              <a:buNone/>
            </a:pPr>
            <a:r>
              <a:rPr lang="en-US" sz="4000" b="1" dirty="0">
                <a:highlight>
                  <a:srgbClr val="FFFF00"/>
                </a:highlight>
              </a:rPr>
              <a:t>Point estimation </a:t>
            </a:r>
            <a:r>
              <a:rPr lang="en-US" sz="3600" dirty="0"/>
              <a:t>is the process of using sample data to compute a single best-guess value (called an estimator) for an unknown population parameter such as:</a:t>
            </a:r>
          </a:p>
          <a:p>
            <a:pPr>
              <a:buFont typeface="Arial" panose="020B0604020202020204" pitchFamily="34" charset="0"/>
              <a:buChar char="•"/>
            </a:pPr>
            <a:r>
              <a:rPr lang="en-US" sz="3600" dirty="0"/>
              <a:t>Mean</a:t>
            </a:r>
          </a:p>
          <a:p>
            <a:pPr>
              <a:buFont typeface="Arial" panose="020B0604020202020204" pitchFamily="34" charset="0"/>
              <a:buChar char="•"/>
            </a:pPr>
            <a:r>
              <a:rPr lang="en-US" sz="3600" dirty="0"/>
              <a:t>Proportion</a:t>
            </a:r>
          </a:p>
          <a:p>
            <a:pPr>
              <a:buFont typeface="Arial" panose="020B0604020202020204" pitchFamily="34" charset="0"/>
              <a:buChar char="•"/>
            </a:pPr>
            <a:r>
              <a:rPr lang="en-US" sz="3600" dirty="0"/>
              <a:t>Model coefficients (like weights in regression)</a:t>
            </a:r>
          </a:p>
          <a:p>
            <a:r>
              <a:rPr lang="en-US" sz="3600" dirty="0"/>
              <a:t>In machine learning, point estimation is used to estimate model parameters that are later optimized during training.</a:t>
            </a:r>
          </a:p>
        </p:txBody>
      </p:sp>
    </p:spTree>
    <p:extLst>
      <p:ext uri="{BB962C8B-B14F-4D97-AF65-F5344CB8AC3E}">
        <p14:creationId xmlns:p14="http://schemas.microsoft.com/office/powerpoint/2010/main" val="2374928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64BAE-0BE5-E725-0010-55CACB23BA0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D9ED823-431A-BFCA-6A2F-7ABE462C804E}"/>
              </a:ext>
            </a:extLst>
          </p:cNvPr>
          <p:cNvSpPr>
            <a:spLocks noChangeArrowheads="1"/>
          </p:cNvSpPr>
          <p:nvPr/>
        </p:nvSpPr>
        <p:spPr bwMode="auto">
          <a:xfrm>
            <a:off x="446315" y="771041"/>
            <a:ext cx="11048999" cy="4573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1" i="0" u="none" strike="noStrike" cap="none" normalizeH="0" baseline="0" dirty="0">
                <a:ln>
                  <a:noFill/>
                </a:ln>
                <a:solidFill>
                  <a:schemeClr val="tx1"/>
                </a:solidFill>
                <a:effectLst/>
                <a:latin typeface="Arial" panose="020B0604020202020204" pitchFamily="34" charset="0"/>
              </a:rPr>
              <a:t>ERM</a:t>
            </a:r>
            <a:r>
              <a:rPr kumimoji="0" lang="en-US" altLang="en-US" sz="4000" b="0" i="0" u="none" strike="noStrike" cap="none" normalizeH="0" baseline="0" dirty="0">
                <a:ln>
                  <a:noFill/>
                </a:ln>
                <a:solidFill>
                  <a:schemeClr val="tx1"/>
                </a:solidFill>
                <a:effectLst/>
                <a:latin typeface="Arial" panose="020B0604020202020204" pitchFamily="34" charset="0"/>
              </a:rPr>
              <a:t> is like deciding </a:t>
            </a:r>
            <a:r>
              <a:rPr kumimoji="0" lang="en-US" altLang="en-US" sz="4000" b="1" i="0" u="none" strike="noStrike" cap="none" normalizeH="0" baseline="0" dirty="0">
                <a:ln>
                  <a:noFill/>
                </a:ln>
                <a:solidFill>
                  <a:schemeClr val="tx1"/>
                </a:solidFill>
                <a:effectLst/>
                <a:latin typeface="Arial" panose="020B0604020202020204" pitchFamily="34" charset="0"/>
              </a:rPr>
              <a:t>what dish you want to prepare</a:t>
            </a:r>
            <a:r>
              <a:rPr kumimoji="0" lang="en-US" altLang="en-US" sz="4000" b="0" i="0" u="none" strike="noStrike" cap="none" normalizeH="0" baseline="0" dirty="0">
                <a:ln>
                  <a:noFill/>
                </a:ln>
                <a:solidFill>
                  <a:schemeClr val="tx1"/>
                </a:solidFill>
                <a:effectLst/>
                <a:latin typeface="Arial" panose="020B0604020202020204" pitchFamily="34" charset="0"/>
              </a:rPr>
              <a:t> (e.g., "minimize the amount of waste").</a:t>
            </a:r>
          </a:p>
          <a:p>
            <a:pPr marR="0" lvl="0" algn="l" defTabSz="914400" rtl="0" eaLnBrk="0" fontAlgn="base" latinLnBrk="0" hangingPunct="0">
              <a:lnSpc>
                <a:spcPct val="100000"/>
              </a:lnSpc>
              <a:spcBef>
                <a:spcPct val="0"/>
              </a:spcBef>
              <a:spcAft>
                <a:spcPct val="0"/>
              </a:spcAft>
              <a:buClrTx/>
              <a:buSzTx/>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1" i="0" u="none" strike="noStrike" cap="none" normalizeH="0" baseline="0" dirty="0">
                <a:ln>
                  <a:noFill/>
                </a:ln>
                <a:solidFill>
                  <a:schemeClr val="tx1"/>
                </a:solidFill>
                <a:effectLst/>
                <a:latin typeface="Arial" panose="020B0604020202020204" pitchFamily="34" charset="0"/>
              </a:rPr>
              <a:t>Parameter Estimation</a:t>
            </a:r>
            <a:r>
              <a:rPr kumimoji="0" lang="en-US" altLang="en-US" sz="4000" b="0" i="0" u="none" strike="noStrike" cap="none" normalizeH="0" baseline="0" dirty="0">
                <a:ln>
                  <a:noFill/>
                </a:ln>
                <a:solidFill>
                  <a:schemeClr val="tx1"/>
                </a:solidFill>
                <a:effectLst/>
                <a:latin typeface="Arial" panose="020B0604020202020204" pitchFamily="34" charset="0"/>
              </a:rPr>
              <a:t> is like </a:t>
            </a:r>
            <a:r>
              <a:rPr kumimoji="0" lang="en-US" altLang="en-US" sz="4000" b="1" i="0" u="none" strike="noStrike" cap="none" normalizeH="0" baseline="0" dirty="0">
                <a:ln>
                  <a:noFill/>
                </a:ln>
                <a:solidFill>
                  <a:schemeClr val="tx1"/>
                </a:solidFill>
                <a:effectLst/>
                <a:latin typeface="Arial" panose="020B0604020202020204" pitchFamily="34" charset="0"/>
              </a:rPr>
              <a:t>choosing the right ingredients and amounts</a:t>
            </a:r>
            <a:r>
              <a:rPr kumimoji="0" lang="en-US" altLang="en-US" sz="4000" b="0" i="0" u="none" strike="noStrike" cap="none" normalizeH="0" baseline="0" dirty="0">
                <a:ln>
                  <a:noFill/>
                </a:ln>
                <a:solidFill>
                  <a:schemeClr val="tx1"/>
                </a:solidFill>
                <a:effectLst/>
                <a:latin typeface="Arial" panose="020B0604020202020204" pitchFamily="34" charset="0"/>
              </a:rPr>
              <a:t> (e.g., salt = 1 tsp, rice = 200g) to make that dish.</a:t>
            </a:r>
          </a:p>
        </p:txBody>
      </p:sp>
    </p:spTree>
    <p:extLst>
      <p:ext uri="{BB962C8B-B14F-4D97-AF65-F5344CB8AC3E}">
        <p14:creationId xmlns:p14="http://schemas.microsoft.com/office/powerpoint/2010/main" val="24055046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6929D-1583-3AA9-FD57-7A8B294D86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C0CE3C-A0CC-DBFE-D96E-37EAE64723D7}"/>
              </a:ext>
            </a:extLst>
          </p:cNvPr>
          <p:cNvSpPr txBox="1"/>
          <p:nvPr/>
        </p:nvSpPr>
        <p:spPr>
          <a:xfrm>
            <a:off x="152401" y="293913"/>
            <a:ext cx="11647714" cy="5733651"/>
          </a:xfrm>
          <a:prstGeom prst="rect">
            <a:avLst/>
          </a:prstGeom>
          <a:noFill/>
        </p:spPr>
        <p:txBody>
          <a:bodyPr wrap="square">
            <a:spAutoFit/>
          </a:bodyPr>
          <a:lstStyle/>
          <a:p>
            <a:pPr>
              <a:buNone/>
            </a:pPr>
            <a:r>
              <a:rPr lang="en-US" sz="3600" dirty="0"/>
              <a:t>Example ::</a:t>
            </a:r>
          </a:p>
          <a:p>
            <a:pPr>
              <a:buNone/>
            </a:pPr>
            <a:r>
              <a:rPr lang="en-US" sz="3600" dirty="0"/>
              <a:t>imagine you’re trying to guess someone’s monthly expenses based on their salary.</a:t>
            </a:r>
          </a:p>
          <a:p>
            <a:pPr>
              <a:buNone/>
            </a:pPr>
            <a:r>
              <a:rPr lang="en-US" sz="3600" dirty="0"/>
              <a:t>You think there’s a </a:t>
            </a:r>
            <a:r>
              <a:rPr lang="en-US" sz="3600" b="1" dirty="0"/>
              <a:t>linear relationship</a:t>
            </a:r>
            <a:r>
              <a:rPr lang="en-US" sz="3600" dirty="0"/>
              <a:t>:</a:t>
            </a:r>
          </a:p>
          <a:p>
            <a:pPr>
              <a:buNone/>
            </a:pPr>
            <a:r>
              <a:rPr lang="en-US" sz="4000" b="1" dirty="0">
                <a:highlight>
                  <a:srgbClr val="00FF00"/>
                </a:highlight>
              </a:rPr>
              <a:t>expenses=θ</a:t>
            </a:r>
            <a:r>
              <a:rPr lang="en-US" sz="4000" b="1" baseline="-25000" dirty="0">
                <a:highlight>
                  <a:srgbClr val="00FF00"/>
                </a:highlight>
              </a:rPr>
              <a:t>0</a:t>
            </a:r>
            <a:r>
              <a:rPr lang="en-US" sz="4000" b="1" dirty="0">
                <a:highlight>
                  <a:srgbClr val="00FF00"/>
                </a:highlight>
              </a:rPr>
              <a:t>+ θ</a:t>
            </a:r>
            <a:r>
              <a:rPr lang="en-US" sz="4000" b="1" baseline="-25000" dirty="0">
                <a:highlight>
                  <a:srgbClr val="00FF00"/>
                </a:highlight>
              </a:rPr>
              <a:t>1</a:t>
            </a:r>
            <a:r>
              <a:rPr lang="en-US" sz="4000" b="1" dirty="0">
                <a:highlight>
                  <a:srgbClr val="00FF00"/>
                </a:highlight>
              </a:rPr>
              <a:t>⋅salary</a:t>
            </a:r>
          </a:p>
          <a:p>
            <a:pPr>
              <a:buNone/>
            </a:pPr>
            <a:r>
              <a:rPr lang="en-US" sz="3600" dirty="0"/>
              <a:t> But you don't know the exact values of </a:t>
            </a:r>
            <a:r>
              <a:rPr lang="en-US" sz="3600" b="1" dirty="0">
                <a:highlight>
                  <a:srgbClr val="00FF00"/>
                </a:highlight>
              </a:rPr>
              <a:t>θ</a:t>
            </a:r>
            <a:r>
              <a:rPr lang="en-US" sz="3600" b="1" baseline="-25000" dirty="0">
                <a:highlight>
                  <a:srgbClr val="00FF00"/>
                </a:highlight>
              </a:rPr>
              <a:t>0</a:t>
            </a:r>
            <a:r>
              <a:rPr lang="en-US" sz="3600" b="1" dirty="0">
                <a:highlight>
                  <a:srgbClr val="00FF00"/>
                </a:highlight>
              </a:rPr>
              <a:t>+ θ</a:t>
            </a:r>
            <a:r>
              <a:rPr lang="en-US" sz="3600" b="1" baseline="-25000" dirty="0">
                <a:highlight>
                  <a:srgbClr val="00FF00"/>
                </a:highlight>
              </a:rPr>
              <a:t>1</a:t>
            </a:r>
            <a:r>
              <a:rPr lang="en-US" sz="3600" dirty="0"/>
              <a:t> (savings/spending rate).</a:t>
            </a:r>
            <a:br>
              <a:rPr lang="en-US" sz="3600" dirty="0"/>
            </a:br>
            <a:r>
              <a:rPr lang="en-US" sz="3600" dirty="0"/>
              <a:t>You collect data from a few people. Now you </a:t>
            </a:r>
            <a:r>
              <a:rPr lang="en-US" sz="3600" b="1" dirty="0"/>
              <a:t>estimate</a:t>
            </a:r>
            <a:r>
              <a:rPr lang="en-US" sz="3600" dirty="0"/>
              <a:t> the best values of </a:t>
            </a:r>
            <a:r>
              <a:rPr lang="en-US" sz="3600" b="1" dirty="0">
                <a:highlight>
                  <a:srgbClr val="00FF00"/>
                </a:highlight>
              </a:rPr>
              <a:t>θ</a:t>
            </a:r>
            <a:r>
              <a:rPr lang="en-US" sz="3600" b="1" baseline="-25000" dirty="0">
                <a:highlight>
                  <a:srgbClr val="00FF00"/>
                </a:highlight>
              </a:rPr>
              <a:t>0</a:t>
            </a:r>
            <a:r>
              <a:rPr lang="en-US" sz="3600" b="1" dirty="0">
                <a:highlight>
                  <a:srgbClr val="00FF00"/>
                </a:highlight>
              </a:rPr>
              <a:t>+ θ</a:t>
            </a:r>
            <a:r>
              <a:rPr lang="en-US" sz="3600" b="1" baseline="-25000" dirty="0">
                <a:highlight>
                  <a:srgbClr val="00FF00"/>
                </a:highlight>
              </a:rPr>
              <a:t>1 </a:t>
            </a:r>
            <a:r>
              <a:rPr lang="en-US" sz="3600" dirty="0"/>
              <a:t>​ that match this data.</a:t>
            </a:r>
          </a:p>
          <a:p>
            <a:r>
              <a:rPr lang="en-US" sz="3600" dirty="0"/>
              <a:t>That’s parameter estimation!</a:t>
            </a:r>
          </a:p>
        </p:txBody>
      </p:sp>
    </p:spTree>
    <p:extLst>
      <p:ext uri="{BB962C8B-B14F-4D97-AF65-F5344CB8AC3E}">
        <p14:creationId xmlns:p14="http://schemas.microsoft.com/office/powerpoint/2010/main" val="23878719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D8D34-EA04-6442-5611-0C04CC2E8B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E08C84-7FB5-808C-0204-D0141D92C67D}"/>
              </a:ext>
            </a:extLst>
          </p:cNvPr>
          <p:cNvSpPr txBox="1"/>
          <p:nvPr/>
        </p:nvSpPr>
        <p:spPr>
          <a:xfrm>
            <a:off x="217716" y="205740"/>
            <a:ext cx="11749494" cy="6309420"/>
          </a:xfrm>
          <a:prstGeom prst="rect">
            <a:avLst/>
          </a:prstGeom>
          <a:noFill/>
        </p:spPr>
        <p:txBody>
          <a:bodyPr wrap="square">
            <a:spAutoFit/>
          </a:bodyPr>
          <a:lstStyle/>
          <a:p>
            <a:pPr algn="ctr">
              <a:buNone/>
            </a:pPr>
            <a:r>
              <a:rPr lang="en-US" sz="3600" b="1" dirty="0"/>
              <a:t>Methods of Parameter Estimation:</a:t>
            </a:r>
          </a:p>
          <a:p>
            <a:pPr algn="ctr">
              <a:buNone/>
            </a:pPr>
            <a:endParaRPr lang="en-US" sz="3600" b="1" dirty="0"/>
          </a:p>
          <a:p>
            <a:pPr marL="742950" indent="-742950">
              <a:buAutoNum type="arabicPeriod"/>
            </a:pPr>
            <a:r>
              <a:rPr lang="en-US" sz="4000" b="1" dirty="0">
                <a:highlight>
                  <a:srgbClr val="FFFF00"/>
                </a:highlight>
              </a:rPr>
              <a:t>Point Estimation Method</a:t>
            </a:r>
            <a:r>
              <a:rPr lang="en-US" sz="4000" b="1" dirty="0"/>
              <a:t>s</a:t>
            </a:r>
          </a:p>
          <a:p>
            <a:pPr marL="571500" indent="-571500">
              <a:buFont typeface="Wingdings" panose="05000000000000000000" pitchFamily="2" charset="2"/>
              <a:buChar char="q"/>
            </a:pPr>
            <a:r>
              <a:rPr lang="en-US" sz="3600" b="1" dirty="0">
                <a:highlight>
                  <a:srgbClr val="00FF00"/>
                </a:highlight>
              </a:rPr>
              <a:t>1.1.</a:t>
            </a:r>
            <a:r>
              <a:rPr lang="en-IN" sz="3600" b="1" dirty="0">
                <a:highlight>
                  <a:srgbClr val="00FF00"/>
                </a:highlight>
              </a:rPr>
              <a:t> Maximum Likelihood Estimation (MLE)</a:t>
            </a:r>
          </a:p>
          <a:p>
            <a:pPr marL="571500" indent="-571500">
              <a:buFont typeface="Wingdings" panose="05000000000000000000" pitchFamily="2" charset="2"/>
              <a:buChar char="q"/>
            </a:pPr>
            <a:r>
              <a:rPr lang="en-IN" sz="3600" b="1" dirty="0">
                <a:highlight>
                  <a:srgbClr val="00FF00"/>
                </a:highlight>
              </a:rPr>
              <a:t>1.2  Least Squares Estimation (LSE)</a:t>
            </a:r>
          </a:p>
          <a:p>
            <a:pPr marL="571500" indent="-571500">
              <a:buFont typeface="Wingdings" panose="05000000000000000000" pitchFamily="2" charset="2"/>
              <a:buChar char="q"/>
            </a:pPr>
            <a:r>
              <a:rPr lang="en-IN" sz="3600" b="1" dirty="0">
                <a:highlight>
                  <a:srgbClr val="00FF00"/>
                </a:highlight>
              </a:rPr>
              <a:t>1.3 Maximum A Posteriori Estimation (MAP)</a:t>
            </a:r>
          </a:p>
          <a:p>
            <a:pPr marL="571500" indent="-571500">
              <a:buFont typeface="Wingdings" panose="05000000000000000000" pitchFamily="2" charset="2"/>
              <a:buChar char="q"/>
            </a:pPr>
            <a:r>
              <a:rPr lang="en-IN" sz="3600" b="1" dirty="0">
                <a:highlight>
                  <a:srgbClr val="00FF00"/>
                </a:highlight>
              </a:rPr>
              <a:t>1.4 Gradient-Based Numerical Estimation</a:t>
            </a:r>
          </a:p>
          <a:p>
            <a:endParaRPr lang="en-US" sz="3600" b="1" dirty="0"/>
          </a:p>
          <a:p>
            <a:pPr>
              <a:buNone/>
            </a:pPr>
            <a:r>
              <a:rPr lang="en-US" sz="3600" b="1" dirty="0"/>
              <a:t>2.</a:t>
            </a:r>
            <a:r>
              <a:rPr lang="en-IN" sz="3600" b="1" dirty="0"/>
              <a:t> </a:t>
            </a:r>
            <a:r>
              <a:rPr lang="en-IN" sz="4000" b="1" dirty="0">
                <a:highlight>
                  <a:srgbClr val="FFFF00"/>
                </a:highlight>
              </a:rPr>
              <a:t>Interval Estimation Methods</a:t>
            </a:r>
          </a:p>
          <a:p>
            <a:pPr marL="571500" indent="-571500">
              <a:buFont typeface="Wingdings" panose="05000000000000000000" pitchFamily="2" charset="2"/>
              <a:buChar char="q"/>
            </a:pPr>
            <a:r>
              <a:rPr lang="en-IN" sz="3600" b="1" dirty="0">
                <a:highlight>
                  <a:srgbClr val="00FFFF"/>
                </a:highlight>
              </a:rPr>
              <a:t>2.1 Confidence Intervals (Frequentist)</a:t>
            </a:r>
          </a:p>
          <a:p>
            <a:pPr marL="571500" indent="-571500">
              <a:buFont typeface="Wingdings" panose="05000000000000000000" pitchFamily="2" charset="2"/>
              <a:buChar char="q"/>
            </a:pPr>
            <a:r>
              <a:rPr lang="en-IN" sz="3600" b="1" dirty="0">
                <a:highlight>
                  <a:srgbClr val="00FFFF"/>
                </a:highlight>
              </a:rPr>
              <a:t>2.2Credible Intervals (Bayesian)</a:t>
            </a:r>
            <a:endParaRPr lang="en-US" sz="3600" b="1" dirty="0">
              <a:highlight>
                <a:srgbClr val="00FFFF"/>
              </a:highlight>
            </a:endParaRPr>
          </a:p>
        </p:txBody>
      </p:sp>
    </p:spTree>
    <p:extLst>
      <p:ext uri="{BB962C8B-B14F-4D97-AF65-F5344CB8AC3E}">
        <p14:creationId xmlns:p14="http://schemas.microsoft.com/office/powerpoint/2010/main" val="3192889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3FF2F-C383-1286-0F2D-DF9C1EE5A5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407317-4D32-3433-756C-75784080EAB8}"/>
              </a:ext>
            </a:extLst>
          </p:cNvPr>
          <p:cNvSpPr txBox="1"/>
          <p:nvPr/>
        </p:nvSpPr>
        <p:spPr>
          <a:xfrm>
            <a:off x="119742" y="110422"/>
            <a:ext cx="11767457" cy="3323987"/>
          </a:xfrm>
          <a:prstGeom prst="rect">
            <a:avLst/>
          </a:prstGeom>
          <a:noFill/>
        </p:spPr>
        <p:txBody>
          <a:bodyPr wrap="square">
            <a:spAutoFit/>
          </a:bodyPr>
          <a:lstStyle/>
          <a:p>
            <a:pPr>
              <a:buNone/>
            </a:pPr>
            <a:r>
              <a:rPr lang="en-US" sz="2400" b="1" dirty="0"/>
              <a:t>1.1 Maximum Likelihood Estimation (MLE)</a:t>
            </a:r>
          </a:p>
          <a:p>
            <a:r>
              <a:rPr lang="en-US" sz="2400" b="1" dirty="0"/>
              <a:t>Definition</a:t>
            </a:r>
            <a:r>
              <a:rPr lang="en-US" sz="2400" dirty="0"/>
              <a:t>: </a:t>
            </a:r>
            <a:r>
              <a:rPr lang="en-US" sz="2400" b="1" dirty="0"/>
              <a:t>Maximum Likelihood Estimation (MLE)</a:t>
            </a:r>
            <a:r>
              <a:rPr lang="en-US" sz="2400" dirty="0"/>
              <a:t> is a method of estimating the parameters of a </a:t>
            </a:r>
            <a:r>
              <a:rPr lang="en-US" sz="2400" b="1" dirty="0"/>
              <a:t>statistical model</a:t>
            </a:r>
            <a:r>
              <a:rPr lang="en-US" sz="2400" dirty="0"/>
              <a:t> by choosing values that </a:t>
            </a:r>
            <a:r>
              <a:rPr lang="en-US" sz="2400" b="1" dirty="0"/>
              <a:t>maximize the likelihood</a:t>
            </a:r>
            <a:r>
              <a:rPr lang="en-US" sz="2400" dirty="0"/>
              <a:t> of the observed data.</a:t>
            </a:r>
          </a:p>
          <a:p>
            <a:r>
              <a:rPr lang="en-US" sz="2400" dirty="0"/>
              <a:t>MLE answers the question:</a:t>
            </a:r>
            <a:br>
              <a:rPr lang="en-US" sz="2400" dirty="0"/>
            </a:br>
            <a:r>
              <a:rPr lang="en-US" sz="2400" b="1" dirty="0"/>
              <a:t>“</a:t>
            </a:r>
            <a:r>
              <a:rPr lang="en-US" sz="3000" b="1" dirty="0">
                <a:highlight>
                  <a:srgbClr val="FFFF00"/>
                </a:highlight>
              </a:rPr>
              <a:t>Given the data I observed, which parameter value makes this data most likely to occur?”</a:t>
            </a:r>
            <a:endParaRPr lang="en-US" sz="3000" dirty="0">
              <a:highlight>
                <a:srgbClr val="FFFF00"/>
              </a:highlight>
            </a:endParaRPr>
          </a:p>
          <a:p>
            <a:endParaRPr lang="en-US" sz="3000" dirty="0"/>
          </a:p>
          <a:p>
            <a:endParaRPr lang="en-US" sz="2400" dirty="0"/>
          </a:p>
        </p:txBody>
      </p:sp>
      <p:sp>
        <p:nvSpPr>
          <p:cNvPr id="6" name="TextBox 5">
            <a:extLst>
              <a:ext uri="{FF2B5EF4-FFF2-40B4-BE49-F238E27FC236}">
                <a16:creationId xmlns:a16="http://schemas.microsoft.com/office/drawing/2014/main" id="{94C7BF8C-774A-26BC-1F75-AA97E393471E}"/>
              </a:ext>
            </a:extLst>
          </p:cNvPr>
          <p:cNvSpPr txBox="1"/>
          <p:nvPr/>
        </p:nvSpPr>
        <p:spPr>
          <a:xfrm>
            <a:off x="315686" y="4067968"/>
            <a:ext cx="11353799" cy="2246769"/>
          </a:xfrm>
          <a:prstGeom prst="rect">
            <a:avLst/>
          </a:prstGeom>
          <a:noFill/>
        </p:spPr>
        <p:txBody>
          <a:bodyPr wrap="square">
            <a:spAutoFit/>
          </a:bodyPr>
          <a:lstStyle/>
          <a:p>
            <a:pPr>
              <a:buNone/>
            </a:pPr>
            <a:r>
              <a:rPr lang="en-US" sz="2800" b="1" dirty="0"/>
              <a:t>Usage in OTML</a:t>
            </a:r>
            <a:r>
              <a:rPr lang="en-US" sz="2800" dirty="0"/>
              <a:t>:</a:t>
            </a:r>
          </a:p>
          <a:p>
            <a:pPr>
              <a:buFont typeface="Arial" panose="020B0604020202020204" pitchFamily="34" charset="0"/>
              <a:buChar char="•"/>
            </a:pPr>
            <a:r>
              <a:rPr lang="en-US" sz="2800" dirty="0"/>
              <a:t>Transforms a probabilistic model into an optimization problem.</a:t>
            </a:r>
          </a:p>
          <a:p>
            <a:pPr>
              <a:buFont typeface="Arial" panose="020B0604020202020204" pitchFamily="34" charset="0"/>
              <a:buChar char="•"/>
            </a:pPr>
            <a:r>
              <a:rPr lang="en-US" sz="2800" dirty="0"/>
              <a:t>Foundation for learning in </a:t>
            </a:r>
            <a:r>
              <a:rPr lang="en-US" sz="2800" b="1" dirty="0"/>
              <a:t>logistic regression</a:t>
            </a:r>
            <a:r>
              <a:rPr lang="en-US" sz="2800" dirty="0"/>
              <a:t>, </a:t>
            </a:r>
            <a:r>
              <a:rPr lang="en-US" sz="2800" b="1" dirty="0"/>
              <a:t>naive Bayes</a:t>
            </a:r>
            <a:r>
              <a:rPr lang="en-US" sz="2800" dirty="0"/>
              <a:t>, </a:t>
            </a:r>
            <a:r>
              <a:rPr lang="en-US" sz="2800" b="1" dirty="0"/>
              <a:t>Gaussian models</a:t>
            </a:r>
            <a:r>
              <a:rPr lang="en-US" sz="2800" dirty="0"/>
              <a:t>.</a:t>
            </a:r>
          </a:p>
          <a:p>
            <a:pPr>
              <a:buFont typeface="Arial" panose="020B0604020202020204" pitchFamily="34" charset="0"/>
              <a:buChar char="•"/>
            </a:pPr>
            <a:r>
              <a:rPr lang="en-US" sz="2800" dirty="0"/>
              <a:t>Leads to loss functions (e.g., cross-entropy) used in </a:t>
            </a:r>
            <a:r>
              <a:rPr lang="en-US" sz="2800" b="1" dirty="0"/>
              <a:t>deep learning</a:t>
            </a:r>
            <a:r>
              <a:rPr lang="en-US" sz="2800" dirty="0"/>
              <a:t>.</a:t>
            </a:r>
          </a:p>
        </p:txBody>
      </p:sp>
      <p:pic>
        <p:nvPicPr>
          <p:cNvPr id="8" name="Picture 7">
            <a:extLst>
              <a:ext uri="{FF2B5EF4-FFF2-40B4-BE49-F238E27FC236}">
                <a16:creationId xmlns:a16="http://schemas.microsoft.com/office/drawing/2014/main" id="{78365162-9A7B-24DC-B790-C50C705FBE64}"/>
              </a:ext>
            </a:extLst>
          </p:cNvPr>
          <p:cNvPicPr>
            <a:picLocks noChangeAspect="1"/>
          </p:cNvPicPr>
          <p:nvPr/>
        </p:nvPicPr>
        <p:blipFill>
          <a:blip r:embed="rId2"/>
          <a:stretch>
            <a:fillRect/>
          </a:stretch>
        </p:blipFill>
        <p:spPr>
          <a:xfrm>
            <a:off x="2777218" y="2170861"/>
            <a:ext cx="6943725" cy="1530282"/>
          </a:xfrm>
          <a:prstGeom prst="rect">
            <a:avLst/>
          </a:prstGeom>
        </p:spPr>
      </p:pic>
    </p:spTree>
    <p:extLst>
      <p:ext uri="{BB962C8B-B14F-4D97-AF65-F5344CB8AC3E}">
        <p14:creationId xmlns:p14="http://schemas.microsoft.com/office/powerpoint/2010/main" val="27084227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D779C-B50F-7A4B-705E-D5FA34E1C4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78B2B8-512D-AB8D-373D-2B571605FE30}"/>
              </a:ext>
            </a:extLst>
          </p:cNvPr>
          <p:cNvPicPr>
            <a:picLocks noChangeAspect="1"/>
          </p:cNvPicPr>
          <p:nvPr/>
        </p:nvPicPr>
        <p:blipFill>
          <a:blip r:embed="rId2"/>
          <a:stretch>
            <a:fillRect/>
          </a:stretch>
        </p:blipFill>
        <p:spPr>
          <a:xfrm>
            <a:off x="661943" y="718457"/>
            <a:ext cx="11170827" cy="5094514"/>
          </a:xfrm>
          <a:prstGeom prst="rect">
            <a:avLst/>
          </a:prstGeom>
        </p:spPr>
      </p:pic>
    </p:spTree>
    <p:extLst>
      <p:ext uri="{BB962C8B-B14F-4D97-AF65-F5344CB8AC3E}">
        <p14:creationId xmlns:p14="http://schemas.microsoft.com/office/powerpoint/2010/main" val="2459535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0154-4696-7CD8-602B-7D71732BAE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8CE06FE-2462-319D-3346-07AC98F8D81E}"/>
              </a:ext>
            </a:extLst>
          </p:cNvPr>
          <p:cNvPicPr>
            <a:picLocks noChangeAspect="1"/>
          </p:cNvPicPr>
          <p:nvPr/>
        </p:nvPicPr>
        <p:blipFill>
          <a:blip r:embed="rId2"/>
          <a:stretch>
            <a:fillRect/>
          </a:stretch>
        </p:blipFill>
        <p:spPr>
          <a:xfrm>
            <a:off x="1338944" y="555171"/>
            <a:ext cx="9448800" cy="5599416"/>
          </a:xfrm>
          <a:prstGeom prst="rect">
            <a:avLst/>
          </a:prstGeom>
        </p:spPr>
      </p:pic>
    </p:spTree>
    <p:extLst>
      <p:ext uri="{BB962C8B-B14F-4D97-AF65-F5344CB8AC3E}">
        <p14:creationId xmlns:p14="http://schemas.microsoft.com/office/powerpoint/2010/main" val="30531401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6FE8D-9623-FDF6-AD7F-4CDAFCC704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EE19F6D-4A12-2DD1-26AD-C60ACABBC4D5}"/>
              </a:ext>
            </a:extLst>
          </p:cNvPr>
          <p:cNvPicPr>
            <a:picLocks noChangeAspect="1"/>
          </p:cNvPicPr>
          <p:nvPr/>
        </p:nvPicPr>
        <p:blipFill>
          <a:blip r:embed="rId2"/>
          <a:stretch>
            <a:fillRect/>
          </a:stretch>
        </p:blipFill>
        <p:spPr>
          <a:xfrm>
            <a:off x="696687" y="186489"/>
            <a:ext cx="11244168" cy="5778882"/>
          </a:xfrm>
          <a:prstGeom prst="rect">
            <a:avLst/>
          </a:prstGeom>
        </p:spPr>
      </p:pic>
    </p:spTree>
    <p:extLst>
      <p:ext uri="{BB962C8B-B14F-4D97-AF65-F5344CB8AC3E}">
        <p14:creationId xmlns:p14="http://schemas.microsoft.com/office/powerpoint/2010/main" val="12077189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0F907-01FE-4A7E-CB4E-0C20A62F703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FAB1F4-9C61-5B22-284C-ED964748F8E6}"/>
              </a:ext>
            </a:extLst>
          </p:cNvPr>
          <p:cNvPicPr>
            <a:picLocks noChangeAspect="1"/>
          </p:cNvPicPr>
          <p:nvPr/>
        </p:nvPicPr>
        <p:blipFill>
          <a:blip r:embed="rId2"/>
          <a:stretch>
            <a:fillRect/>
          </a:stretch>
        </p:blipFill>
        <p:spPr>
          <a:xfrm>
            <a:off x="505697" y="359229"/>
            <a:ext cx="11229103" cy="5170714"/>
          </a:xfrm>
          <a:prstGeom prst="rect">
            <a:avLst/>
          </a:prstGeom>
        </p:spPr>
      </p:pic>
    </p:spTree>
    <p:extLst>
      <p:ext uri="{BB962C8B-B14F-4D97-AF65-F5344CB8AC3E}">
        <p14:creationId xmlns:p14="http://schemas.microsoft.com/office/powerpoint/2010/main" val="27627490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237EB-D123-1AF1-A562-39A12EA770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D9C24CC-CAB3-74B4-D464-538F70CD0B89}"/>
              </a:ext>
            </a:extLst>
          </p:cNvPr>
          <p:cNvPicPr>
            <a:picLocks noChangeAspect="1"/>
          </p:cNvPicPr>
          <p:nvPr/>
        </p:nvPicPr>
        <p:blipFill>
          <a:blip r:embed="rId2"/>
          <a:stretch>
            <a:fillRect/>
          </a:stretch>
        </p:blipFill>
        <p:spPr>
          <a:xfrm>
            <a:off x="751115" y="1066800"/>
            <a:ext cx="11264434" cy="3955084"/>
          </a:xfrm>
          <a:prstGeom prst="rect">
            <a:avLst/>
          </a:prstGeom>
        </p:spPr>
      </p:pic>
    </p:spTree>
    <p:extLst>
      <p:ext uri="{BB962C8B-B14F-4D97-AF65-F5344CB8AC3E}">
        <p14:creationId xmlns:p14="http://schemas.microsoft.com/office/powerpoint/2010/main" val="15055457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F3CF3-641A-3518-B235-4C954E3445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21881B-2333-459D-A653-88A70DFA48F5}"/>
              </a:ext>
            </a:extLst>
          </p:cNvPr>
          <p:cNvPicPr>
            <a:picLocks noChangeAspect="1"/>
          </p:cNvPicPr>
          <p:nvPr/>
        </p:nvPicPr>
        <p:blipFill>
          <a:blip r:embed="rId2"/>
          <a:stretch>
            <a:fillRect/>
          </a:stretch>
        </p:blipFill>
        <p:spPr>
          <a:xfrm>
            <a:off x="521075" y="189607"/>
            <a:ext cx="11322582" cy="5372994"/>
          </a:xfrm>
          <a:prstGeom prst="rect">
            <a:avLst/>
          </a:prstGeom>
        </p:spPr>
      </p:pic>
    </p:spTree>
    <p:extLst>
      <p:ext uri="{BB962C8B-B14F-4D97-AF65-F5344CB8AC3E}">
        <p14:creationId xmlns:p14="http://schemas.microsoft.com/office/powerpoint/2010/main" val="33383430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A5B1-BA6D-E8FB-DC84-1206803BC0F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F5EBE6-0250-654C-0557-BFC539A2D0B4}"/>
              </a:ext>
            </a:extLst>
          </p:cNvPr>
          <p:cNvPicPr>
            <a:picLocks noChangeAspect="1"/>
          </p:cNvPicPr>
          <p:nvPr/>
        </p:nvPicPr>
        <p:blipFill>
          <a:blip r:embed="rId2"/>
          <a:stretch>
            <a:fillRect/>
          </a:stretch>
        </p:blipFill>
        <p:spPr>
          <a:xfrm>
            <a:off x="947744" y="489857"/>
            <a:ext cx="10604084" cy="4887685"/>
          </a:xfrm>
          <a:prstGeom prst="rect">
            <a:avLst/>
          </a:prstGeom>
        </p:spPr>
      </p:pic>
    </p:spTree>
    <p:extLst>
      <p:ext uri="{BB962C8B-B14F-4D97-AF65-F5344CB8AC3E}">
        <p14:creationId xmlns:p14="http://schemas.microsoft.com/office/powerpoint/2010/main" val="14277344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EBECD-C408-2D22-D874-A00DFEFC88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2920CB-20F9-A3FC-4295-DE3791105ED4}"/>
              </a:ext>
            </a:extLst>
          </p:cNvPr>
          <p:cNvPicPr>
            <a:picLocks noChangeAspect="1"/>
          </p:cNvPicPr>
          <p:nvPr/>
        </p:nvPicPr>
        <p:blipFill>
          <a:blip r:embed="rId2"/>
          <a:stretch>
            <a:fillRect/>
          </a:stretch>
        </p:blipFill>
        <p:spPr>
          <a:xfrm>
            <a:off x="952597" y="633411"/>
            <a:ext cx="9486803" cy="3154817"/>
          </a:xfrm>
          <a:prstGeom prst="rect">
            <a:avLst/>
          </a:prstGeom>
        </p:spPr>
      </p:pic>
    </p:spTree>
    <p:extLst>
      <p:ext uri="{BB962C8B-B14F-4D97-AF65-F5344CB8AC3E}">
        <p14:creationId xmlns:p14="http://schemas.microsoft.com/office/powerpoint/2010/main" val="27039919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962A6-4663-C311-EA56-1F03C854A2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522C52-51C0-4D2F-C2F9-50E466063833}"/>
              </a:ext>
            </a:extLst>
          </p:cNvPr>
          <p:cNvSpPr txBox="1"/>
          <p:nvPr/>
        </p:nvSpPr>
        <p:spPr>
          <a:xfrm>
            <a:off x="1295400" y="444865"/>
            <a:ext cx="10112829" cy="3970318"/>
          </a:xfrm>
          <a:prstGeom prst="rect">
            <a:avLst/>
          </a:prstGeom>
          <a:noFill/>
        </p:spPr>
        <p:txBody>
          <a:bodyPr wrap="square">
            <a:spAutoFit/>
          </a:bodyPr>
          <a:lstStyle/>
          <a:p>
            <a:pPr>
              <a:buNone/>
            </a:pPr>
            <a:r>
              <a:rPr lang="en-US" sz="3600" b="1" dirty="0"/>
              <a:t>MLE as an Optimization Problem (in OTML)</a:t>
            </a:r>
          </a:p>
          <a:p>
            <a:pPr>
              <a:buNone/>
            </a:pPr>
            <a:r>
              <a:rPr lang="en-US" sz="3600" dirty="0"/>
              <a:t>In OTML, MLE is interpreted as an optimization task:</a:t>
            </a:r>
          </a:p>
          <a:p>
            <a:pPr>
              <a:buNone/>
            </a:pPr>
            <a:endParaRPr lang="en-US" sz="3600" dirty="0"/>
          </a:p>
          <a:p>
            <a:pPr>
              <a:buNone/>
            </a:pPr>
            <a:endParaRPr lang="en-US" sz="3600" dirty="0"/>
          </a:p>
          <a:p>
            <a:pPr>
              <a:buFont typeface="Arial" panose="020B0604020202020204" pitchFamily="34" charset="0"/>
              <a:buChar char="•"/>
            </a:pPr>
            <a:r>
              <a:rPr lang="en-US" sz="3600" dirty="0"/>
              <a:t>Objective: </a:t>
            </a:r>
          </a:p>
          <a:p>
            <a:pPr marL="571500" indent="-571500" algn="ctr">
              <a:buFont typeface="Wingdings" panose="05000000000000000000" pitchFamily="2" charset="2"/>
              <a:buChar char="q"/>
            </a:pPr>
            <a:r>
              <a:rPr lang="en-US" sz="3600" b="1" dirty="0"/>
              <a:t>maximize log-likelihood </a:t>
            </a:r>
            <a:r>
              <a:rPr lang="en-US" sz="3600" dirty="0"/>
              <a:t>or</a:t>
            </a:r>
          </a:p>
          <a:p>
            <a:pPr marL="571500" indent="-571500" algn="ctr">
              <a:buFont typeface="Wingdings" panose="05000000000000000000" pitchFamily="2" charset="2"/>
              <a:buChar char="q"/>
            </a:pPr>
            <a:r>
              <a:rPr lang="en-US" sz="3600" dirty="0"/>
              <a:t> </a:t>
            </a:r>
            <a:r>
              <a:rPr lang="en-US" sz="3600" b="1" dirty="0"/>
              <a:t>minimize negative log-likelihood.</a:t>
            </a:r>
          </a:p>
        </p:txBody>
      </p:sp>
    </p:spTree>
    <p:extLst>
      <p:ext uri="{BB962C8B-B14F-4D97-AF65-F5344CB8AC3E}">
        <p14:creationId xmlns:p14="http://schemas.microsoft.com/office/powerpoint/2010/main" val="399431294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40595-DA27-57E1-ED60-1D4B9A048F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966F15-51FA-B089-5595-E44BA45CF287}"/>
              </a:ext>
            </a:extLst>
          </p:cNvPr>
          <p:cNvSpPr txBox="1"/>
          <p:nvPr/>
        </p:nvSpPr>
        <p:spPr>
          <a:xfrm>
            <a:off x="370114" y="468086"/>
            <a:ext cx="11310258" cy="5078313"/>
          </a:xfrm>
          <a:prstGeom prst="rect">
            <a:avLst/>
          </a:prstGeom>
          <a:noFill/>
        </p:spPr>
        <p:txBody>
          <a:bodyPr wrap="square">
            <a:spAutoFit/>
          </a:bodyPr>
          <a:lstStyle/>
          <a:p>
            <a:endParaRPr lang="en-US" sz="3600" dirty="0"/>
          </a:p>
          <a:p>
            <a:r>
              <a:rPr lang="en-US" sz="3600" dirty="0"/>
              <a:t>The resulting cost functions are used in training models like:</a:t>
            </a:r>
          </a:p>
          <a:p>
            <a:pPr marL="742950" lvl="1" indent="-285750">
              <a:buFont typeface="Arial" panose="020B0604020202020204" pitchFamily="34" charset="0"/>
              <a:buChar char="•"/>
            </a:pPr>
            <a:r>
              <a:rPr lang="en-US" sz="3600" b="1" dirty="0"/>
              <a:t>Logistic Regression</a:t>
            </a:r>
            <a:r>
              <a:rPr lang="en-US" sz="3600" dirty="0"/>
              <a:t> (cross-entropy loss)</a:t>
            </a:r>
          </a:p>
          <a:p>
            <a:pPr marL="742950" lvl="1" indent="-285750">
              <a:buFont typeface="Arial" panose="020B0604020202020204" pitchFamily="34" charset="0"/>
              <a:buChar char="•"/>
            </a:pPr>
            <a:r>
              <a:rPr lang="en-US" sz="3600" b="1" dirty="0"/>
              <a:t>Naive Bayes</a:t>
            </a:r>
            <a:endParaRPr lang="en-US" sz="3600" dirty="0"/>
          </a:p>
          <a:p>
            <a:pPr marL="742950" lvl="1" indent="-285750">
              <a:buFont typeface="Arial" panose="020B0604020202020204" pitchFamily="34" charset="0"/>
              <a:buChar char="•"/>
            </a:pPr>
            <a:r>
              <a:rPr lang="en-US" sz="3600" b="1" dirty="0"/>
              <a:t>Neural Networks</a:t>
            </a:r>
            <a:r>
              <a:rPr lang="en-US" sz="3600" dirty="0"/>
              <a:t> (via </a:t>
            </a:r>
            <a:r>
              <a:rPr lang="en-US" sz="3600" dirty="0" err="1"/>
              <a:t>softmax</a:t>
            </a:r>
            <a:r>
              <a:rPr lang="en-US" sz="3600" dirty="0"/>
              <a:t> and likelihood-based loss)</a:t>
            </a:r>
          </a:p>
          <a:p>
            <a:endParaRPr lang="en-US" sz="3600" dirty="0"/>
          </a:p>
          <a:p>
            <a:r>
              <a:rPr lang="en-US" sz="3600" b="1" dirty="0"/>
              <a:t>Thus, MLE provides the theoretical foundation for many machine learning loss function</a:t>
            </a:r>
          </a:p>
        </p:txBody>
      </p:sp>
    </p:spTree>
    <p:extLst>
      <p:ext uri="{BB962C8B-B14F-4D97-AF65-F5344CB8AC3E}">
        <p14:creationId xmlns:p14="http://schemas.microsoft.com/office/powerpoint/2010/main" val="422552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1DC8-0513-6CB2-A609-D29941E7DA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160BC8-74F0-382F-4A1B-5252C7DA6F41}"/>
              </a:ext>
            </a:extLst>
          </p:cNvPr>
          <p:cNvSpPr txBox="1"/>
          <p:nvPr/>
        </p:nvSpPr>
        <p:spPr>
          <a:xfrm>
            <a:off x="174172" y="197507"/>
            <a:ext cx="11702142" cy="1815882"/>
          </a:xfrm>
          <a:prstGeom prst="rect">
            <a:avLst/>
          </a:prstGeom>
          <a:noFill/>
        </p:spPr>
        <p:txBody>
          <a:bodyPr wrap="square">
            <a:spAutoFit/>
          </a:bodyPr>
          <a:lstStyle/>
          <a:p>
            <a:pPr>
              <a:buNone/>
            </a:pPr>
            <a:r>
              <a:rPr lang="en-US" sz="2800" b="1" dirty="0"/>
              <a:t>1.2 Least Squares Estimation (LSE)</a:t>
            </a:r>
          </a:p>
          <a:p>
            <a:pPr>
              <a:buNone/>
            </a:pPr>
            <a:r>
              <a:rPr lang="en-US" sz="2800" b="1" dirty="0"/>
              <a:t>Definition</a:t>
            </a:r>
            <a:r>
              <a:rPr lang="en-US" sz="2800" dirty="0"/>
              <a:t>:</a:t>
            </a:r>
            <a:br>
              <a:rPr lang="en-US" sz="2800" dirty="0"/>
            </a:br>
            <a:r>
              <a:rPr lang="en-US" sz="2800" dirty="0"/>
              <a:t>Minimizes the sum of squared differences between actual and predicted values.</a:t>
            </a:r>
          </a:p>
          <a:p>
            <a:r>
              <a:rPr lang="en-US" sz="2800" b="1" dirty="0"/>
              <a:t>Formula</a:t>
            </a:r>
            <a:r>
              <a:rPr lang="en-US" sz="2800" dirty="0"/>
              <a:t>:</a:t>
            </a:r>
          </a:p>
        </p:txBody>
      </p:sp>
      <p:sp>
        <p:nvSpPr>
          <p:cNvPr id="5" name="TextBox 4">
            <a:extLst>
              <a:ext uri="{FF2B5EF4-FFF2-40B4-BE49-F238E27FC236}">
                <a16:creationId xmlns:a16="http://schemas.microsoft.com/office/drawing/2014/main" id="{5AC56DC8-B7A0-6918-B986-207DF2F4F58D}"/>
              </a:ext>
            </a:extLst>
          </p:cNvPr>
          <p:cNvSpPr txBox="1"/>
          <p:nvPr/>
        </p:nvSpPr>
        <p:spPr>
          <a:xfrm>
            <a:off x="457200" y="4484914"/>
            <a:ext cx="11223172" cy="1815882"/>
          </a:xfrm>
          <a:prstGeom prst="rect">
            <a:avLst/>
          </a:prstGeom>
          <a:noFill/>
        </p:spPr>
        <p:txBody>
          <a:bodyPr wrap="square">
            <a:spAutoFit/>
          </a:bodyPr>
          <a:lstStyle/>
          <a:p>
            <a:pPr>
              <a:buNone/>
            </a:pPr>
            <a:r>
              <a:rPr lang="en-US" sz="2800" b="1" dirty="0"/>
              <a:t>Usage in OTML</a:t>
            </a:r>
            <a:r>
              <a:rPr lang="en-US" sz="2800" dirty="0"/>
              <a:t>:</a:t>
            </a:r>
          </a:p>
          <a:p>
            <a:pPr>
              <a:buFont typeface="Arial" panose="020B0604020202020204" pitchFamily="34" charset="0"/>
              <a:buChar char="•"/>
            </a:pPr>
            <a:r>
              <a:rPr lang="en-US" sz="2800" dirty="0"/>
              <a:t>Equivalent to MLE when the error is Gaussian.</a:t>
            </a:r>
          </a:p>
          <a:p>
            <a:pPr>
              <a:buFont typeface="Arial" panose="020B0604020202020204" pitchFamily="34" charset="0"/>
              <a:buChar char="•"/>
            </a:pPr>
            <a:r>
              <a:rPr lang="en-US" sz="2800" b="1" dirty="0"/>
              <a:t>Linear regression</a:t>
            </a:r>
            <a:r>
              <a:rPr lang="en-US" sz="2800" dirty="0"/>
              <a:t> and </a:t>
            </a:r>
            <a:r>
              <a:rPr lang="en-US" sz="2800" b="1" dirty="0"/>
              <a:t>curve fitting</a:t>
            </a:r>
            <a:r>
              <a:rPr lang="en-US" sz="2800" dirty="0"/>
              <a:t> problems.</a:t>
            </a:r>
          </a:p>
          <a:p>
            <a:pPr>
              <a:buFont typeface="Arial" panose="020B0604020202020204" pitchFamily="34" charset="0"/>
              <a:buChar char="•"/>
            </a:pPr>
            <a:r>
              <a:rPr lang="en-US" sz="2800" dirty="0"/>
              <a:t>Optimized using normal equations or gradient descent</a:t>
            </a:r>
          </a:p>
        </p:txBody>
      </p:sp>
      <p:pic>
        <p:nvPicPr>
          <p:cNvPr id="7" name="Picture 6">
            <a:extLst>
              <a:ext uri="{FF2B5EF4-FFF2-40B4-BE49-F238E27FC236}">
                <a16:creationId xmlns:a16="http://schemas.microsoft.com/office/drawing/2014/main" id="{0C67C753-5E85-9E80-6ADA-75EC15BE17C5}"/>
              </a:ext>
            </a:extLst>
          </p:cNvPr>
          <p:cNvPicPr>
            <a:picLocks noChangeAspect="1"/>
          </p:cNvPicPr>
          <p:nvPr/>
        </p:nvPicPr>
        <p:blipFill>
          <a:blip r:embed="rId2"/>
          <a:stretch>
            <a:fillRect/>
          </a:stretch>
        </p:blipFill>
        <p:spPr>
          <a:xfrm>
            <a:off x="1177290" y="2203354"/>
            <a:ext cx="9229452" cy="1617533"/>
          </a:xfrm>
          <a:prstGeom prst="rect">
            <a:avLst/>
          </a:prstGeom>
        </p:spPr>
      </p:pic>
    </p:spTree>
    <p:extLst>
      <p:ext uri="{BB962C8B-B14F-4D97-AF65-F5344CB8AC3E}">
        <p14:creationId xmlns:p14="http://schemas.microsoft.com/office/powerpoint/2010/main" val="215170198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16292-7E74-A96D-759E-D57CC6C584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11E62C-7EF8-0C36-13AC-E2A586E0D01C}"/>
              </a:ext>
            </a:extLst>
          </p:cNvPr>
          <p:cNvPicPr>
            <a:picLocks noChangeAspect="1"/>
          </p:cNvPicPr>
          <p:nvPr/>
        </p:nvPicPr>
        <p:blipFill>
          <a:blip r:embed="rId2"/>
          <a:stretch>
            <a:fillRect/>
          </a:stretch>
        </p:blipFill>
        <p:spPr>
          <a:xfrm>
            <a:off x="824593" y="968149"/>
            <a:ext cx="11419798" cy="3854222"/>
          </a:xfrm>
          <a:prstGeom prst="rect">
            <a:avLst/>
          </a:prstGeom>
        </p:spPr>
      </p:pic>
    </p:spTree>
    <p:extLst>
      <p:ext uri="{BB962C8B-B14F-4D97-AF65-F5344CB8AC3E}">
        <p14:creationId xmlns:p14="http://schemas.microsoft.com/office/powerpoint/2010/main" val="16393854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A5A2-4F34-55A0-86AA-78A13A2C27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D6B4302-0FB1-C99F-D274-0CE8C83D13A8}"/>
              </a:ext>
            </a:extLst>
          </p:cNvPr>
          <p:cNvPicPr>
            <a:picLocks noChangeAspect="1"/>
          </p:cNvPicPr>
          <p:nvPr/>
        </p:nvPicPr>
        <p:blipFill>
          <a:blip r:embed="rId2"/>
          <a:stretch>
            <a:fillRect/>
          </a:stretch>
        </p:blipFill>
        <p:spPr>
          <a:xfrm>
            <a:off x="489857" y="353291"/>
            <a:ext cx="10972800" cy="5927766"/>
          </a:xfrm>
          <a:prstGeom prst="rect">
            <a:avLst/>
          </a:prstGeom>
        </p:spPr>
      </p:pic>
    </p:spTree>
    <p:extLst>
      <p:ext uri="{BB962C8B-B14F-4D97-AF65-F5344CB8AC3E}">
        <p14:creationId xmlns:p14="http://schemas.microsoft.com/office/powerpoint/2010/main" val="39471633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AAA2F-0A86-C51E-F14E-4441EF491C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2BE2EB-EC4E-E350-85B1-C1F41343B87A}"/>
              </a:ext>
            </a:extLst>
          </p:cNvPr>
          <p:cNvSpPr txBox="1"/>
          <p:nvPr/>
        </p:nvSpPr>
        <p:spPr>
          <a:xfrm>
            <a:off x="348343" y="281579"/>
            <a:ext cx="10428514" cy="1384995"/>
          </a:xfrm>
          <a:prstGeom prst="rect">
            <a:avLst/>
          </a:prstGeom>
          <a:noFill/>
        </p:spPr>
        <p:txBody>
          <a:bodyPr wrap="square">
            <a:spAutoFit/>
          </a:bodyPr>
          <a:lstStyle/>
          <a:p>
            <a:pPr>
              <a:buNone/>
            </a:pPr>
            <a:r>
              <a:rPr lang="en-US" sz="2800" b="1" dirty="0"/>
              <a:t>1.3 Maximum A Posteriori Estimation (MAP)</a:t>
            </a:r>
          </a:p>
          <a:p>
            <a:r>
              <a:rPr lang="en-US" sz="2800" b="1" dirty="0"/>
              <a:t>Definition</a:t>
            </a:r>
            <a:r>
              <a:rPr lang="en-US" sz="2800" dirty="0"/>
              <a:t>:</a:t>
            </a:r>
            <a:br>
              <a:rPr lang="en-US" sz="2800" dirty="0"/>
            </a:br>
            <a:r>
              <a:rPr lang="en-US" sz="2800" dirty="0"/>
              <a:t>Extends MLE by incorporating </a:t>
            </a:r>
            <a:r>
              <a:rPr lang="en-US" sz="2800" b="1" dirty="0"/>
              <a:t>prior knowledge</a:t>
            </a:r>
            <a:r>
              <a:rPr lang="en-US" sz="2800" dirty="0"/>
              <a:t> of the parameter.</a:t>
            </a:r>
          </a:p>
        </p:txBody>
      </p:sp>
      <p:sp>
        <p:nvSpPr>
          <p:cNvPr id="5" name="TextBox 4">
            <a:extLst>
              <a:ext uri="{FF2B5EF4-FFF2-40B4-BE49-F238E27FC236}">
                <a16:creationId xmlns:a16="http://schemas.microsoft.com/office/drawing/2014/main" id="{1020AFEE-2CD0-316D-5C98-9CC424D06AF6}"/>
              </a:ext>
            </a:extLst>
          </p:cNvPr>
          <p:cNvSpPr txBox="1"/>
          <p:nvPr/>
        </p:nvSpPr>
        <p:spPr>
          <a:xfrm>
            <a:off x="337457" y="4475593"/>
            <a:ext cx="11517086" cy="2246769"/>
          </a:xfrm>
          <a:prstGeom prst="rect">
            <a:avLst/>
          </a:prstGeom>
          <a:noFill/>
        </p:spPr>
        <p:txBody>
          <a:bodyPr wrap="square">
            <a:spAutoFit/>
          </a:bodyPr>
          <a:lstStyle/>
          <a:p>
            <a:pPr>
              <a:buNone/>
            </a:pPr>
            <a:r>
              <a:rPr lang="en-US" sz="2800" b="1" dirty="0"/>
              <a:t>Usage in OTML</a:t>
            </a:r>
            <a:r>
              <a:rPr lang="en-US" sz="2800" dirty="0"/>
              <a:t>:</a:t>
            </a:r>
          </a:p>
          <a:p>
            <a:pPr>
              <a:buFont typeface="Arial" panose="020B0604020202020204" pitchFamily="34" charset="0"/>
              <a:buChar char="•"/>
            </a:pPr>
            <a:r>
              <a:rPr lang="en-US" sz="2800" dirty="0"/>
              <a:t>Used in </a:t>
            </a:r>
            <a:r>
              <a:rPr lang="en-US" sz="2800" b="1" dirty="0"/>
              <a:t>Bayesian machine learning</a:t>
            </a:r>
            <a:r>
              <a:rPr lang="en-US" sz="2800" dirty="0"/>
              <a:t>.</a:t>
            </a:r>
          </a:p>
          <a:p>
            <a:pPr>
              <a:buFont typeface="Arial" panose="020B0604020202020204" pitchFamily="34" charset="0"/>
              <a:buChar char="•"/>
            </a:pPr>
            <a:r>
              <a:rPr lang="en-US" sz="2800" dirty="0"/>
              <a:t>Helps in </a:t>
            </a:r>
            <a:r>
              <a:rPr lang="en-US" sz="2800" b="1" dirty="0"/>
              <a:t>regularization</a:t>
            </a:r>
            <a:r>
              <a:rPr lang="en-US" sz="2800" dirty="0"/>
              <a:t> (e.g., L2 in Ridge regression comes from Gaussian prior).</a:t>
            </a:r>
          </a:p>
          <a:p>
            <a:pPr>
              <a:buFont typeface="Arial" panose="020B0604020202020204" pitchFamily="34" charset="0"/>
              <a:buChar char="•"/>
            </a:pPr>
            <a:r>
              <a:rPr lang="en-US" sz="2800" dirty="0"/>
              <a:t>Penalizes complex models → reduces overfitting.</a:t>
            </a:r>
          </a:p>
        </p:txBody>
      </p:sp>
      <p:pic>
        <p:nvPicPr>
          <p:cNvPr id="7" name="Picture 6">
            <a:extLst>
              <a:ext uri="{FF2B5EF4-FFF2-40B4-BE49-F238E27FC236}">
                <a16:creationId xmlns:a16="http://schemas.microsoft.com/office/drawing/2014/main" id="{08A98BD5-457A-8D6E-9F5D-1CCA0CB9D033}"/>
              </a:ext>
            </a:extLst>
          </p:cNvPr>
          <p:cNvPicPr>
            <a:picLocks noChangeAspect="1"/>
          </p:cNvPicPr>
          <p:nvPr/>
        </p:nvPicPr>
        <p:blipFill>
          <a:blip r:embed="rId2"/>
          <a:stretch>
            <a:fillRect/>
          </a:stretch>
        </p:blipFill>
        <p:spPr>
          <a:xfrm>
            <a:off x="1620611" y="2002971"/>
            <a:ext cx="8307160" cy="1817915"/>
          </a:xfrm>
          <a:prstGeom prst="rect">
            <a:avLst/>
          </a:prstGeom>
        </p:spPr>
      </p:pic>
    </p:spTree>
    <p:extLst>
      <p:ext uri="{BB962C8B-B14F-4D97-AF65-F5344CB8AC3E}">
        <p14:creationId xmlns:p14="http://schemas.microsoft.com/office/powerpoint/2010/main" val="5108421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7A75-5A96-1690-1E0F-1D4E00E275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A6F8A44-F835-D222-E269-1EF0C04CF1DB}"/>
              </a:ext>
            </a:extLst>
          </p:cNvPr>
          <p:cNvSpPr txBox="1"/>
          <p:nvPr/>
        </p:nvSpPr>
        <p:spPr>
          <a:xfrm>
            <a:off x="130628" y="206830"/>
            <a:ext cx="11974286" cy="6186309"/>
          </a:xfrm>
          <a:prstGeom prst="rect">
            <a:avLst/>
          </a:prstGeom>
          <a:noFill/>
        </p:spPr>
        <p:txBody>
          <a:bodyPr wrap="square">
            <a:spAutoFit/>
          </a:bodyPr>
          <a:lstStyle/>
          <a:p>
            <a:r>
              <a:rPr lang="en-US" sz="3600" dirty="0"/>
              <a:t>4.</a:t>
            </a:r>
            <a:r>
              <a:rPr lang="en-US" sz="3600" b="1" dirty="0"/>
              <a:t>Gradient-based numerical estimation </a:t>
            </a:r>
            <a:r>
              <a:rPr lang="en-US" sz="3600" dirty="0"/>
              <a:t>involves </a:t>
            </a:r>
            <a:r>
              <a:rPr lang="en-US" sz="3600" b="1" dirty="0"/>
              <a:t>computing the gradient</a:t>
            </a:r>
            <a:r>
              <a:rPr lang="en-US" sz="3600" dirty="0"/>
              <a:t> (first derivative) of a cost function with respect to the parameters of the model and using this information to move towards the </a:t>
            </a:r>
            <a:r>
              <a:rPr lang="en-US" sz="3600" b="1" dirty="0">
                <a:highlight>
                  <a:srgbClr val="00FFFF"/>
                </a:highlight>
              </a:rPr>
              <a:t>minimum (or maximum</a:t>
            </a:r>
            <a:r>
              <a:rPr lang="en-US" sz="3600" dirty="0"/>
              <a:t>) of the function.</a:t>
            </a:r>
          </a:p>
          <a:p>
            <a:r>
              <a:rPr lang="en-US" sz="3600" b="1" dirty="0"/>
              <a:t>Use in OTML:</a:t>
            </a:r>
          </a:p>
          <a:p>
            <a:pPr marL="571500" indent="-571500">
              <a:buFont typeface="Wingdings" panose="05000000000000000000" pitchFamily="2" charset="2"/>
              <a:buChar char="Ø"/>
            </a:pPr>
            <a:r>
              <a:rPr lang="en-US" sz="3600" dirty="0"/>
              <a:t>To optimize model parameters (e.g., weights in linear regression, neural networks).</a:t>
            </a:r>
          </a:p>
          <a:p>
            <a:pPr marL="571500" indent="-571500">
              <a:buFont typeface="Wingdings" panose="05000000000000000000" pitchFamily="2" charset="2"/>
              <a:buChar char="Ø"/>
            </a:pPr>
            <a:r>
              <a:rPr lang="en-US" sz="3600" dirty="0"/>
              <a:t>To minimize loss functions like MSE, Cross Entropy.</a:t>
            </a:r>
          </a:p>
          <a:p>
            <a:pPr marL="571500" indent="-571500">
              <a:buFont typeface="Wingdings" panose="05000000000000000000" pitchFamily="2" charset="2"/>
              <a:buChar char="Ø"/>
            </a:pPr>
            <a:r>
              <a:rPr lang="en-US" sz="3600" dirty="0"/>
              <a:t>To improve learning efficiency compared to brute-force or grid search methods.</a:t>
            </a:r>
          </a:p>
          <a:p>
            <a:endParaRPr lang="en-IN" sz="3600" dirty="0"/>
          </a:p>
        </p:txBody>
      </p:sp>
    </p:spTree>
    <p:extLst>
      <p:ext uri="{BB962C8B-B14F-4D97-AF65-F5344CB8AC3E}">
        <p14:creationId xmlns:p14="http://schemas.microsoft.com/office/powerpoint/2010/main" val="26685835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1B6B6-F055-DE2A-01EA-AF832C2712F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A079FC-A809-2035-02A1-9FFEAC60AD39}"/>
              </a:ext>
            </a:extLst>
          </p:cNvPr>
          <p:cNvPicPr>
            <a:picLocks noChangeAspect="1"/>
          </p:cNvPicPr>
          <p:nvPr/>
        </p:nvPicPr>
        <p:blipFill>
          <a:blip r:embed="rId2"/>
          <a:stretch>
            <a:fillRect/>
          </a:stretch>
        </p:blipFill>
        <p:spPr>
          <a:xfrm>
            <a:off x="816430" y="457200"/>
            <a:ext cx="10798628" cy="5828470"/>
          </a:xfrm>
          <a:prstGeom prst="rect">
            <a:avLst/>
          </a:prstGeom>
        </p:spPr>
      </p:pic>
    </p:spTree>
    <p:extLst>
      <p:ext uri="{BB962C8B-B14F-4D97-AF65-F5344CB8AC3E}">
        <p14:creationId xmlns:p14="http://schemas.microsoft.com/office/powerpoint/2010/main" val="20790285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5A76F-40B0-AB31-1B0A-2D03E122964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5435BAA-8542-EDEB-C66A-00C5867B1281}"/>
              </a:ext>
            </a:extLst>
          </p:cNvPr>
          <p:cNvPicPr>
            <a:picLocks noChangeAspect="1"/>
          </p:cNvPicPr>
          <p:nvPr/>
        </p:nvPicPr>
        <p:blipFill>
          <a:blip r:embed="rId2"/>
          <a:stretch>
            <a:fillRect/>
          </a:stretch>
        </p:blipFill>
        <p:spPr>
          <a:xfrm>
            <a:off x="914400" y="304800"/>
            <a:ext cx="9568543" cy="1981200"/>
          </a:xfrm>
          <a:prstGeom prst="rect">
            <a:avLst/>
          </a:prstGeom>
        </p:spPr>
      </p:pic>
      <p:pic>
        <p:nvPicPr>
          <p:cNvPr id="10" name="Picture 9">
            <a:extLst>
              <a:ext uri="{FF2B5EF4-FFF2-40B4-BE49-F238E27FC236}">
                <a16:creationId xmlns:a16="http://schemas.microsoft.com/office/drawing/2014/main" id="{F7E14A4D-F8F7-8014-C214-0603DBA8B144}"/>
              </a:ext>
            </a:extLst>
          </p:cNvPr>
          <p:cNvPicPr>
            <a:picLocks noChangeAspect="1"/>
          </p:cNvPicPr>
          <p:nvPr/>
        </p:nvPicPr>
        <p:blipFill>
          <a:blip r:embed="rId3"/>
          <a:stretch>
            <a:fillRect/>
          </a:stretch>
        </p:blipFill>
        <p:spPr>
          <a:xfrm>
            <a:off x="1179739" y="2864304"/>
            <a:ext cx="9237890" cy="2457450"/>
          </a:xfrm>
          <a:prstGeom prst="rect">
            <a:avLst/>
          </a:prstGeom>
        </p:spPr>
      </p:pic>
    </p:spTree>
    <p:extLst>
      <p:ext uri="{BB962C8B-B14F-4D97-AF65-F5344CB8AC3E}">
        <p14:creationId xmlns:p14="http://schemas.microsoft.com/office/powerpoint/2010/main" val="276039484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64C2-AC36-83F6-6C19-B14072FD72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FC962C-0326-AF8E-1472-B3E0510182AD}"/>
              </a:ext>
            </a:extLst>
          </p:cNvPr>
          <p:cNvPicPr>
            <a:picLocks noChangeAspect="1"/>
          </p:cNvPicPr>
          <p:nvPr/>
        </p:nvPicPr>
        <p:blipFill>
          <a:blip r:embed="rId2"/>
          <a:stretch>
            <a:fillRect/>
          </a:stretch>
        </p:blipFill>
        <p:spPr>
          <a:xfrm>
            <a:off x="1240971" y="411616"/>
            <a:ext cx="9492343" cy="2505755"/>
          </a:xfrm>
          <a:prstGeom prst="rect">
            <a:avLst/>
          </a:prstGeom>
        </p:spPr>
      </p:pic>
      <p:pic>
        <p:nvPicPr>
          <p:cNvPr id="6" name="Picture 5">
            <a:extLst>
              <a:ext uri="{FF2B5EF4-FFF2-40B4-BE49-F238E27FC236}">
                <a16:creationId xmlns:a16="http://schemas.microsoft.com/office/drawing/2014/main" id="{44EB9C92-1659-9A85-5648-27F545B6D161}"/>
              </a:ext>
            </a:extLst>
          </p:cNvPr>
          <p:cNvPicPr>
            <a:picLocks noChangeAspect="1"/>
          </p:cNvPicPr>
          <p:nvPr/>
        </p:nvPicPr>
        <p:blipFill>
          <a:blip r:embed="rId3"/>
          <a:stretch>
            <a:fillRect/>
          </a:stretch>
        </p:blipFill>
        <p:spPr>
          <a:xfrm>
            <a:off x="2720341" y="2857500"/>
            <a:ext cx="6777990" cy="3280410"/>
          </a:xfrm>
          <a:prstGeom prst="rect">
            <a:avLst/>
          </a:prstGeom>
        </p:spPr>
      </p:pic>
    </p:spTree>
    <p:extLst>
      <p:ext uri="{BB962C8B-B14F-4D97-AF65-F5344CB8AC3E}">
        <p14:creationId xmlns:p14="http://schemas.microsoft.com/office/powerpoint/2010/main" val="21395759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492B4-9B40-341F-EBEB-2DAF1BB560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D62FF1-A917-8D8B-E036-16F826B72C64}"/>
              </a:ext>
            </a:extLst>
          </p:cNvPr>
          <p:cNvPicPr>
            <a:picLocks noChangeAspect="1"/>
          </p:cNvPicPr>
          <p:nvPr/>
        </p:nvPicPr>
        <p:blipFill>
          <a:blip r:embed="rId2"/>
          <a:stretch>
            <a:fillRect/>
          </a:stretch>
        </p:blipFill>
        <p:spPr>
          <a:xfrm>
            <a:off x="1221921" y="716416"/>
            <a:ext cx="9315449" cy="3126241"/>
          </a:xfrm>
          <a:prstGeom prst="rect">
            <a:avLst/>
          </a:prstGeom>
        </p:spPr>
      </p:pic>
    </p:spTree>
    <p:extLst>
      <p:ext uri="{BB962C8B-B14F-4D97-AF65-F5344CB8AC3E}">
        <p14:creationId xmlns:p14="http://schemas.microsoft.com/office/powerpoint/2010/main" val="3284824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39BC-AED2-FC21-AE86-B43AD55018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8F9D73-4F16-1402-DE86-031F992874FC}"/>
              </a:ext>
            </a:extLst>
          </p:cNvPr>
          <p:cNvPicPr>
            <a:picLocks noChangeAspect="1"/>
          </p:cNvPicPr>
          <p:nvPr/>
        </p:nvPicPr>
        <p:blipFill>
          <a:blip r:embed="rId2"/>
          <a:stretch>
            <a:fillRect/>
          </a:stretch>
        </p:blipFill>
        <p:spPr>
          <a:xfrm>
            <a:off x="1240972" y="823231"/>
            <a:ext cx="9557656" cy="3295650"/>
          </a:xfrm>
          <a:prstGeom prst="rect">
            <a:avLst/>
          </a:prstGeom>
        </p:spPr>
      </p:pic>
    </p:spTree>
    <p:extLst>
      <p:ext uri="{BB962C8B-B14F-4D97-AF65-F5344CB8AC3E}">
        <p14:creationId xmlns:p14="http://schemas.microsoft.com/office/powerpoint/2010/main" val="25024993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208F-393D-8F46-3A80-26D637F1A4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3556E9-5F87-C233-BD2C-663CA7878F11}"/>
              </a:ext>
            </a:extLst>
          </p:cNvPr>
          <p:cNvPicPr>
            <a:picLocks noChangeAspect="1"/>
          </p:cNvPicPr>
          <p:nvPr/>
        </p:nvPicPr>
        <p:blipFill>
          <a:blip r:embed="rId2"/>
          <a:stretch>
            <a:fillRect/>
          </a:stretch>
        </p:blipFill>
        <p:spPr>
          <a:xfrm>
            <a:off x="1211035" y="1034143"/>
            <a:ext cx="9718221" cy="3322864"/>
          </a:xfrm>
          <a:prstGeom prst="rect">
            <a:avLst/>
          </a:prstGeom>
        </p:spPr>
      </p:pic>
    </p:spTree>
    <p:extLst>
      <p:ext uri="{BB962C8B-B14F-4D97-AF65-F5344CB8AC3E}">
        <p14:creationId xmlns:p14="http://schemas.microsoft.com/office/powerpoint/2010/main" val="36471108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FCA72-0771-0C93-BE41-4EEC760A9F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C82B34-249C-3008-46A8-924BC70E6590}"/>
              </a:ext>
            </a:extLst>
          </p:cNvPr>
          <p:cNvPicPr>
            <a:picLocks noChangeAspect="1"/>
          </p:cNvPicPr>
          <p:nvPr/>
        </p:nvPicPr>
        <p:blipFill>
          <a:blip r:embed="rId2"/>
          <a:stretch>
            <a:fillRect/>
          </a:stretch>
        </p:blipFill>
        <p:spPr>
          <a:xfrm>
            <a:off x="1461194" y="374284"/>
            <a:ext cx="9754478" cy="5192126"/>
          </a:xfrm>
          <a:prstGeom prst="rect">
            <a:avLst/>
          </a:prstGeom>
        </p:spPr>
      </p:pic>
    </p:spTree>
    <p:extLst>
      <p:ext uri="{BB962C8B-B14F-4D97-AF65-F5344CB8AC3E}">
        <p14:creationId xmlns:p14="http://schemas.microsoft.com/office/powerpoint/2010/main" val="428990484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F7A23-566B-3E66-C398-4B8D10E4C4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E2EAFE-24E3-F716-AA2B-747997AC752C}"/>
              </a:ext>
            </a:extLst>
          </p:cNvPr>
          <p:cNvSpPr txBox="1"/>
          <p:nvPr/>
        </p:nvSpPr>
        <p:spPr>
          <a:xfrm>
            <a:off x="152400" y="0"/>
            <a:ext cx="11876314" cy="6767718"/>
          </a:xfrm>
          <a:prstGeom prst="rect">
            <a:avLst/>
          </a:prstGeom>
          <a:noFill/>
        </p:spPr>
        <p:txBody>
          <a:bodyPr wrap="square">
            <a:spAutoFit/>
          </a:bodyPr>
          <a:lstStyle/>
          <a:p>
            <a:pPr algn="ctr">
              <a:buNone/>
            </a:pPr>
            <a:r>
              <a:rPr lang="en-US" sz="4200" b="1" dirty="0">
                <a:highlight>
                  <a:srgbClr val="FF0000"/>
                </a:highlight>
              </a:rPr>
              <a:t>Class Exercise: to be attempted by all</a:t>
            </a:r>
            <a:endParaRPr lang="en-US" sz="4200" dirty="0">
              <a:highlight>
                <a:srgbClr val="FF0000"/>
              </a:highlight>
            </a:endParaRPr>
          </a:p>
          <a:p>
            <a:pPr>
              <a:buNone/>
            </a:pPr>
            <a:r>
              <a:rPr lang="en-US" sz="2400" dirty="0"/>
              <a:t>You are given a simple linear model of the form:</a:t>
            </a:r>
          </a:p>
          <a:p>
            <a:pPr>
              <a:buNone/>
            </a:pPr>
            <a:r>
              <a:rPr lang="en-US" sz="2400" dirty="0"/>
              <a:t>  ŷ = θ × x</a:t>
            </a:r>
          </a:p>
          <a:p>
            <a:pPr>
              <a:buNone/>
            </a:pPr>
            <a:r>
              <a:rPr lang="en-US" sz="2400" dirty="0"/>
              <a:t>Use gradient descent to estimate the value of θ for the following dataset:</a:t>
            </a:r>
          </a:p>
          <a:p>
            <a:pPr>
              <a:buNone/>
            </a:pPr>
            <a:r>
              <a:rPr lang="en-US" sz="2400" dirty="0"/>
              <a:t>x = [1, 2, 3]</a:t>
            </a:r>
            <a:br>
              <a:rPr lang="en-US" sz="2400" dirty="0"/>
            </a:br>
            <a:r>
              <a:rPr lang="en-US" sz="2400" dirty="0"/>
              <a:t>y = [3, 6, 9]</a:t>
            </a:r>
          </a:p>
          <a:p>
            <a:pPr>
              <a:buNone/>
            </a:pPr>
            <a:r>
              <a:rPr lang="en-US" sz="2400" dirty="0"/>
              <a:t>Answer the following:</a:t>
            </a:r>
          </a:p>
          <a:p>
            <a:pPr>
              <a:buFont typeface="+mj-lt"/>
              <a:buAutoNum type="arabicPeriod"/>
            </a:pPr>
            <a:r>
              <a:rPr lang="en-US" sz="2400" dirty="0"/>
              <a:t>Write the expression for the cost function J(θ) using mean squared error.</a:t>
            </a:r>
          </a:p>
          <a:p>
            <a:pPr>
              <a:buFont typeface="+mj-lt"/>
              <a:buAutoNum type="arabicPeriod"/>
            </a:pPr>
            <a:r>
              <a:rPr lang="en-US" sz="2400" dirty="0"/>
              <a:t>Derive the gradient of the cost function with respect to θ.</a:t>
            </a:r>
          </a:p>
          <a:p>
            <a:pPr>
              <a:buFont typeface="+mj-lt"/>
              <a:buAutoNum type="arabicPeriod"/>
            </a:pPr>
            <a:r>
              <a:rPr lang="en-US" sz="2400" dirty="0"/>
              <a:t>Using the following parameters:</a:t>
            </a:r>
            <a:br>
              <a:rPr lang="en-US" sz="2400" dirty="0"/>
            </a:br>
            <a:r>
              <a:rPr lang="en-US" sz="2400" dirty="0"/>
              <a:t>  Initial θ = 0</a:t>
            </a:r>
            <a:br>
              <a:rPr lang="en-US" sz="2400" dirty="0"/>
            </a:br>
            <a:r>
              <a:rPr lang="en-US" sz="2400" dirty="0"/>
              <a:t>  Learning rate η = 0.1</a:t>
            </a:r>
            <a:br>
              <a:rPr lang="en-US" sz="2400" dirty="0"/>
            </a:br>
            <a:r>
              <a:rPr lang="en-US" sz="2400" dirty="0"/>
              <a:t>  Number of iterations = 2</a:t>
            </a:r>
            <a:br>
              <a:rPr lang="en-US" sz="2400" dirty="0"/>
            </a:br>
            <a:r>
              <a:rPr lang="en-US" sz="2400" dirty="0"/>
              <a:t>Perform gradient descent to update θ.</a:t>
            </a:r>
          </a:p>
          <a:p>
            <a:pPr>
              <a:buFont typeface="+mj-lt"/>
              <a:buAutoNum type="arabicPeriod"/>
            </a:pPr>
            <a:r>
              <a:rPr lang="en-US" sz="2400" dirty="0"/>
              <a:t>Show all calculations for Iteration 1:</a:t>
            </a:r>
            <a:br>
              <a:rPr lang="en-US" sz="2400" dirty="0"/>
            </a:br>
            <a:r>
              <a:rPr lang="en-US" sz="2400" dirty="0"/>
              <a:t> a. Compute the gradient at θ = 0</a:t>
            </a:r>
            <a:br>
              <a:rPr lang="en-US" sz="2400" dirty="0"/>
            </a:br>
            <a:r>
              <a:rPr lang="en-US" sz="2400" dirty="0"/>
              <a:t> b. Compute the updated θ after the first iteration</a:t>
            </a:r>
          </a:p>
        </p:txBody>
      </p:sp>
    </p:spTree>
    <p:extLst>
      <p:ext uri="{BB962C8B-B14F-4D97-AF65-F5344CB8AC3E}">
        <p14:creationId xmlns:p14="http://schemas.microsoft.com/office/powerpoint/2010/main" val="27998847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FB8D2-A66E-F0ED-964E-C34F3ECF6A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4D6BC1C-27A0-FED0-3287-428B60C27A5C}"/>
              </a:ext>
            </a:extLst>
          </p:cNvPr>
          <p:cNvSpPr txBox="1"/>
          <p:nvPr/>
        </p:nvSpPr>
        <p:spPr>
          <a:xfrm>
            <a:off x="130630" y="108857"/>
            <a:ext cx="11887200" cy="5170646"/>
          </a:xfrm>
          <a:prstGeom prst="rect">
            <a:avLst/>
          </a:prstGeom>
          <a:noFill/>
        </p:spPr>
        <p:txBody>
          <a:bodyPr wrap="square">
            <a:spAutoFit/>
          </a:bodyPr>
          <a:lstStyle/>
          <a:p>
            <a:pPr algn="ctr"/>
            <a:r>
              <a:rPr lang="en-US" sz="4200" b="1" dirty="0">
                <a:highlight>
                  <a:srgbClr val="00FF00"/>
                </a:highlight>
              </a:rPr>
              <a:t>Class Exercise Solution Hints : to be attempted by all</a:t>
            </a:r>
            <a:endParaRPr lang="en-US" sz="4200" dirty="0">
              <a:highlight>
                <a:srgbClr val="00FF00"/>
              </a:highlight>
            </a:endParaRPr>
          </a:p>
          <a:p>
            <a:pPr>
              <a:buNone/>
            </a:pPr>
            <a:r>
              <a:rPr lang="en-US" sz="3600" b="1" dirty="0"/>
              <a:t>Q1 Hint: </a:t>
            </a:r>
            <a:r>
              <a:rPr lang="en-US" sz="3600" dirty="0"/>
              <a:t>Use the average of squared differences between actual and predicted values.</a:t>
            </a:r>
          </a:p>
          <a:p>
            <a:pPr>
              <a:buNone/>
            </a:pPr>
            <a:r>
              <a:rPr lang="en-US" sz="3600" b="1" dirty="0"/>
              <a:t>Q2 Hint: </a:t>
            </a:r>
            <a:r>
              <a:rPr lang="en-US" sz="3600" dirty="0"/>
              <a:t>Differentiate the cost function with respect to θ using the chain rule.</a:t>
            </a:r>
          </a:p>
          <a:p>
            <a:pPr>
              <a:buNone/>
            </a:pPr>
            <a:r>
              <a:rPr lang="en-US" sz="3600" b="1" dirty="0"/>
              <a:t>Q3 Hint: </a:t>
            </a:r>
            <a:r>
              <a:rPr lang="en-US" sz="3600" dirty="0"/>
              <a:t>Plug θ=0 into the gradient and update using the learning rate.</a:t>
            </a:r>
          </a:p>
          <a:p>
            <a:r>
              <a:rPr lang="en-US" sz="3600" b="1" dirty="0"/>
              <a:t>Q4 Hint: </a:t>
            </a:r>
            <a:r>
              <a:rPr lang="en-US" sz="3600" dirty="0"/>
              <a:t>Use the new θ to recalculate gradient and apply the same update rule again</a:t>
            </a:r>
            <a:r>
              <a:rPr lang="en-US" sz="2800" dirty="0"/>
              <a:t>.</a:t>
            </a:r>
          </a:p>
        </p:txBody>
      </p:sp>
    </p:spTree>
    <p:extLst>
      <p:ext uri="{BB962C8B-B14F-4D97-AF65-F5344CB8AC3E}">
        <p14:creationId xmlns:p14="http://schemas.microsoft.com/office/powerpoint/2010/main" val="305933746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EFB9-3479-C638-172C-9CD741DCF1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C0A68B-BA0A-097B-E89D-D99DB3A9EFA8}"/>
              </a:ext>
            </a:extLst>
          </p:cNvPr>
          <p:cNvSpPr txBox="1"/>
          <p:nvPr/>
        </p:nvSpPr>
        <p:spPr>
          <a:xfrm>
            <a:off x="108856" y="163286"/>
            <a:ext cx="12083144" cy="6401753"/>
          </a:xfrm>
          <a:prstGeom prst="rect">
            <a:avLst/>
          </a:prstGeom>
          <a:noFill/>
        </p:spPr>
        <p:txBody>
          <a:bodyPr wrap="square">
            <a:spAutoFit/>
          </a:bodyPr>
          <a:lstStyle/>
          <a:p>
            <a:pPr>
              <a:buNone/>
            </a:pPr>
            <a:r>
              <a:rPr lang="en-US" sz="3800" b="1" dirty="0"/>
              <a:t>Interval Estimation (Frequentist &amp; Bayesian)</a:t>
            </a:r>
          </a:p>
          <a:p>
            <a:pPr>
              <a:buNone/>
            </a:pPr>
            <a:r>
              <a:rPr lang="en-US" sz="3800" b="1" dirty="0"/>
              <a:t>                                               What is it?</a:t>
            </a:r>
          </a:p>
          <a:p>
            <a:r>
              <a:rPr lang="en-US" sz="3800" b="1" dirty="0"/>
              <a:t>Provides a range of values (interval) along with a confidence level (frequentist) or probability (Bayesian) that the true parameter lies within this range.</a:t>
            </a:r>
          </a:p>
          <a:p>
            <a:pPr algn="ctr"/>
            <a:r>
              <a:rPr lang="en-US" sz="3800" b="1" dirty="0"/>
              <a:t>Or</a:t>
            </a:r>
          </a:p>
          <a:p>
            <a:r>
              <a:rPr lang="en-US" sz="3600" b="1" dirty="0">
                <a:solidFill>
                  <a:schemeClr val="accent1"/>
                </a:solidFill>
              </a:rPr>
              <a:t>Interval Estimation refers to the process of estimating an unknown population parameter using a range (interval) of values, along with an associated level of confidence or probability.</a:t>
            </a:r>
          </a:p>
          <a:p>
            <a:endParaRPr lang="en-US" sz="3800" b="1" dirty="0"/>
          </a:p>
        </p:txBody>
      </p:sp>
    </p:spTree>
    <p:extLst>
      <p:ext uri="{BB962C8B-B14F-4D97-AF65-F5344CB8AC3E}">
        <p14:creationId xmlns:p14="http://schemas.microsoft.com/office/powerpoint/2010/main" val="33705155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8304-81D1-ED21-1239-CF752040436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30228DC-A287-99E4-919C-BF896ED1D6D2}"/>
              </a:ext>
            </a:extLst>
          </p:cNvPr>
          <p:cNvPicPr>
            <a:picLocks noChangeAspect="1"/>
          </p:cNvPicPr>
          <p:nvPr/>
        </p:nvPicPr>
        <p:blipFill>
          <a:blip r:embed="rId2"/>
          <a:stretch>
            <a:fillRect/>
          </a:stretch>
        </p:blipFill>
        <p:spPr>
          <a:xfrm>
            <a:off x="78527" y="228599"/>
            <a:ext cx="11992367" cy="6346372"/>
          </a:xfrm>
          <a:prstGeom prst="rect">
            <a:avLst/>
          </a:prstGeom>
        </p:spPr>
      </p:pic>
    </p:spTree>
    <p:extLst>
      <p:ext uri="{BB962C8B-B14F-4D97-AF65-F5344CB8AC3E}">
        <p14:creationId xmlns:p14="http://schemas.microsoft.com/office/powerpoint/2010/main" val="20341715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C9731-C2B3-95A7-F7EC-D308EC85C5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28105A3-C948-0FDF-85D2-DA10E89CFD73}"/>
              </a:ext>
            </a:extLst>
          </p:cNvPr>
          <p:cNvPicPr>
            <a:picLocks noChangeAspect="1"/>
          </p:cNvPicPr>
          <p:nvPr/>
        </p:nvPicPr>
        <p:blipFill>
          <a:blip r:embed="rId2"/>
          <a:stretch>
            <a:fillRect/>
          </a:stretch>
        </p:blipFill>
        <p:spPr>
          <a:xfrm>
            <a:off x="239485" y="130629"/>
            <a:ext cx="11825978" cy="6569049"/>
          </a:xfrm>
          <a:prstGeom prst="rect">
            <a:avLst/>
          </a:prstGeom>
        </p:spPr>
      </p:pic>
    </p:spTree>
    <p:extLst>
      <p:ext uri="{BB962C8B-B14F-4D97-AF65-F5344CB8AC3E}">
        <p14:creationId xmlns:p14="http://schemas.microsoft.com/office/powerpoint/2010/main" val="25898300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32091-5D0C-08D7-8BA6-FE09EA48FA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F2C9ED-D7EF-4A0E-7C8C-C6278ACCEBF4}"/>
              </a:ext>
            </a:extLst>
          </p:cNvPr>
          <p:cNvPicPr>
            <a:picLocks noChangeAspect="1"/>
          </p:cNvPicPr>
          <p:nvPr/>
        </p:nvPicPr>
        <p:blipFill>
          <a:blip r:embed="rId2"/>
          <a:stretch>
            <a:fillRect/>
          </a:stretch>
        </p:blipFill>
        <p:spPr>
          <a:xfrm>
            <a:off x="529589" y="728254"/>
            <a:ext cx="11265635" cy="5443946"/>
          </a:xfrm>
          <a:prstGeom prst="rect">
            <a:avLst/>
          </a:prstGeom>
        </p:spPr>
      </p:pic>
      <p:sp>
        <p:nvSpPr>
          <p:cNvPr id="5" name="TextBox 4">
            <a:extLst>
              <a:ext uri="{FF2B5EF4-FFF2-40B4-BE49-F238E27FC236}">
                <a16:creationId xmlns:a16="http://schemas.microsoft.com/office/drawing/2014/main" id="{F6D1E566-9BFE-D3C7-FF54-039FE74CAC74}"/>
              </a:ext>
            </a:extLst>
          </p:cNvPr>
          <p:cNvSpPr txBox="1"/>
          <p:nvPr/>
        </p:nvSpPr>
        <p:spPr>
          <a:xfrm>
            <a:off x="448492" y="125730"/>
            <a:ext cx="11517085" cy="615553"/>
          </a:xfrm>
          <a:prstGeom prst="rect">
            <a:avLst/>
          </a:prstGeom>
          <a:noFill/>
        </p:spPr>
        <p:txBody>
          <a:bodyPr wrap="square">
            <a:spAutoFit/>
          </a:bodyPr>
          <a:lstStyle/>
          <a:p>
            <a:r>
              <a:rPr lang="en-US" sz="3400" b="1" dirty="0"/>
              <a:t>Application in Optimization Techniques in Machine Learning</a:t>
            </a:r>
            <a:endParaRPr lang="en-IN" sz="3400" b="1" dirty="0"/>
          </a:p>
        </p:txBody>
      </p:sp>
    </p:spTree>
    <p:extLst>
      <p:ext uri="{BB962C8B-B14F-4D97-AF65-F5344CB8AC3E}">
        <p14:creationId xmlns:p14="http://schemas.microsoft.com/office/powerpoint/2010/main" val="80188922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AD5A8-B5EA-F529-F432-58F00CE0E1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ACBD12-49D2-D0E5-A671-F496B9FEE251}"/>
              </a:ext>
            </a:extLst>
          </p:cNvPr>
          <p:cNvSpPr txBox="1"/>
          <p:nvPr/>
        </p:nvSpPr>
        <p:spPr>
          <a:xfrm>
            <a:off x="331471" y="1476648"/>
            <a:ext cx="11750039" cy="3108543"/>
          </a:xfrm>
          <a:prstGeom prst="rect">
            <a:avLst/>
          </a:prstGeom>
          <a:noFill/>
        </p:spPr>
        <p:txBody>
          <a:bodyPr wrap="square">
            <a:spAutoFit/>
          </a:bodyPr>
          <a:lstStyle/>
          <a:p>
            <a:pPr algn="just">
              <a:buNone/>
            </a:pPr>
            <a:r>
              <a:rPr lang="en-US" sz="4000" dirty="0"/>
              <a:t>A </a:t>
            </a:r>
            <a:r>
              <a:rPr lang="en-US" sz="4000" b="1" dirty="0">
                <a:highlight>
                  <a:srgbClr val="00FF00"/>
                </a:highlight>
              </a:rPr>
              <a:t>confidence interval</a:t>
            </a:r>
            <a:r>
              <a:rPr lang="en-US" sz="4000" dirty="0">
                <a:highlight>
                  <a:srgbClr val="00FF00"/>
                </a:highlight>
              </a:rPr>
              <a:t>  </a:t>
            </a:r>
          </a:p>
          <a:p>
            <a:pPr>
              <a:buNone/>
            </a:pPr>
            <a:r>
              <a:rPr lang="en-US" sz="4000" dirty="0"/>
              <a:t>provides a range of values which is likely to contain the </a:t>
            </a:r>
            <a:r>
              <a:rPr lang="en-US" sz="4000" b="1" dirty="0"/>
              <a:t>true value</a:t>
            </a:r>
            <a:r>
              <a:rPr lang="en-US" sz="4000" dirty="0"/>
              <a:t> of a population parameter </a:t>
            </a:r>
          </a:p>
          <a:p>
            <a:pPr>
              <a:buNone/>
            </a:pPr>
            <a:r>
              <a:rPr lang="en-US" sz="4000" dirty="0"/>
              <a:t>(such as the mean μ) with a given level of confidence.</a:t>
            </a:r>
          </a:p>
          <a:p>
            <a:pPr algn="just">
              <a:buNone/>
            </a:pPr>
            <a:endParaRPr lang="en-US" sz="3600" dirty="0"/>
          </a:p>
        </p:txBody>
      </p:sp>
    </p:spTree>
    <p:extLst>
      <p:ext uri="{BB962C8B-B14F-4D97-AF65-F5344CB8AC3E}">
        <p14:creationId xmlns:p14="http://schemas.microsoft.com/office/powerpoint/2010/main" val="313865297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F3290-7F1A-F9CA-3134-952EA7D8C8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75F0A9-DFE6-900C-434C-07E43DC8C630}"/>
              </a:ext>
            </a:extLst>
          </p:cNvPr>
          <p:cNvSpPr txBox="1"/>
          <p:nvPr/>
        </p:nvSpPr>
        <p:spPr>
          <a:xfrm>
            <a:off x="468629" y="619398"/>
            <a:ext cx="11235691" cy="5078313"/>
          </a:xfrm>
          <a:prstGeom prst="rect">
            <a:avLst/>
          </a:prstGeom>
          <a:noFill/>
        </p:spPr>
        <p:txBody>
          <a:bodyPr wrap="square">
            <a:spAutoFit/>
          </a:bodyPr>
          <a:lstStyle/>
          <a:p>
            <a:pPr algn="just">
              <a:buNone/>
            </a:pPr>
            <a:endParaRPr lang="en-US" sz="3600" dirty="0"/>
          </a:p>
          <a:p>
            <a:pPr algn="just">
              <a:buNone/>
            </a:pPr>
            <a:r>
              <a:rPr lang="en-US" sz="3600" b="1" dirty="0">
                <a:solidFill>
                  <a:schemeClr val="accent1"/>
                </a:solidFill>
              </a:rPr>
              <a:t>For example, a 95% confidence interval means that if we took 100 different samples and calculated an interval for each, about 95 out of those 100 intervals would contain the true population mean</a:t>
            </a:r>
            <a:r>
              <a:rPr lang="en-US" sz="3600" dirty="0"/>
              <a:t>.</a:t>
            </a:r>
          </a:p>
          <a:p>
            <a:pPr algn="just">
              <a:buNone/>
            </a:pPr>
            <a:endParaRPr lang="en-US" sz="3600" dirty="0"/>
          </a:p>
          <a:p>
            <a:pPr algn="just"/>
            <a:r>
              <a:rPr lang="en-US" sz="3600" dirty="0"/>
              <a:t>This is a </a:t>
            </a:r>
            <a:r>
              <a:rPr lang="en-US" sz="3600" b="1" dirty="0"/>
              <a:t>frequentist concept</a:t>
            </a:r>
            <a:r>
              <a:rPr lang="en-US" sz="3600" dirty="0"/>
              <a:t>, meaning the confidence level refers to the </a:t>
            </a:r>
            <a:r>
              <a:rPr lang="en-US" sz="3600" b="1" dirty="0"/>
              <a:t>frequency of coverage</a:t>
            </a:r>
            <a:r>
              <a:rPr lang="en-US" sz="3600" dirty="0"/>
              <a:t> across repeated samples.</a:t>
            </a:r>
          </a:p>
        </p:txBody>
      </p:sp>
    </p:spTree>
    <p:extLst>
      <p:ext uri="{BB962C8B-B14F-4D97-AF65-F5344CB8AC3E}">
        <p14:creationId xmlns:p14="http://schemas.microsoft.com/office/powerpoint/2010/main" val="170701168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8C940-B523-8A21-CF1F-A99B49CD60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CA1C1E-7B21-FEB7-35CA-F41B68510EF1}"/>
              </a:ext>
            </a:extLst>
          </p:cNvPr>
          <p:cNvPicPr>
            <a:picLocks noChangeAspect="1"/>
          </p:cNvPicPr>
          <p:nvPr/>
        </p:nvPicPr>
        <p:blipFill>
          <a:blip r:embed="rId3"/>
          <a:stretch>
            <a:fillRect/>
          </a:stretch>
        </p:blipFill>
        <p:spPr>
          <a:xfrm>
            <a:off x="154032" y="206828"/>
            <a:ext cx="11618868" cy="5946693"/>
          </a:xfrm>
          <a:prstGeom prst="rect">
            <a:avLst/>
          </a:prstGeom>
        </p:spPr>
      </p:pic>
      <p:sp>
        <p:nvSpPr>
          <p:cNvPr id="6" name="TextBox 5">
            <a:extLst>
              <a:ext uri="{FF2B5EF4-FFF2-40B4-BE49-F238E27FC236}">
                <a16:creationId xmlns:a16="http://schemas.microsoft.com/office/drawing/2014/main" id="{ED100B54-6106-ACBC-6B8D-65E12BB6AB16}"/>
              </a:ext>
            </a:extLst>
          </p:cNvPr>
          <p:cNvSpPr txBox="1"/>
          <p:nvPr/>
        </p:nvSpPr>
        <p:spPr>
          <a:xfrm>
            <a:off x="7486650" y="3154590"/>
            <a:ext cx="4331970" cy="1754326"/>
          </a:xfrm>
          <a:prstGeom prst="rect">
            <a:avLst/>
          </a:prstGeom>
          <a:noFill/>
        </p:spPr>
        <p:txBody>
          <a:bodyPr wrap="square">
            <a:spAutoFit/>
          </a:bodyPr>
          <a:lstStyle/>
          <a:p>
            <a:pPr algn="ctr"/>
            <a:r>
              <a:rPr lang="en-US" b="1" dirty="0">
                <a:solidFill>
                  <a:srgbClr val="FF0000"/>
                </a:solidFill>
              </a:rPr>
              <a:t>This formula assumes:</a:t>
            </a:r>
          </a:p>
          <a:p>
            <a:pPr algn="just"/>
            <a:r>
              <a:rPr lang="en-US" b="1" dirty="0">
                <a:solidFill>
                  <a:srgbClr val="FF0000"/>
                </a:solidFill>
              </a:rPr>
              <a:t>The underlying distribution is normal or the sample size is large (by Central Limit Theorem).</a:t>
            </a:r>
          </a:p>
          <a:p>
            <a:pPr algn="just"/>
            <a:r>
              <a:rPr lang="en-US" b="1" dirty="0">
                <a:solidFill>
                  <a:srgbClr val="FF0000"/>
                </a:solidFill>
              </a:rPr>
              <a:t> The population standard deviation σ is known</a:t>
            </a:r>
            <a:endParaRPr lang="en-IN" b="1" dirty="0">
              <a:solidFill>
                <a:srgbClr val="FF0000"/>
              </a:solidFill>
            </a:endParaRPr>
          </a:p>
        </p:txBody>
      </p:sp>
      <p:sp>
        <p:nvSpPr>
          <p:cNvPr id="7" name="Rectangle 6">
            <a:extLst>
              <a:ext uri="{FF2B5EF4-FFF2-40B4-BE49-F238E27FC236}">
                <a16:creationId xmlns:a16="http://schemas.microsoft.com/office/drawing/2014/main" id="{7DFFFECC-AC99-FA78-7E5D-C659C09DC305}"/>
              </a:ext>
            </a:extLst>
          </p:cNvPr>
          <p:cNvSpPr/>
          <p:nvPr/>
        </p:nvSpPr>
        <p:spPr>
          <a:xfrm>
            <a:off x="342900" y="445770"/>
            <a:ext cx="308610" cy="4114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82819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7BEC-248B-08DE-E571-DC12ACD305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BF9256-94ED-D1AB-8D1E-8C359C0D6501}"/>
              </a:ext>
            </a:extLst>
          </p:cNvPr>
          <p:cNvSpPr txBox="1"/>
          <p:nvPr/>
        </p:nvSpPr>
        <p:spPr>
          <a:xfrm>
            <a:off x="537210" y="960120"/>
            <a:ext cx="11315700" cy="4216539"/>
          </a:xfrm>
          <a:prstGeom prst="rect">
            <a:avLst/>
          </a:prstGeom>
          <a:noFill/>
        </p:spPr>
        <p:txBody>
          <a:bodyPr wrap="square">
            <a:spAutoFit/>
          </a:bodyPr>
          <a:lstStyle/>
          <a:p>
            <a:pPr algn="just"/>
            <a:r>
              <a:rPr lang="en-US" sz="3200" i="1" dirty="0">
                <a:solidFill>
                  <a:schemeClr val="tx1">
                    <a:lumMod val="95000"/>
                    <a:lumOff val="5000"/>
                  </a:schemeClr>
                </a:solidFill>
              </a:rPr>
              <a:t>A </a:t>
            </a:r>
            <a:r>
              <a:rPr lang="en-US" sz="3200" b="1" i="1" dirty="0">
                <a:solidFill>
                  <a:schemeClr val="tx1">
                    <a:lumMod val="95000"/>
                    <a:lumOff val="5000"/>
                  </a:schemeClr>
                </a:solidFill>
                <a:highlight>
                  <a:srgbClr val="00FF00"/>
                </a:highlight>
              </a:rPr>
              <a:t>confidence interval</a:t>
            </a:r>
            <a:r>
              <a:rPr lang="en-US" sz="3200" i="1" dirty="0">
                <a:solidFill>
                  <a:schemeClr val="tx1">
                    <a:lumMod val="95000"/>
                    <a:lumOff val="5000"/>
                  </a:schemeClr>
                </a:solidFill>
                <a:highlight>
                  <a:srgbClr val="00FF00"/>
                </a:highlight>
              </a:rPr>
              <a:t> </a:t>
            </a:r>
            <a:r>
              <a:rPr lang="en-US" sz="3200" i="1" dirty="0">
                <a:solidFill>
                  <a:schemeClr val="tx1">
                    <a:lumMod val="95000"/>
                    <a:lumOff val="5000"/>
                  </a:schemeClr>
                </a:solidFill>
              </a:rPr>
              <a:t>does not say that the parameter </a:t>
            </a:r>
            <a:r>
              <a:rPr lang="en-US" sz="3200" b="1" i="1" dirty="0">
                <a:solidFill>
                  <a:schemeClr val="tx1">
                    <a:lumMod val="95000"/>
                    <a:lumOff val="5000"/>
                  </a:schemeClr>
                </a:solidFill>
              </a:rPr>
              <a:t>has</a:t>
            </a:r>
            <a:r>
              <a:rPr lang="en-US" sz="3200" i="1" dirty="0">
                <a:solidFill>
                  <a:schemeClr val="tx1">
                    <a:lumMod val="95000"/>
                    <a:lumOff val="5000"/>
                  </a:schemeClr>
                </a:solidFill>
              </a:rPr>
              <a:t> a certain probability of lying in the interval (that’s Bayesian), but rather, </a:t>
            </a:r>
            <a:r>
              <a:rPr lang="en-US" sz="3200" b="1" i="1" dirty="0">
                <a:solidFill>
                  <a:schemeClr val="tx1">
                    <a:lumMod val="95000"/>
                    <a:lumOff val="5000"/>
                  </a:schemeClr>
                </a:solidFill>
              </a:rPr>
              <a:t>the procedure used to calculate it will produce correct intervals in a certain percentage of repeated samples</a:t>
            </a:r>
            <a:r>
              <a:rPr lang="en-US" sz="3200" i="1" dirty="0">
                <a:solidFill>
                  <a:schemeClr val="tx1">
                    <a:lumMod val="95000"/>
                    <a:lumOff val="5000"/>
                  </a:schemeClr>
                </a:solidFill>
              </a:rPr>
              <a:t>. </a:t>
            </a:r>
          </a:p>
          <a:p>
            <a:pPr algn="just"/>
            <a:endParaRPr lang="en-US" sz="3200" i="1" dirty="0">
              <a:solidFill>
                <a:schemeClr val="tx1">
                  <a:lumMod val="95000"/>
                  <a:lumOff val="5000"/>
                </a:schemeClr>
              </a:solidFill>
            </a:endParaRPr>
          </a:p>
          <a:p>
            <a:pPr algn="just"/>
            <a:r>
              <a:rPr lang="en-US" sz="3600" b="1" i="1" dirty="0">
                <a:solidFill>
                  <a:srgbClr val="7030A0"/>
                </a:solidFill>
              </a:rPr>
              <a:t>In machine learning, such intervals help you measure and communicate the uncertainty of your model’s estimates and predictions.</a:t>
            </a:r>
            <a:endParaRPr lang="en-IN" sz="3600" b="1" i="1" dirty="0">
              <a:solidFill>
                <a:srgbClr val="7030A0"/>
              </a:solidFill>
            </a:endParaRPr>
          </a:p>
        </p:txBody>
      </p:sp>
    </p:spTree>
    <p:extLst>
      <p:ext uri="{BB962C8B-B14F-4D97-AF65-F5344CB8AC3E}">
        <p14:creationId xmlns:p14="http://schemas.microsoft.com/office/powerpoint/2010/main" val="20082262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6E03D-EEBE-315B-06DE-606D3D895C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50C41DF-E6CA-472C-2DB5-A63A17766B32}"/>
              </a:ext>
            </a:extLst>
          </p:cNvPr>
          <p:cNvPicPr>
            <a:picLocks noChangeAspect="1"/>
          </p:cNvPicPr>
          <p:nvPr/>
        </p:nvPicPr>
        <p:blipFill>
          <a:blip r:embed="rId2"/>
          <a:stretch>
            <a:fillRect/>
          </a:stretch>
        </p:blipFill>
        <p:spPr>
          <a:xfrm>
            <a:off x="251460" y="525780"/>
            <a:ext cx="11498580" cy="3497580"/>
          </a:xfrm>
          <a:prstGeom prst="rect">
            <a:avLst/>
          </a:prstGeom>
        </p:spPr>
      </p:pic>
      <p:pic>
        <p:nvPicPr>
          <p:cNvPr id="9" name="Picture 8">
            <a:extLst>
              <a:ext uri="{FF2B5EF4-FFF2-40B4-BE49-F238E27FC236}">
                <a16:creationId xmlns:a16="http://schemas.microsoft.com/office/drawing/2014/main" id="{DB237BAA-D99B-B466-0FB8-512CCC40381D}"/>
              </a:ext>
            </a:extLst>
          </p:cNvPr>
          <p:cNvPicPr>
            <a:picLocks noChangeAspect="1"/>
          </p:cNvPicPr>
          <p:nvPr/>
        </p:nvPicPr>
        <p:blipFill>
          <a:blip r:embed="rId3"/>
          <a:stretch>
            <a:fillRect/>
          </a:stretch>
        </p:blipFill>
        <p:spPr>
          <a:xfrm>
            <a:off x="2891790" y="4400550"/>
            <a:ext cx="6229350" cy="1725930"/>
          </a:xfrm>
          <a:prstGeom prst="rect">
            <a:avLst/>
          </a:prstGeom>
        </p:spPr>
      </p:pic>
    </p:spTree>
    <p:extLst>
      <p:ext uri="{BB962C8B-B14F-4D97-AF65-F5344CB8AC3E}">
        <p14:creationId xmlns:p14="http://schemas.microsoft.com/office/powerpoint/2010/main" val="37084129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5113-DAC7-37B3-BF6E-695BF1D717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4552CF-A46A-7ABF-88E9-D4B9060164AE}"/>
              </a:ext>
            </a:extLst>
          </p:cNvPr>
          <p:cNvPicPr>
            <a:picLocks noChangeAspect="1"/>
          </p:cNvPicPr>
          <p:nvPr/>
        </p:nvPicPr>
        <p:blipFill>
          <a:blip r:embed="rId2"/>
          <a:stretch>
            <a:fillRect/>
          </a:stretch>
        </p:blipFill>
        <p:spPr>
          <a:xfrm>
            <a:off x="800100" y="605789"/>
            <a:ext cx="10561052" cy="5357805"/>
          </a:xfrm>
          <a:prstGeom prst="rect">
            <a:avLst/>
          </a:prstGeom>
        </p:spPr>
      </p:pic>
      <p:sp>
        <p:nvSpPr>
          <p:cNvPr id="5" name="TextBox 4">
            <a:extLst>
              <a:ext uri="{FF2B5EF4-FFF2-40B4-BE49-F238E27FC236}">
                <a16:creationId xmlns:a16="http://schemas.microsoft.com/office/drawing/2014/main" id="{7EAE9D57-D679-07A2-4456-F9BAA1241682}"/>
              </a:ext>
            </a:extLst>
          </p:cNvPr>
          <p:cNvSpPr txBox="1"/>
          <p:nvPr/>
        </p:nvSpPr>
        <p:spPr>
          <a:xfrm>
            <a:off x="3669030" y="5612130"/>
            <a:ext cx="8332470" cy="954107"/>
          </a:xfrm>
          <a:prstGeom prst="rect">
            <a:avLst/>
          </a:prstGeom>
          <a:noFill/>
        </p:spPr>
        <p:txBody>
          <a:bodyPr wrap="square">
            <a:spAutoFit/>
          </a:bodyPr>
          <a:lstStyle/>
          <a:p>
            <a:r>
              <a:rPr lang="en-US" sz="2800" b="1" dirty="0">
                <a:solidFill>
                  <a:srgbClr val="FF0000"/>
                </a:solidFill>
              </a:rPr>
              <a:t>is a standard value taken from the standard normal (Z) distribution table when the confidence level is 95%.</a:t>
            </a:r>
          </a:p>
        </p:txBody>
      </p:sp>
    </p:spTree>
    <p:extLst>
      <p:ext uri="{BB962C8B-B14F-4D97-AF65-F5344CB8AC3E}">
        <p14:creationId xmlns:p14="http://schemas.microsoft.com/office/powerpoint/2010/main" val="186682342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10082-024C-7F10-EA3B-F984D0235C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EC1FC7-DA7A-7950-1058-10DB59008984}"/>
              </a:ext>
            </a:extLst>
          </p:cNvPr>
          <p:cNvPicPr>
            <a:picLocks noChangeAspect="1"/>
          </p:cNvPicPr>
          <p:nvPr/>
        </p:nvPicPr>
        <p:blipFill>
          <a:blip r:embed="rId2"/>
          <a:stretch>
            <a:fillRect/>
          </a:stretch>
        </p:blipFill>
        <p:spPr>
          <a:xfrm>
            <a:off x="371475" y="788670"/>
            <a:ext cx="11527155" cy="3120390"/>
          </a:xfrm>
          <a:prstGeom prst="rect">
            <a:avLst/>
          </a:prstGeom>
        </p:spPr>
      </p:pic>
      <p:pic>
        <p:nvPicPr>
          <p:cNvPr id="4" name="Picture 3">
            <a:extLst>
              <a:ext uri="{FF2B5EF4-FFF2-40B4-BE49-F238E27FC236}">
                <a16:creationId xmlns:a16="http://schemas.microsoft.com/office/drawing/2014/main" id="{B2ED0992-2FBD-1F20-5312-D31CE2863BB9}"/>
              </a:ext>
            </a:extLst>
          </p:cNvPr>
          <p:cNvPicPr>
            <a:picLocks noChangeAspect="1"/>
          </p:cNvPicPr>
          <p:nvPr/>
        </p:nvPicPr>
        <p:blipFill>
          <a:blip r:embed="rId3"/>
          <a:stretch>
            <a:fillRect/>
          </a:stretch>
        </p:blipFill>
        <p:spPr>
          <a:xfrm>
            <a:off x="594360" y="3360420"/>
            <a:ext cx="11037934" cy="2411730"/>
          </a:xfrm>
          <a:prstGeom prst="rect">
            <a:avLst/>
          </a:prstGeom>
        </p:spPr>
      </p:pic>
    </p:spTree>
    <p:extLst>
      <p:ext uri="{BB962C8B-B14F-4D97-AF65-F5344CB8AC3E}">
        <p14:creationId xmlns:p14="http://schemas.microsoft.com/office/powerpoint/2010/main" val="23176935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8E2C-7BF0-2378-340C-F1AB67A614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0EB1E0-2E37-45A1-1C7E-E8310ECC5CCE}"/>
              </a:ext>
            </a:extLst>
          </p:cNvPr>
          <p:cNvPicPr>
            <a:picLocks noChangeAspect="1"/>
          </p:cNvPicPr>
          <p:nvPr/>
        </p:nvPicPr>
        <p:blipFill>
          <a:blip r:embed="rId2"/>
          <a:stretch>
            <a:fillRect/>
          </a:stretch>
        </p:blipFill>
        <p:spPr>
          <a:xfrm>
            <a:off x="929517" y="880110"/>
            <a:ext cx="10340463" cy="4926330"/>
          </a:xfrm>
          <a:prstGeom prst="rect">
            <a:avLst/>
          </a:prstGeom>
        </p:spPr>
      </p:pic>
    </p:spTree>
    <p:extLst>
      <p:ext uri="{BB962C8B-B14F-4D97-AF65-F5344CB8AC3E}">
        <p14:creationId xmlns:p14="http://schemas.microsoft.com/office/powerpoint/2010/main" val="12838079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F592-6ACE-40E6-9EC5-C0C328C81AD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E5E7C2-5DCB-F47F-14AA-4EF01243B7F7}"/>
              </a:ext>
            </a:extLst>
          </p:cNvPr>
          <p:cNvPicPr>
            <a:picLocks noChangeAspect="1"/>
          </p:cNvPicPr>
          <p:nvPr/>
        </p:nvPicPr>
        <p:blipFill>
          <a:blip r:embed="rId2"/>
          <a:stretch>
            <a:fillRect/>
          </a:stretch>
        </p:blipFill>
        <p:spPr>
          <a:xfrm>
            <a:off x="1760220" y="938212"/>
            <a:ext cx="7688580" cy="4981575"/>
          </a:xfrm>
          <a:prstGeom prst="rect">
            <a:avLst/>
          </a:prstGeom>
        </p:spPr>
      </p:pic>
    </p:spTree>
    <p:extLst>
      <p:ext uri="{BB962C8B-B14F-4D97-AF65-F5344CB8AC3E}">
        <p14:creationId xmlns:p14="http://schemas.microsoft.com/office/powerpoint/2010/main" val="119915918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44747-9C1C-77B0-192F-D034B9A2D4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8BF50E-C8C0-951A-D17A-4F4474DA63FD}"/>
              </a:ext>
            </a:extLst>
          </p:cNvPr>
          <p:cNvPicPr>
            <a:picLocks noChangeAspect="1"/>
          </p:cNvPicPr>
          <p:nvPr/>
        </p:nvPicPr>
        <p:blipFill>
          <a:blip r:embed="rId2"/>
          <a:stretch>
            <a:fillRect/>
          </a:stretch>
        </p:blipFill>
        <p:spPr>
          <a:xfrm>
            <a:off x="811530" y="1520190"/>
            <a:ext cx="9704070" cy="1817370"/>
          </a:xfrm>
          <a:prstGeom prst="rect">
            <a:avLst/>
          </a:prstGeom>
        </p:spPr>
      </p:pic>
      <p:pic>
        <p:nvPicPr>
          <p:cNvPr id="9" name="Picture 8">
            <a:extLst>
              <a:ext uri="{FF2B5EF4-FFF2-40B4-BE49-F238E27FC236}">
                <a16:creationId xmlns:a16="http://schemas.microsoft.com/office/drawing/2014/main" id="{FDF0BA51-33D1-774D-2BCC-D0ED6B64F2C7}"/>
              </a:ext>
            </a:extLst>
          </p:cNvPr>
          <p:cNvPicPr>
            <a:picLocks noChangeAspect="1"/>
          </p:cNvPicPr>
          <p:nvPr/>
        </p:nvPicPr>
        <p:blipFill>
          <a:blip r:embed="rId3"/>
          <a:stretch>
            <a:fillRect/>
          </a:stretch>
        </p:blipFill>
        <p:spPr>
          <a:xfrm>
            <a:off x="7522845" y="2813685"/>
            <a:ext cx="2266950" cy="590550"/>
          </a:xfrm>
          <a:prstGeom prst="rect">
            <a:avLst/>
          </a:prstGeom>
        </p:spPr>
      </p:pic>
      <p:sp>
        <p:nvSpPr>
          <p:cNvPr id="12" name="TextBox 11">
            <a:extLst>
              <a:ext uri="{FF2B5EF4-FFF2-40B4-BE49-F238E27FC236}">
                <a16:creationId xmlns:a16="http://schemas.microsoft.com/office/drawing/2014/main" id="{486C616A-EE50-FF10-7094-C0E97661AD3B}"/>
              </a:ext>
            </a:extLst>
          </p:cNvPr>
          <p:cNvSpPr txBox="1"/>
          <p:nvPr/>
        </p:nvSpPr>
        <p:spPr>
          <a:xfrm>
            <a:off x="1668780" y="548640"/>
            <a:ext cx="8695714" cy="646331"/>
          </a:xfrm>
          <a:prstGeom prst="rect">
            <a:avLst/>
          </a:prstGeom>
          <a:noFill/>
        </p:spPr>
        <p:txBody>
          <a:bodyPr wrap="none" rtlCol="0">
            <a:spAutoFit/>
          </a:bodyPr>
          <a:lstStyle/>
          <a:p>
            <a:r>
              <a:rPr lang="en-IN" sz="3600" dirty="0">
                <a:highlight>
                  <a:srgbClr val="FF0000"/>
                </a:highlight>
              </a:rPr>
              <a:t>IN CLASS EXERCISE TO BE ATTEMPTED BY ALL </a:t>
            </a:r>
          </a:p>
        </p:txBody>
      </p:sp>
    </p:spTree>
    <p:extLst>
      <p:ext uri="{BB962C8B-B14F-4D97-AF65-F5344CB8AC3E}">
        <p14:creationId xmlns:p14="http://schemas.microsoft.com/office/powerpoint/2010/main" val="15959208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4DA27-0073-1637-D467-47A5ABD2AA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8EB201-CD89-ACE9-46BF-9566F0830A26}"/>
              </a:ext>
            </a:extLst>
          </p:cNvPr>
          <p:cNvPicPr>
            <a:picLocks noChangeAspect="1"/>
          </p:cNvPicPr>
          <p:nvPr/>
        </p:nvPicPr>
        <p:blipFill>
          <a:blip r:embed="rId2"/>
          <a:stretch>
            <a:fillRect/>
          </a:stretch>
        </p:blipFill>
        <p:spPr>
          <a:xfrm>
            <a:off x="8162925" y="3659505"/>
            <a:ext cx="2838450" cy="590550"/>
          </a:xfrm>
          <a:prstGeom prst="rect">
            <a:avLst/>
          </a:prstGeom>
        </p:spPr>
      </p:pic>
      <p:pic>
        <p:nvPicPr>
          <p:cNvPr id="7" name="Picture 6">
            <a:extLst>
              <a:ext uri="{FF2B5EF4-FFF2-40B4-BE49-F238E27FC236}">
                <a16:creationId xmlns:a16="http://schemas.microsoft.com/office/drawing/2014/main" id="{50733C55-6A1C-85A9-7D48-BDF2C6EF7988}"/>
              </a:ext>
            </a:extLst>
          </p:cNvPr>
          <p:cNvPicPr>
            <a:picLocks noChangeAspect="1"/>
          </p:cNvPicPr>
          <p:nvPr/>
        </p:nvPicPr>
        <p:blipFill>
          <a:blip r:embed="rId3"/>
          <a:stretch>
            <a:fillRect/>
          </a:stretch>
        </p:blipFill>
        <p:spPr>
          <a:xfrm>
            <a:off x="940117" y="969644"/>
            <a:ext cx="9895523" cy="2653666"/>
          </a:xfrm>
          <a:prstGeom prst="rect">
            <a:avLst/>
          </a:prstGeom>
        </p:spPr>
      </p:pic>
    </p:spTree>
    <p:extLst>
      <p:ext uri="{BB962C8B-B14F-4D97-AF65-F5344CB8AC3E}">
        <p14:creationId xmlns:p14="http://schemas.microsoft.com/office/powerpoint/2010/main" val="240572370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A3297-5BC5-018A-E03C-E2CEBF8517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221C81-4890-C4FB-0F2B-ECF00F960779}"/>
              </a:ext>
            </a:extLst>
          </p:cNvPr>
          <p:cNvPicPr>
            <a:picLocks noChangeAspect="1"/>
          </p:cNvPicPr>
          <p:nvPr/>
        </p:nvPicPr>
        <p:blipFill>
          <a:blip r:embed="rId2"/>
          <a:stretch>
            <a:fillRect/>
          </a:stretch>
        </p:blipFill>
        <p:spPr>
          <a:xfrm>
            <a:off x="571394" y="783772"/>
            <a:ext cx="10847367" cy="3708627"/>
          </a:xfrm>
          <a:prstGeom prst="rect">
            <a:avLst/>
          </a:prstGeom>
        </p:spPr>
      </p:pic>
    </p:spTree>
    <p:extLst>
      <p:ext uri="{BB962C8B-B14F-4D97-AF65-F5344CB8AC3E}">
        <p14:creationId xmlns:p14="http://schemas.microsoft.com/office/powerpoint/2010/main" val="35969300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75CF-DFD8-B55F-F376-5F99236107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7487D1-AE64-F7BB-82F0-58098EF01812}"/>
              </a:ext>
            </a:extLst>
          </p:cNvPr>
          <p:cNvPicPr>
            <a:picLocks noChangeAspect="1"/>
          </p:cNvPicPr>
          <p:nvPr/>
        </p:nvPicPr>
        <p:blipFill>
          <a:blip r:embed="rId2"/>
          <a:stretch>
            <a:fillRect/>
          </a:stretch>
        </p:blipFill>
        <p:spPr>
          <a:xfrm>
            <a:off x="751116" y="318609"/>
            <a:ext cx="10069284" cy="3959477"/>
          </a:xfrm>
          <a:prstGeom prst="rect">
            <a:avLst/>
          </a:prstGeom>
        </p:spPr>
      </p:pic>
      <p:sp>
        <p:nvSpPr>
          <p:cNvPr id="5" name="TextBox 4">
            <a:extLst>
              <a:ext uri="{FF2B5EF4-FFF2-40B4-BE49-F238E27FC236}">
                <a16:creationId xmlns:a16="http://schemas.microsoft.com/office/drawing/2014/main" id="{A8EE11C9-BC49-BF61-589D-83C1F3598026}"/>
              </a:ext>
            </a:extLst>
          </p:cNvPr>
          <p:cNvSpPr txBox="1"/>
          <p:nvPr/>
        </p:nvSpPr>
        <p:spPr>
          <a:xfrm>
            <a:off x="2394857" y="5595257"/>
            <a:ext cx="7522029" cy="523220"/>
          </a:xfrm>
          <a:prstGeom prst="rect">
            <a:avLst/>
          </a:prstGeom>
          <a:noFill/>
        </p:spPr>
        <p:txBody>
          <a:bodyPr wrap="square">
            <a:spAutoFit/>
          </a:bodyPr>
          <a:lstStyle/>
          <a:p>
            <a:r>
              <a:rPr lang="en-US" sz="2800" b="1" dirty="0"/>
              <a:t>95% Confidence Interval = [4.325, 6.075</a:t>
            </a:r>
            <a:r>
              <a:rPr lang="en-US" b="1" dirty="0"/>
              <a:t>]</a:t>
            </a:r>
            <a:endParaRPr lang="en-IN" b="1" dirty="0"/>
          </a:p>
        </p:txBody>
      </p:sp>
      <p:pic>
        <p:nvPicPr>
          <p:cNvPr id="7" name="Picture 6">
            <a:extLst>
              <a:ext uri="{FF2B5EF4-FFF2-40B4-BE49-F238E27FC236}">
                <a16:creationId xmlns:a16="http://schemas.microsoft.com/office/drawing/2014/main" id="{4067DBD1-5E21-13CF-AC26-9005635C5D6E}"/>
              </a:ext>
            </a:extLst>
          </p:cNvPr>
          <p:cNvPicPr>
            <a:picLocks noChangeAspect="1"/>
          </p:cNvPicPr>
          <p:nvPr/>
        </p:nvPicPr>
        <p:blipFill>
          <a:blip r:embed="rId3"/>
          <a:stretch>
            <a:fillRect/>
          </a:stretch>
        </p:blipFill>
        <p:spPr>
          <a:xfrm>
            <a:off x="1752600" y="4506687"/>
            <a:ext cx="8349343" cy="1055914"/>
          </a:xfrm>
          <a:prstGeom prst="rect">
            <a:avLst/>
          </a:prstGeom>
        </p:spPr>
      </p:pic>
    </p:spTree>
    <p:extLst>
      <p:ext uri="{BB962C8B-B14F-4D97-AF65-F5344CB8AC3E}">
        <p14:creationId xmlns:p14="http://schemas.microsoft.com/office/powerpoint/2010/main" val="14946200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74DD-CDA4-9AA8-5D9D-234AFD78D6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90F3DC-0C2B-AA57-2F8D-AB889CDA8161}"/>
              </a:ext>
            </a:extLst>
          </p:cNvPr>
          <p:cNvPicPr>
            <a:picLocks noChangeAspect="1"/>
          </p:cNvPicPr>
          <p:nvPr/>
        </p:nvPicPr>
        <p:blipFill>
          <a:blip r:embed="rId2"/>
          <a:stretch>
            <a:fillRect/>
          </a:stretch>
        </p:blipFill>
        <p:spPr>
          <a:xfrm>
            <a:off x="1045300" y="1240971"/>
            <a:ext cx="9008338" cy="4093029"/>
          </a:xfrm>
          <a:prstGeom prst="rect">
            <a:avLst/>
          </a:prstGeom>
        </p:spPr>
      </p:pic>
    </p:spTree>
    <p:extLst>
      <p:ext uri="{BB962C8B-B14F-4D97-AF65-F5344CB8AC3E}">
        <p14:creationId xmlns:p14="http://schemas.microsoft.com/office/powerpoint/2010/main" val="39641977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E9265-119A-FEC3-7375-3920B7E0A8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7E08AB-07E1-65F4-069C-8E276DEED2C5}"/>
              </a:ext>
            </a:extLst>
          </p:cNvPr>
          <p:cNvPicPr>
            <a:picLocks noChangeAspect="1"/>
          </p:cNvPicPr>
          <p:nvPr/>
        </p:nvPicPr>
        <p:blipFill>
          <a:blip r:embed="rId2"/>
          <a:stretch>
            <a:fillRect/>
          </a:stretch>
        </p:blipFill>
        <p:spPr>
          <a:xfrm>
            <a:off x="327358" y="576943"/>
            <a:ext cx="11546882" cy="5116287"/>
          </a:xfrm>
          <a:prstGeom prst="rect">
            <a:avLst/>
          </a:prstGeom>
        </p:spPr>
      </p:pic>
      <p:sp>
        <p:nvSpPr>
          <p:cNvPr id="4" name="Rectangle 3">
            <a:extLst>
              <a:ext uri="{FF2B5EF4-FFF2-40B4-BE49-F238E27FC236}">
                <a16:creationId xmlns:a16="http://schemas.microsoft.com/office/drawing/2014/main" id="{3BE52AA9-7302-66E4-7F03-62F0F1F187FE}"/>
              </a:ext>
            </a:extLst>
          </p:cNvPr>
          <p:cNvSpPr/>
          <p:nvPr/>
        </p:nvSpPr>
        <p:spPr>
          <a:xfrm>
            <a:off x="522514" y="2950029"/>
            <a:ext cx="11136086" cy="2471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6706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8366-8E0C-7186-ED31-2F95D46E43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27F147-B8A3-CD6A-A95D-81512E7433BC}"/>
              </a:ext>
            </a:extLst>
          </p:cNvPr>
          <p:cNvPicPr>
            <a:picLocks noChangeAspect="1"/>
          </p:cNvPicPr>
          <p:nvPr/>
        </p:nvPicPr>
        <p:blipFill>
          <a:blip r:embed="rId2"/>
          <a:stretch>
            <a:fillRect/>
          </a:stretch>
        </p:blipFill>
        <p:spPr>
          <a:xfrm>
            <a:off x="762000" y="87085"/>
            <a:ext cx="10548257" cy="6459520"/>
          </a:xfrm>
          <a:prstGeom prst="rect">
            <a:avLst/>
          </a:prstGeom>
        </p:spPr>
      </p:pic>
      <p:sp>
        <p:nvSpPr>
          <p:cNvPr id="6" name="Rectangle 5">
            <a:extLst>
              <a:ext uri="{FF2B5EF4-FFF2-40B4-BE49-F238E27FC236}">
                <a16:creationId xmlns:a16="http://schemas.microsoft.com/office/drawing/2014/main" id="{277D72DC-EE3F-8C89-4F68-267A46C7CE8D}"/>
              </a:ext>
            </a:extLst>
          </p:cNvPr>
          <p:cNvSpPr/>
          <p:nvPr/>
        </p:nvSpPr>
        <p:spPr>
          <a:xfrm>
            <a:off x="299357" y="1259477"/>
            <a:ext cx="10918371" cy="2471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316484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F0CE-D5C3-C0D7-B93E-E79A699CC7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924008-5A06-159E-4248-B9C759B75C41}"/>
              </a:ext>
            </a:extLst>
          </p:cNvPr>
          <p:cNvPicPr>
            <a:picLocks noChangeAspect="1"/>
          </p:cNvPicPr>
          <p:nvPr/>
        </p:nvPicPr>
        <p:blipFill>
          <a:blip r:embed="rId2"/>
          <a:stretch>
            <a:fillRect/>
          </a:stretch>
        </p:blipFill>
        <p:spPr>
          <a:xfrm>
            <a:off x="622097" y="478970"/>
            <a:ext cx="10329790" cy="5236029"/>
          </a:xfrm>
          <a:prstGeom prst="rect">
            <a:avLst/>
          </a:prstGeom>
        </p:spPr>
      </p:pic>
    </p:spTree>
    <p:extLst>
      <p:ext uri="{BB962C8B-B14F-4D97-AF65-F5344CB8AC3E}">
        <p14:creationId xmlns:p14="http://schemas.microsoft.com/office/powerpoint/2010/main" val="350742341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E0D73-D56B-5515-FF89-6B3F2A5EF5A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13AF440-A4E8-5389-AF26-569F034EA9E3}"/>
              </a:ext>
            </a:extLst>
          </p:cNvPr>
          <p:cNvSpPr>
            <a:spLocks noChangeArrowheads="1"/>
          </p:cNvSpPr>
          <p:nvPr/>
        </p:nvSpPr>
        <p:spPr bwMode="auto">
          <a:xfrm>
            <a:off x="205740" y="116488"/>
            <a:ext cx="1172718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 </a:t>
            </a:r>
            <a:r>
              <a:rPr kumimoji="0" lang="en-US" altLang="en-US" sz="3600" b="1" i="0" u="none" strike="noStrike" cap="none" normalizeH="0" baseline="0" dirty="0">
                <a:ln>
                  <a:noFill/>
                </a:ln>
                <a:solidFill>
                  <a:schemeClr val="tx1"/>
                </a:solidFill>
                <a:effectLst/>
                <a:latin typeface="Arial" panose="020B0604020202020204" pitchFamily="34" charset="0"/>
              </a:rPr>
              <a:t>credible interval</a:t>
            </a:r>
            <a:r>
              <a:rPr kumimoji="0" lang="en-US" altLang="en-US" sz="3600" b="0" i="0" u="none" strike="noStrike" cap="none" normalizeH="0" baseline="0" dirty="0">
                <a:ln>
                  <a:noFill/>
                </a:ln>
                <a:solidFill>
                  <a:schemeClr val="tx1"/>
                </a:solidFill>
                <a:effectLst/>
                <a:latin typeface="Arial" panose="020B0604020202020204" pitchFamily="34" charset="0"/>
              </a:rPr>
              <a:t> is a </a:t>
            </a:r>
            <a:r>
              <a:rPr kumimoji="0" lang="en-US" altLang="en-US" sz="3600" b="1" i="0" u="none" strike="noStrike" cap="none" normalizeH="0" baseline="0" dirty="0">
                <a:ln>
                  <a:noFill/>
                </a:ln>
                <a:solidFill>
                  <a:schemeClr val="tx1"/>
                </a:solidFill>
                <a:effectLst/>
                <a:latin typeface="Arial" panose="020B0604020202020204" pitchFamily="34" charset="0"/>
              </a:rPr>
              <a:t>Bayesian</a:t>
            </a:r>
            <a:r>
              <a:rPr kumimoji="0" lang="en-US" altLang="en-US" sz="3600" b="0" i="0" u="none" strike="noStrike" cap="none" normalizeH="0" baseline="0" dirty="0">
                <a:ln>
                  <a:noFill/>
                </a:ln>
                <a:solidFill>
                  <a:schemeClr val="tx1"/>
                </a:solidFill>
                <a:effectLst/>
                <a:latin typeface="Arial" panose="020B0604020202020204" pitchFamily="34" charset="0"/>
              </a:rPr>
              <a:t> concept.</a:t>
            </a:r>
            <a:br>
              <a:rPr kumimoji="0" lang="en-US" altLang="en-US" sz="3600" b="0" i="0" u="none" strike="noStrike" cap="none" normalizeH="0" baseline="0" dirty="0">
                <a:ln>
                  <a:noFill/>
                </a:ln>
                <a:solidFill>
                  <a:schemeClr val="tx1"/>
                </a:solidFill>
                <a:effectLst/>
                <a:latin typeface="Arial" panose="020B0604020202020204" pitchFamily="34" charset="0"/>
              </a:rPr>
            </a:br>
            <a:r>
              <a:rPr kumimoji="0" lang="en-US" altLang="en-US" sz="3600" b="0" i="0" u="none" strike="noStrike" cap="none" normalizeH="0" baseline="0" dirty="0">
                <a:ln>
                  <a:noFill/>
                </a:ln>
                <a:solidFill>
                  <a:schemeClr val="tx1"/>
                </a:solidFill>
                <a:effectLst/>
                <a:latin typeface="Arial" panose="020B0604020202020204" pitchFamily="34" charset="0"/>
              </a:rPr>
              <a:t>It represents an interval within which the parameter θ lies with a </a:t>
            </a:r>
            <a:r>
              <a:rPr kumimoji="0" lang="en-US" altLang="en-US" sz="3600" b="1" i="0" u="none" strike="noStrike" cap="none" normalizeH="0" baseline="0" dirty="0">
                <a:ln>
                  <a:noFill/>
                </a:ln>
                <a:solidFill>
                  <a:schemeClr val="tx1"/>
                </a:solidFill>
                <a:effectLst/>
                <a:latin typeface="Arial" panose="020B0604020202020204" pitchFamily="34" charset="0"/>
              </a:rPr>
              <a:t>given probability</a:t>
            </a:r>
            <a:r>
              <a:rPr kumimoji="0" lang="en-US" altLang="en-US" sz="3600" b="0" i="0" u="none" strike="noStrike" cap="none" normalizeH="0" baseline="0" dirty="0">
                <a:ln>
                  <a:noFill/>
                </a:ln>
                <a:solidFill>
                  <a:schemeClr val="tx1"/>
                </a:solidFill>
                <a:effectLst/>
                <a:latin typeface="Arial" panose="020B0604020202020204" pitchFamily="34" charset="0"/>
              </a:rPr>
              <a:t> (e.g., 95%) </a:t>
            </a:r>
            <a:r>
              <a:rPr kumimoji="0" lang="en-US" altLang="en-US" sz="3600" b="1" i="0" u="none" strike="noStrike" cap="none" normalizeH="0" baseline="0" dirty="0">
                <a:ln>
                  <a:noFill/>
                </a:ln>
                <a:solidFill>
                  <a:schemeClr val="tx1"/>
                </a:solidFill>
                <a:effectLst/>
                <a:latin typeface="Arial" panose="020B0604020202020204" pitchFamily="34" charset="0"/>
              </a:rPr>
              <a:t>based on the observed data</a:t>
            </a:r>
            <a:r>
              <a:rPr kumimoji="0" lang="en-US" altLang="en-US" sz="3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600" b="0" i="0" u="none" strike="noStrike" cap="none" normalizeH="0" baseline="0" dirty="0">
                <a:ln>
                  <a:noFill/>
                </a:ln>
                <a:solidFill>
                  <a:schemeClr val="tx1"/>
                </a:solidFill>
                <a:effectLst/>
                <a:latin typeface="Arial" panose="020B0604020202020204" pitchFamily="34" charset="0"/>
              </a:rPr>
            </a:br>
            <a:r>
              <a:rPr kumimoji="0" lang="en-US" altLang="en-US" sz="3600" b="0" i="0" u="none" strike="noStrike" cap="none" normalizeH="0" baseline="0" dirty="0">
                <a:ln>
                  <a:noFill/>
                </a:ln>
                <a:solidFill>
                  <a:schemeClr val="tx1"/>
                </a:solidFill>
                <a:effectLst/>
                <a:latin typeface="Arial" panose="020B0604020202020204" pitchFamily="34" charset="0"/>
              </a:rPr>
              <a:t>“There is a 95% probability that the true parameter θ lies within this interval — given the data DDD.”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This is </a:t>
            </a:r>
            <a:r>
              <a:rPr kumimoji="0" lang="en-US" altLang="en-US" sz="3600" b="1" i="0" u="none" strike="noStrike" cap="none" normalizeH="0" baseline="0" dirty="0">
                <a:ln>
                  <a:noFill/>
                </a:ln>
                <a:solidFill>
                  <a:schemeClr val="tx1"/>
                </a:solidFill>
                <a:effectLst/>
                <a:latin typeface="Arial" panose="020B0604020202020204" pitchFamily="34" charset="0"/>
              </a:rPr>
              <a:t>different</a:t>
            </a:r>
            <a:r>
              <a:rPr kumimoji="0" lang="en-US" altLang="en-US" sz="3600" b="0" i="0" u="none" strike="noStrike" cap="none" normalizeH="0" baseline="0" dirty="0">
                <a:ln>
                  <a:noFill/>
                </a:ln>
                <a:solidFill>
                  <a:schemeClr val="tx1"/>
                </a:solidFill>
                <a:effectLst/>
                <a:latin typeface="Arial" panose="020B0604020202020204" pitchFamily="34" charset="0"/>
              </a:rPr>
              <a:t> from classical confidence intervals (frequentist), where the parameter is fixed and the interval is random.</a:t>
            </a:r>
          </a:p>
        </p:txBody>
      </p:sp>
    </p:spTree>
    <p:extLst>
      <p:ext uri="{BB962C8B-B14F-4D97-AF65-F5344CB8AC3E}">
        <p14:creationId xmlns:p14="http://schemas.microsoft.com/office/powerpoint/2010/main" val="25418895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35AF-6B38-B3F5-4ADA-1033F66DBA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043896-5F7D-4DA3-F2A2-7AEA64883B81}"/>
              </a:ext>
            </a:extLst>
          </p:cNvPr>
          <p:cNvPicPr>
            <a:picLocks noChangeAspect="1"/>
          </p:cNvPicPr>
          <p:nvPr/>
        </p:nvPicPr>
        <p:blipFill>
          <a:blip r:embed="rId2"/>
          <a:stretch>
            <a:fillRect/>
          </a:stretch>
        </p:blipFill>
        <p:spPr>
          <a:xfrm>
            <a:off x="3514725" y="1200150"/>
            <a:ext cx="5162550" cy="4457700"/>
          </a:xfrm>
          <a:prstGeom prst="rect">
            <a:avLst/>
          </a:prstGeom>
        </p:spPr>
      </p:pic>
    </p:spTree>
    <p:extLst>
      <p:ext uri="{BB962C8B-B14F-4D97-AF65-F5344CB8AC3E}">
        <p14:creationId xmlns:p14="http://schemas.microsoft.com/office/powerpoint/2010/main" val="425251189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47E0B-4A17-1407-A7EF-15886B4A9D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BBDBDC5-4F55-9D79-E9B7-4585386F5E63}"/>
              </a:ext>
            </a:extLst>
          </p:cNvPr>
          <p:cNvPicPr>
            <a:picLocks noChangeAspect="1"/>
          </p:cNvPicPr>
          <p:nvPr/>
        </p:nvPicPr>
        <p:blipFill>
          <a:blip r:embed="rId2"/>
          <a:stretch>
            <a:fillRect/>
          </a:stretch>
        </p:blipFill>
        <p:spPr>
          <a:xfrm>
            <a:off x="891540" y="286994"/>
            <a:ext cx="9921240" cy="6285439"/>
          </a:xfrm>
          <a:prstGeom prst="rect">
            <a:avLst/>
          </a:prstGeom>
        </p:spPr>
      </p:pic>
    </p:spTree>
    <p:extLst>
      <p:ext uri="{BB962C8B-B14F-4D97-AF65-F5344CB8AC3E}">
        <p14:creationId xmlns:p14="http://schemas.microsoft.com/office/powerpoint/2010/main" val="170700898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FBEC-F7E1-734D-D73D-3C2AD413CE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9BD080-A0E7-0BFE-66AD-AED438A534BB}"/>
              </a:ext>
            </a:extLst>
          </p:cNvPr>
          <p:cNvPicPr>
            <a:picLocks noChangeAspect="1"/>
          </p:cNvPicPr>
          <p:nvPr/>
        </p:nvPicPr>
        <p:blipFill>
          <a:blip r:embed="rId2"/>
          <a:stretch>
            <a:fillRect/>
          </a:stretch>
        </p:blipFill>
        <p:spPr>
          <a:xfrm>
            <a:off x="372448" y="581932"/>
            <a:ext cx="11423312" cy="5213078"/>
          </a:xfrm>
          <a:prstGeom prst="rect">
            <a:avLst/>
          </a:prstGeom>
        </p:spPr>
      </p:pic>
    </p:spTree>
    <p:extLst>
      <p:ext uri="{BB962C8B-B14F-4D97-AF65-F5344CB8AC3E}">
        <p14:creationId xmlns:p14="http://schemas.microsoft.com/office/powerpoint/2010/main" val="31552465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2D4A-F4A3-C2CB-7BA8-E7B1751021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12F8C1-93C5-FDAC-DF46-AA2D1523B5AD}"/>
              </a:ext>
            </a:extLst>
          </p:cNvPr>
          <p:cNvSpPr/>
          <p:nvPr/>
        </p:nvSpPr>
        <p:spPr>
          <a:xfrm>
            <a:off x="685801" y="979714"/>
            <a:ext cx="10668000" cy="472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5000" dirty="0">
                <a:ln w="0"/>
                <a:solidFill>
                  <a:schemeClr val="accent1">
                    <a:lumMod val="20000"/>
                    <a:lumOff val="80000"/>
                  </a:schemeClr>
                </a:solidFill>
                <a:effectLst>
                  <a:outerShdw blurRad="38100" dist="19050" dir="2700000" algn="tl" rotWithShape="0">
                    <a:schemeClr val="dk1">
                      <a:alpha val="40000"/>
                    </a:schemeClr>
                  </a:outerShdw>
                </a:effectLst>
                <a:highlight>
                  <a:srgbClr val="008000"/>
                </a:highlight>
              </a:rPr>
              <a:t>PAUSE YOUR MIND AND THINK WHAT YOU HAVE LEARN SO FAR…..</a:t>
            </a:r>
          </a:p>
          <a:p>
            <a:pPr algn="ctr"/>
            <a:r>
              <a:rPr lang="en-IN" sz="5000" dirty="0">
                <a:ln w="0"/>
                <a:solidFill>
                  <a:schemeClr val="accent1">
                    <a:lumMod val="20000"/>
                    <a:lumOff val="80000"/>
                  </a:schemeClr>
                </a:solidFill>
                <a:effectLst>
                  <a:outerShdw blurRad="38100" dist="19050" dir="2700000" algn="tl" rotWithShape="0">
                    <a:schemeClr val="dk1">
                      <a:alpha val="40000"/>
                    </a:schemeClr>
                  </a:outerShdw>
                </a:effectLst>
                <a:highlight>
                  <a:srgbClr val="008000"/>
                </a:highlight>
              </a:rPr>
              <a:t>BEFORE MOVING NEXT SLIDE!!!</a:t>
            </a:r>
          </a:p>
        </p:txBody>
      </p:sp>
    </p:spTree>
    <p:extLst>
      <p:ext uri="{BB962C8B-B14F-4D97-AF65-F5344CB8AC3E}">
        <p14:creationId xmlns:p14="http://schemas.microsoft.com/office/powerpoint/2010/main" val="259639905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C954-5E46-0F23-DE32-D086F3732B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5A61D4-D9E4-F3F2-3C38-EE3AA312D6C1}"/>
              </a:ext>
            </a:extLst>
          </p:cNvPr>
          <p:cNvSpPr txBox="1"/>
          <p:nvPr/>
        </p:nvSpPr>
        <p:spPr>
          <a:xfrm>
            <a:off x="544285" y="294810"/>
            <a:ext cx="10058400" cy="4493538"/>
          </a:xfrm>
          <a:prstGeom prst="rect">
            <a:avLst/>
          </a:prstGeom>
          <a:noFill/>
        </p:spPr>
        <p:txBody>
          <a:bodyPr wrap="square">
            <a:spAutoFit/>
          </a:bodyPr>
          <a:lstStyle/>
          <a:p>
            <a:pPr algn="ctr"/>
            <a:r>
              <a:rPr lang="en-US" sz="2600" b="1" dirty="0"/>
              <a:t>ASSIGNMENT IN -CLASS </a:t>
            </a:r>
          </a:p>
          <a:p>
            <a:r>
              <a:rPr lang="en-US" sz="2600" dirty="0"/>
              <a:t>1.  What is the role of a model in supervised learning?</a:t>
            </a:r>
          </a:p>
          <a:p>
            <a:pPr marL="514350" indent="-514350">
              <a:buAutoNum type="arabicPeriod" startAt="2"/>
            </a:pPr>
            <a:r>
              <a:rPr lang="en-US" sz="2600" dirty="0"/>
              <a:t>Define the hypothesis space in machine learning.</a:t>
            </a:r>
          </a:p>
          <a:p>
            <a:pPr marL="514350" indent="-514350">
              <a:buAutoNum type="arabicPeriod" startAt="2"/>
            </a:pPr>
            <a:r>
              <a:rPr lang="en-US" sz="2600" dirty="0"/>
              <a:t>What is meant by overfitting and underfitting in model learning?</a:t>
            </a:r>
          </a:p>
          <a:p>
            <a:pPr marL="514350" indent="-514350">
              <a:buAutoNum type="arabicPeriod" startAt="2"/>
            </a:pPr>
            <a:r>
              <a:rPr lang="en-US" sz="2600" dirty="0"/>
              <a:t>What is empirical risk? Write its mathematical expression.</a:t>
            </a:r>
          </a:p>
          <a:p>
            <a:pPr marL="514350" indent="-514350">
              <a:buAutoNum type="arabicPeriod" startAt="2"/>
            </a:pPr>
            <a:r>
              <a:rPr lang="en-US" sz="2600" dirty="0"/>
              <a:t>Why is empirical risk used instead of true risk in practice?</a:t>
            </a:r>
          </a:p>
          <a:p>
            <a:pPr marL="514350" indent="-514350">
              <a:buAutoNum type="arabicPeriod" startAt="2"/>
            </a:pPr>
            <a:r>
              <a:rPr lang="en-US" sz="2600" dirty="0"/>
              <a:t>What is the objective of empirical risk minimization (ERM)?</a:t>
            </a:r>
          </a:p>
          <a:p>
            <a:pPr marL="514350" indent="-514350">
              <a:buAutoNum type="arabicPeriod" startAt="2"/>
            </a:pPr>
            <a:r>
              <a:rPr lang="en-US" sz="2600" dirty="0"/>
              <a:t>State the normal equation used in linear regression for parameter estimation.</a:t>
            </a:r>
          </a:p>
          <a:p>
            <a:pPr marL="514350" indent="-514350">
              <a:buAutoNum type="arabicPeriod" startAt="2"/>
            </a:pPr>
            <a:r>
              <a:rPr lang="en-US" sz="2600" dirty="0"/>
              <a:t>What does the term 𝑋𝑇𝑋X T X represent in the normal equation?</a:t>
            </a:r>
          </a:p>
          <a:p>
            <a:endParaRPr lang="en-IN" sz="2600" dirty="0"/>
          </a:p>
        </p:txBody>
      </p:sp>
    </p:spTree>
    <p:extLst>
      <p:ext uri="{BB962C8B-B14F-4D97-AF65-F5344CB8AC3E}">
        <p14:creationId xmlns:p14="http://schemas.microsoft.com/office/powerpoint/2010/main" val="9314454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6457-6775-AB73-0B0B-0A05569016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824099-A38E-1466-6101-C63A6065E102}"/>
              </a:ext>
            </a:extLst>
          </p:cNvPr>
          <p:cNvSpPr txBox="1"/>
          <p:nvPr/>
        </p:nvSpPr>
        <p:spPr>
          <a:xfrm>
            <a:off x="217714" y="152399"/>
            <a:ext cx="11669485" cy="5847755"/>
          </a:xfrm>
          <a:prstGeom prst="rect">
            <a:avLst/>
          </a:prstGeom>
          <a:noFill/>
        </p:spPr>
        <p:txBody>
          <a:bodyPr wrap="square">
            <a:spAutoFit/>
          </a:bodyPr>
          <a:lstStyle/>
          <a:p>
            <a:pPr algn="ctr"/>
            <a:r>
              <a:rPr lang="en-US" sz="2200" b="1" dirty="0"/>
              <a:t>HINT FOR ABOVE QUESTIONS </a:t>
            </a:r>
          </a:p>
          <a:p>
            <a:r>
              <a:rPr lang="en-US" sz="2200" b="1" dirty="0"/>
              <a:t>1.:</a:t>
            </a:r>
            <a:r>
              <a:rPr lang="en-US" sz="2200" dirty="0"/>
              <a:t> Think of the model as a mathematical rule or function that takes features as input and gives predictions as output.</a:t>
            </a:r>
          </a:p>
          <a:p>
            <a:pPr>
              <a:buFont typeface="+mj-lt"/>
              <a:buAutoNum type="arabicPeriod"/>
            </a:pPr>
            <a:r>
              <a:rPr lang="en-US" sz="2200" b="1" dirty="0"/>
              <a:t>.:</a:t>
            </a:r>
            <a:r>
              <a:rPr lang="en-US" sz="2200" dirty="0"/>
              <a:t> It’s the set of all possible models or functions your algorithm can explore during training.</a:t>
            </a:r>
          </a:p>
          <a:p>
            <a:pPr>
              <a:buFont typeface="+mj-lt"/>
              <a:buAutoNum type="arabicPeriod"/>
            </a:pPr>
            <a:r>
              <a:rPr lang="en-US" sz="2200" b="1" dirty="0"/>
              <a:t>.:</a:t>
            </a:r>
            <a:r>
              <a:rPr lang="en-US" sz="2200" dirty="0"/>
              <a:t> One happens when your model is too complex and memorizes noise; the other happens when your model is too simple to capture the pattern in data.</a:t>
            </a:r>
          </a:p>
          <a:p>
            <a:pPr>
              <a:buFont typeface="+mj-lt"/>
              <a:buAutoNum type="arabicPeriod"/>
            </a:pPr>
            <a:r>
              <a:rPr lang="en-US" sz="2200" b="1" dirty="0"/>
              <a:t>.:</a:t>
            </a:r>
            <a:r>
              <a:rPr lang="en-US" sz="2200" dirty="0"/>
              <a:t> It refers to the average loss over training data — you’ll need to use a summation and divide by the number of samples.</a:t>
            </a:r>
          </a:p>
          <a:p>
            <a:pPr>
              <a:buFont typeface="+mj-lt"/>
              <a:buAutoNum type="arabicPeriod"/>
            </a:pPr>
            <a:r>
              <a:rPr lang="en-US" sz="2200" b="1" dirty="0"/>
              <a:t>.:</a:t>
            </a:r>
            <a:r>
              <a:rPr lang="en-US" sz="2200" dirty="0"/>
              <a:t> In real-world scenarios, we don’t have access to the full data distribution — only a finite sample.</a:t>
            </a:r>
          </a:p>
          <a:p>
            <a:pPr>
              <a:buFont typeface="+mj-lt"/>
              <a:buAutoNum type="arabicPeriod"/>
            </a:pPr>
            <a:r>
              <a:rPr lang="en-US" sz="2200" b="1" dirty="0"/>
              <a:t>.:</a:t>
            </a:r>
            <a:r>
              <a:rPr lang="en-US" sz="2200" dirty="0"/>
              <a:t> It aims to choose parameters that minimize the average prediction error over the training data.</a:t>
            </a:r>
          </a:p>
          <a:p>
            <a:pPr>
              <a:buFont typeface="+mj-lt"/>
              <a:buAutoNum type="arabicPeriod"/>
            </a:pPr>
            <a:r>
              <a:rPr lang="en-US" sz="2200" b="1" dirty="0"/>
              <a:t>.:</a:t>
            </a:r>
            <a:r>
              <a:rPr lang="en-US" sz="2200" dirty="0"/>
              <a:t> Involves transposing the feature matrix, multiplying it by itself, then inverting, and finally multiplying with the target vector.</a:t>
            </a:r>
          </a:p>
          <a:p>
            <a:pPr>
              <a:buFont typeface="+mj-lt"/>
              <a:buAutoNum type="arabicPeriod"/>
            </a:pPr>
            <a:r>
              <a:rPr lang="en-US" sz="2200" b="1" dirty="0"/>
              <a:t>.:</a:t>
            </a:r>
            <a:r>
              <a:rPr lang="en-US" sz="2200" dirty="0"/>
              <a:t> It forms a square matrix showing relationships (covariance) among features.</a:t>
            </a:r>
          </a:p>
          <a:p>
            <a:pPr>
              <a:buFont typeface="+mj-lt"/>
              <a:buAutoNum type="arabicPeriod"/>
            </a:pPr>
            <a:r>
              <a:rPr lang="en-US" sz="2200" b="1" dirty="0"/>
              <a:t>.:</a:t>
            </a:r>
            <a:r>
              <a:rPr lang="en-US" sz="2200" dirty="0"/>
              <a:t> Think of cases where some features are duplicate or linearly dependent. Regularization methods (like Ridge) help fix this.</a:t>
            </a:r>
          </a:p>
          <a:p>
            <a:pPr>
              <a:buFont typeface="+mj-lt"/>
              <a:buAutoNum type="arabicPeriod"/>
            </a:pPr>
            <a:r>
              <a:rPr lang="en-US" sz="2200" b="1" dirty="0"/>
              <a:t>.:</a:t>
            </a:r>
            <a:r>
              <a:rPr lang="en-US" sz="2200" dirty="0"/>
              <a:t> It computes the total squared difference between predicted and actual values — the goal is to minimize this to find best-fit parameters.</a:t>
            </a:r>
          </a:p>
        </p:txBody>
      </p:sp>
    </p:spTree>
    <p:extLst>
      <p:ext uri="{BB962C8B-B14F-4D97-AF65-F5344CB8AC3E}">
        <p14:creationId xmlns:p14="http://schemas.microsoft.com/office/powerpoint/2010/main" val="391949360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CD22-8C98-A37F-3B56-C93B3BED66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218379-6522-A1D1-7EB3-AE9D6F81E55C}"/>
              </a:ext>
            </a:extLst>
          </p:cNvPr>
          <p:cNvSpPr txBox="1"/>
          <p:nvPr/>
        </p:nvSpPr>
        <p:spPr>
          <a:xfrm>
            <a:off x="87086" y="108857"/>
            <a:ext cx="11723914" cy="4524315"/>
          </a:xfrm>
          <a:prstGeom prst="rect">
            <a:avLst/>
          </a:prstGeom>
          <a:noFill/>
        </p:spPr>
        <p:txBody>
          <a:bodyPr wrap="square">
            <a:spAutoFit/>
          </a:bodyPr>
          <a:lstStyle/>
          <a:p>
            <a:r>
              <a:rPr lang="en-US" sz="3600" b="1" dirty="0"/>
              <a:t>What is Probabilistic Modelling?</a:t>
            </a:r>
            <a:br>
              <a:rPr lang="en-US" sz="3600" b="1" dirty="0"/>
            </a:br>
            <a:r>
              <a:rPr lang="en-US" sz="3600" dirty="0"/>
              <a:t>According to the textbook </a:t>
            </a:r>
            <a:r>
              <a:rPr lang="en-US" sz="3600" dirty="0">
                <a:solidFill>
                  <a:srgbClr val="0070C0"/>
                </a:solidFill>
              </a:rPr>
              <a:t>Mathematics for Machine Learning </a:t>
            </a:r>
            <a:r>
              <a:rPr lang="en-US" sz="3600" dirty="0"/>
              <a:t>by Marc Peter Deisenroth, A. Aldo Faisal, and Cheng Soon Ong,  </a:t>
            </a:r>
            <a:r>
              <a:rPr lang="en-US" sz="3600" b="1" dirty="0"/>
              <a:t>probabilistic modelling is a formal approach to model </a:t>
            </a:r>
          </a:p>
          <a:p>
            <a:pPr algn="ctr"/>
            <a:r>
              <a:rPr lang="en-US" sz="3600" b="1" dirty="0">
                <a:highlight>
                  <a:srgbClr val="FF00FF"/>
                </a:highlight>
              </a:rPr>
              <a:t>data and uncertainty </a:t>
            </a:r>
          </a:p>
          <a:p>
            <a:r>
              <a:rPr lang="en-US" sz="3600" b="1" dirty="0"/>
              <a:t>by using probability theory</a:t>
            </a:r>
            <a:r>
              <a:rPr lang="en-US" sz="3600" dirty="0"/>
              <a:t>. This is crucial in machine learning because data is often noisy, incomplete, or variable.</a:t>
            </a:r>
          </a:p>
          <a:p>
            <a:pPr>
              <a:buNone/>
            </a:pPr>
            <a:endParaRPr lang="en-US" sz="3600" b="1" dirty="0"/>
          </a:p>
        </p:txBody>
      </p:sp>
      <p:sp>
        <p:nvSpPr>
          <p:cNvPr id="4" name="TextBox 3">
            <a:extLst>
              <a:ext uri="{FF2B5EF4-FFF2-40B4-BE49-F238E27FC236}">
                <a16:creationId xmlns:a16="http://schemas.microsoft.com/office/drawing/2014/main" id="{B07D7E0C-EBE8-A94F-1B0D-17265CD83980}"/>
              </a:ext>
            </a:extLst>
          </p:cNvPr>
          <p:cNvSpPr txBox="1"/>
          <p:nvPr/>
        </p:nvSpPr>
        <p:spPr>
          <a:xfrm>
            <a:off x="674914" y="4311135"/>
            <a:ext cx="11027229" cy="2431435"/>
          </a:xfrm>
          <a:prstGeom prst="rect">
            <a:avLst/>
          </a:prstGeom>
          <a:noFill/>
        </p:spPr>
        <p:txBody>
          <a:bodyPr wrap="square">
            <a:spAutoFit/>
          </a:bodyPr>
          <a:lstStyle/>
          <a:p>
            <a:pPr algn="ctr"/>
            <a:r>
              <a:rPr lang="en-IN" sz="3000" dirty="0">
                <a:highlight>
                  <a:srgbClr val="FFFF00"/>
                </a:highlight>
              </a:rPr>
              <a:t>Uncertainty in Predictions  ??</a:t>
            </a:r>
          </a:p>
          <a:p>
            <a:pPr algn="ctr"/>
            <a:r>
              <a:rPr lang="en-IN" sz="3000" dirty="0">
                <a:highlight>
                  <a:srgbClr val="FFFF00"/>
                </a:highlight>
              </a:rPr>
              <a:t> and </a:t>
            </a:r>
          </a:p>
          <a:p>
            <a:pPr algn="ctr"/>
            <a:r>
              <a:rPr lang="en-IN" sz="3000" dirty="0">
                <a:highlight>
                  <a:srgbClr val="FFFF00"/>
                </a:highlight>
              </a:rPr>
              <a:t> Dependencies Between Variables ??</a:t>
            </a:r>
          </a:p>
          <a:p>
            <a:pPr algn="ctr"/>
            <a:r>
              <a:rPr lang="en-IN" sz="3000" dirty="0">
                <a:highlight>
                  <a:srgbClr val="FFFF00"/>
                </a:highlight>
              </a:rPr>
              <a:t>And </a:t>
            </a:r>
          </a:p>
          <a:p>
            <a:pPr algn="ctr"/>
            <a:r>
              <a:rPr lang="en-US" sz="3200" dirty="0">
                <a:highlight>
                  <a:srgbClr val="FFFF00"/>
                </a:highlight>
              </a:rPr>
              <a:t>Joint Probability Distributions Define the Model</a:t>
            </a:r>
            <a:endParaRPr lang="en-IN" sz="3000" dirty="0">
              <a:highlight>
                <a:srgbClr val="FFFF00"/>
              </a:highlight>
            </a:endParaRPr>
          </a:p>
        </p:txBody>
      </p:sp>
    </p:spTree>
    <p:extLst>
      <p:ext uri="{BB962C8B-B14F-4D97-AF65-F5344CB8AC3E}">
        <p14:creationId xmlns:p14="http://schemas.microsoft.com/office/powerpoint/2010/main" val="216715896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84AB5-81BB-F121-F39E-A034A20C97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6015BA-E1CE-93DE-AA96-7CDB9CC62269}"/>
              </a:ext>
            </a:extLst>
          </p:cNvPr>
          <p:cNvSpPr txBox="1"/>
          <p:nvPr/>
        </p:nvSpPr>
        <p:spPr>
          <a:xfrm>
            <a:off x="435428" y="729736"/>
            <a:ext cx="11288486" cy="4893647"/>
          </a:xfrm>
          <a:prstGeom prst="rect">
            <a:avLst/>
          </a:prstGeom>
          <a:noFill/>
        </p:spPr>
        <p:txBody>
          <a:bodyPr wrap="square">
            <a:spAutoFit/>
          </a:bodyPr>
          <a:lstStyle/>
          <a:p>
            <a:pPr algn="ctr"/>
            <a:r>
              <a:rPr lang="en-US" sz="3200" b="1" dirty="0">
                <a:highlight>
                  <a:srgbClr val="FFFF00"/>
                </a:highlight>
              </a:rPr>
              <a:t>Probabilistic Modelling</a:t>
            </a:r>
          </a:p>
          <a:p>
            <a:pPr algn="ctr"/>
            <a:endParaRPr lang="en-IN" sz="3200" dirty="0">
              <a:highlight>
                <a:srgbClr val="FFFF00"/>
              </a:highlight>
            </a:endParaRPr>
          </a:p>
          <a:p>
            <a:pPr algn="ctr"/>
            <a:endParaRPr lang="en-IN" sz="3200" dirty="0">
              <a:highlight>
                <a:srgbClr val="FFFF00"/>
              </a:highlight>
            </a:endParaRPr>
          </a:p>
          <a:p>
            <a:pPr algn="ctr"/>
            <a:endParaRPr lang="en-IN" sz="3200" dirty="0">
              <a:highlight>
                <a:srgbClr val="FFFF00"/>
              </a:highlight>
            </a:endParaRPr>
          </a:p>
          <a:p>
            <a:pPr algn="ctr"/>
            <a:endParaRPr lang="en-IN" sz="3200" dirty="0">
              <a:highlight>
                <a:srgbClr val="FFFF00"/>
              </a:highlight>
            </a:endParaRPr>
          </a:p>
          <a:p>
            <a:pPr algn="ctr"/>
            <a:r>
              <a:rPr lang="en-IN" sz="3000" dirty="0">
                <a:highlight>
                  <a:srgbClr val="FFFF00"/>
                </a:highlight>
              </a:rPr>
              <a:t>Uncertainty in Predictions  ??</a:t>
            </a:r>
          </a:p>
          <a:p>
            <a:pPr algn="ctr"/>
            <a:r>
              <a:rPr lang="en-IN" sz="3000" dirty="0">
                <a:highlight>
                  <a:srgbClr val="FFFF00"/>
                </a:highlight>
              </a:rPr>
              <a:t> and </a:t>
            </a:r>
          </a:p>
          <a:p>
            <a:pPr algn="ctr"/>
            <a:r>
              <a:rPr lang="en-IN" sz="3000" dirty="0">
                <a:highlight>
                  <a:srgbClr val="FFFF00"/>
                </a:highlight>
              </a:rPr>
              <a:t> Dependencies Between Variables ??</a:t>
            </a:r>
          </a:p>
          <a:p>
            <a:pPr algn="ctr"/>
            <a:r>
              <a:rPr lang="en-IN" sz="3000" dirty="0">
                <a:highlight>
                  <a:srgbClr val="FFFF00"/>
                </a:highlight>
              </a:rPr>
              <a:t>And </a:t>
            </a:r>
          </a:p>
          <a:p>
            <a:pPr algn="ctr"/>
            <a:r>
              <a:rPr lang="en-US" sz="3200" dirty="0">
                <a:highlight>
                  <a:srgbClr val="FFFF00"/>
                </a:highlight>
              </a:rPr>
              <a:t>Joint Probability Distributions Define the Model</a:t>
            </a:r>
            <a:endParaRPr lang="en-IN" sz="3000" dirty="0">
              <a:highlight>
                <a:srgbClr val="FFFF00"/>
              </a:highlight>
            </a:endParaRPr>
          </a:p>
        </p:txBody>
      </p:sp>
      <p:sp>
        <p:nvSpPr>
          <p:cNvPr id="6" name="Arrow: Down 5">
            <a:extLst>
              <a:ext uri="{FF2B5EF4-FFF2-40B4-BE49-F238E27FC236}">
                <a16:creationId xmlns:a16="http://schemas.microsoft.com/office/drawing/2014/main" id="{CF21986D-B063-9C0B-3879-2024421ABF1A}"/>
              </a:ext>
            </a:extLst>
          </p:cNvPr>
          <p:cNvSpPr/>
          <p:nvPr/>
        </p:nvSpPr>
        <p:spPr>
          <a:xfrm>
            <a:off x="5508170" y="1415143"/>
            <a:ext cx="1110343" cy="16437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6246690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61A4A-DEF5-7B3C-AE95-5896AE1629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8C3587-10A2-CD51-7CBA-7D133F37CD49}"/>
              </a:ext>
            </a:extLst>
          </p:cNvPr>
          <p:cNvSpPr txBox="1"/>
          <p:nvPr/>
        </p:nvSpPr>
        <p:spPr>
          <a:xfrm>
            <a:off x="174171" y="163288"/>
            <a:ext cx="11604172" cy="5632311"/>
          </a:xfrm>
          <a:prstGeom prst="rect">
            <a:avLst/>
          </a:prstGeom>
          <a:noFill/>
        </p:spPr>
        <p:txBody>
          <a:bodyPr wrap="square">
            <a:spAutoFit/>
          </a:bodyPr>
          <a:lstStyle/>
          <a:p>
            <a:pPr>
              <a:buNone/>
            </a:pPr>
            <a:r>
              <a:rPr lang="en-US" sz="3600" b="1" dirty="0"/>
              <a:t>1. </a:t>
            </a:r>
            <a:r>
              <a:rPr lang="en-US" sz="3600" b="1" dirty="0">
                <a:highlight>
                  <a:srgbClr val="FFFF00"/>
                </a:highlight>
              </a:rPr>
              <a:t>Uncertainty in Predictions</a:t>
            </a:r>
          </a:p>
          <a:p>
            <a:pPr>
              <a:buFont typeface="Arial" panose="020B0604020202020204" pitchFamily="34" charset="0"/>
              <a:buChar char="•"/>
            </a:pPr>
            <a:r>
              <a:rPr lang="en-US" sz="3600" dirty="0"/>
              <a:t>In real-world applications, predictions are often uncertain.</a:t>
            </a:r>
          </a:p>
          <a:p>
            <a:pPr>
              <a:buFont typeface="Arial" panose="020B0604020202020204" pitchFamily="34" charset="0"/>
              <a:buChar char="•"/>
            </a:pPr>
            <a:r>
              <a:rPr lang="en-US" sz="3600" dirty="0"/>
              <a:t>Probabilistic models help us express this uncertainty using probabilities.</a:t>
            </a:r>
          </a:p>
          <a:p>
            <a:pPr>
              <a:buFont typeface="Arial" panose="020B0604020202020204" pitchFamily="34" charset="0"/>
              <a:buChar char="•"/>
            </a:pPr>
            <a:r>
              <a:rPr lang="en-US" sz="3600" dirty="0"/>
              <a:t>Instead of giving a single prediction, the model gives the likelihood of possible outcomes.</a:t>
            </a:r>
          </a:p>
          <a:p>
            <a:endParaRPr lang="en-US" sz="3600" b="1" dirty="0"/>
          </a:p>
          <a:p>
            <a:endParaRPr lang="en-US" sz="3600" dirty="0"/>
          </a:p>
          <a:p>
            <a:endParaRPr lang="en-US" sz="3600" dirty="0"/>
          </a:p>
          <a:p>
            <a:r>
              <a:rPr lang="en-US" sz="3600" dirty="0"/>
              <a:t>    </a:t>
            </a:r>
          </a:p>
        </p:txBody>
      </p:sp>
    </p:spTree>
    <p:extLst>
      <p:ext uri="{BB962C8B-B14F-4D97-AF65-F5344CB8AC3E}">
        <p14:creationId xmlns:p14="http://schemas.microsoft.com/office/powerpoint/2010/main" val="133728710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CC7EA-F486-74ED-7F66-739D03E3BBA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A3F893B-777B-352D-E101-EAAF066FB474}"/>
              </a:ext>
            </a:extLst>
          </p:cNvPr>
          <p:cNvPicPr>
            <a:picLocks noChangeAspect="1"/>
          </p:cNvPicPr>
          <p:nvPr/>
        </p:nvPicPr>
        <p:blipFill>
          <a:blip r:embed="rId2"/>
          <a:stretch>
            <a:fillRect/>
          </a:stretch>
        </p:blipFill>
        <p:spPr>
          <a:xfrm>
            <a:off x="592590" y="348343"/>
            <a:ext cx="11381696" cy="5312228"/>
          </a:xfrm>
          <a:prstGeom prst="rect">
            <a:avLst/>
          </a:prstGeom>
        </p:spPr>
      </p:pic>
    </p:spTree>
    <p:extLst>
      <p:ext uri="{BB962C8B-B14F-4D97-AF65-F5344CB8AC3E}">
        <p14:creationId xmlns:p14="http://schemas.microsoft.com/office/powerpoint/2010/main" val="71313606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4707-F319-5BF9-8AAD-38B3FF74D1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0AF543-0D69-0A08-1073-248BC2665214}"/>
              </a:ext>
            </a:extLst>
          </p:cNvPr>
          <p:cNvSpPr txBox="1"/>
          <p:nvPr/>
        </p:nvSpPr>
        <p:spPr>
          <a:xfrm>
            <a:off x="457199" y="446314"/>
            <a:ext cx="10994572" cy="5632311"/>
          </a:xfrm>
          <a:prstGeom prst="rect">
            <a:avLst/>
          </a:prstGeom>
          <a:noFill/>
        </p:spPr>
        <p:txBody>
          <a:bodyPr wrap="square">
            <a:spAutoFit/>
          </a:bodyPr>
          <a:lstStyle/>
          <a:p>
            <a:pPr>
              <a:buNone/>
            </a:pPr>
            <a:r>
              <a:rPr lang="en-US" sz="3600" b="1" dirty="0"/>
              <a:t>2. </a:t>
            </a:r>
            <a:r>
              <a:rPr lang="en-US" sz="3600" b="1" dirty="0">
                <a:highlight>
                  <a:srgbClr val="FFFF00"/>
                </a:highlight>
              </a:rPr>
              <a:t>Dependencies Between Variables</a:t>
            </a:r>
          </a:p>
          <a:p>
            <a:pPr>
              <a:buFont typeface="Arial" panose="020B0604020202020204" pitchFamily="34" charset="0"/>
              <a:buChar char="•"/>
            </a:pPr>
            <a:r>
              <a:rPr lang="en-US" sz="3600" dirty="0"/>
              <a:t>Features or input variables are often related to each other.</a:t>
            </a:r>
          </a:p>
          <a:p>
            <a:pPr>
              <a:buFont typeface="Arial" panose="020B0604020202020204" pitchFamily="34" charset="0"/>
              <a:buChar char="•"/>
            </a:pPr>
            <a:r>
              <a:rPr lang="en-US" sz="3600" dirty="0"/>
              <a:t>Probabilistic models capture these relationships using </a:t>
            </a:r>
            <a:r>
              <a:rPr lang="en-US" sz="3600" b="1" dirty="0"/>
              <a:t>joint probability distributions</a:t>
            </a:r>
            <a:r>
              <a:rPr lang="en-US" sz="3600" dirty="0"/>
              <a:t>.</a:t>
            </a:r>
          </a:p>
          <a:p>
            <a:pPr>
              <a:buFont typeface="Arial" panose="020B0604020202020204" pitchFamily="34" charset="0"/>
              <a:buChar char="•"/>
            </a:pPr>
            <a:r>
              <a:rPr lang="en-US" sz="3600" dirty="0"/>
              <a:t>This helps in better understanding and modeling the structure of the data.</a:t>
            </a:r>
          </a:p>
          <a:p>
            <a:r>
              <a:rPr lang="en-US" sz="3600" b="1" dirty="0"/>
              <a:t>Example</a:t>
            </a:r>
            <a:r>
              <a:rPr lang="en-US" sz="3600" dirty="0"/>
              <a:t>:      </a:t>
            </a:r>
            <a:r>
              <a:rPr lang="en-US" sz="3600" dirty="0">
                <a:highlight>
                  <a:srgbClr val="00FF00"/>
                </a:highlight>
              </a:rPr>
              <a:t>In medical data, the presence of one symptom may increase the chance of another. A joint model can capture this interdependence</a:t>
            </a:r>
            <a:r>
              <a:rPr lang="en-US" sz="3600" dirty="0"/>
              <a:t>.</a:t>
            </a:r>
          </a:p>
        </p:txBody>
      </p:sp>
    </p:spTree>
    <p:extLst>
      <p:ext uri="{BB962C8B-B14F-4D97-AF65-F5344CB8AC3E}">
        <p14:creationId xmlns:p14="http://schemas.microsoft.com/office/powerpoint/2010/main" val="207064402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67F56-F14F-E76E-1566-E3093AA494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458710-F2B5-909E-02D1-7DE02CE43DAD}"/>
              </a:ext>
            </a:extLst>
          </p:cNvPr>
          <p:cNvPicPr>
            <a:picLocks noChangeAspect="1"/>
          </p:cNvPicPr>
          <p:nvPr/>
        </p:nvPicPr>
        <p:blipFill>
          <a:blip r:embed="rId2"/>
          <a:stretch>
            <a:fillRect/>
          </a:stretch>
        </p:blipFill>
        <p:spPr>
          <a:xfrm>
            <a:off x="239486" y="435427"/>
            <a:ext cx="11485556" cy="5693230"/>
          </a:xfrm>
          <a:prstGeom prst="rect">
            <a:avLst/>
          </a:prstGeom>
        </p:spPr>
      </p:pic>
    </p:spTree>
    <p:extLst>
      <p:ext uri="{BB962C8B-B14F-4D97-AF65-F5344CB8AC3E}">
        <p14:creationId xmlns:p14="http://schemas.microsoft.com/office/powerpoint/2010/main" val="67305673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14AF7-B755-7A09-AC2C-49656D577F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A4862D-0753-DB2F-3F8E-C806523EB849}"/>
              </a:ext>
            </a:extLst>
          </p:cNvPr>
          <p:cNvPicPr>
            <a:picLocks noChangeAspect="1"/>
          </p:cNvPicPr>
          <p:nvPr/>
        </p:nvPicPr>
        <p:blipFill>
          <a:blip r:embed="rId2"/>
          <a:stretch>
            <a:fillRect/>
          </a:stretch>
        </p:blipFill>
        <p:spPr>
          <a:xfrm>
            <a:off x="514351" y="132102"/>
            <a:ext cx="11155136" cy="6268698"/>
          </a:xfrm>
          <a:prstGeom prst="rect">
            <a:avLst/>
          </a:prstGeom>
        </p:spPr>
      </p:pic>
      <p:sp>
        <p:nvSpPr>
          <p:cNvPr id="2" name="Rectangle 1">
            <a:extLst>
              <a:ext uri="{FF2B5EF4-FFF2-40B4-BE49-F238E27FC236}">
                <a16:creationId xmlns:a16="http://schemas.microsoft.com/office/drawing/2014/main" id="{76D4DD7D-CF1B-9DD3-9DAF-8CCA8DCA899C}"/>
              </a:ext>
            </a:extLst>
          </p:cNvPr>
          <p:cNvSpPr/>
          <p:nvPr/>
        </p:nvSpPr>
        <p:spPr>
          <a:xfrm>
            <a:off x="228600" y="3463290"/>
            <a:ext cx="11075670" cy="29375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584687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29B25-EAC7-88E8-5FFA-3423686E7D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A01DB7-7999-7E33-657B-861C808A12E3}"/>
              </a:ext>
            </a:extLst>
          </p:cNvPr>
          <p:cNvSpPr>
            <a:spLocks noChangeArrowheads="1"/>
          </p:cNvSpPr>
          <p:nvPr/>
        </p:nvSpPr>
        <p:spPr bwMode="auto">
          <a:xfrm>
            <a:off x="411480" y="798151"/>
            <a:ext cx="1122426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What Is a Joint Probability Distribution?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It tells you how </a:t>
            </a:r>
            <a:r>
              <a:rPr kumimoji="0" lang="en-US" altLang="en-US" sz="2800" b="1" i="0" u="none" strike="noStrike" cap="none" normalizeH="0" baseline="0" dirty="0">
                <a:ln>
                  <a:noFill/>
                </a:ln>
                <a:solidFill>
                  <a:schemeClr val="tx1"/>
                </a:solidFill>
                <a:effectLst/>
                <a:latin typeface="Arial" panose="020B0604020202020204" pitchFamily="34" charset="0"/>
              </a:rPr>
              <a:t>two variables behave together</a:t>
            </a:r>
            <a:r>
              <a:rPr kumimoji="0" lang="en-US" altLang="en-US" sz="2800" b="0" i="0" u="none" strike="noStrike" cap="none" normalizeH="0" baseline="0" dirty="0">
                <a:ln>
                  <a:noFill/>
                </a:ln>
                <a:solidFill>
                  <a:schemeClr val="tx1"/>
                </a:solidFill>
                <a:effectLst/>
                <a:latin typeface="Arial" panose="020B0604020202020204" pitchFamily="34" charset="0"/>
              </a:rPr>
              <a:t> — not separately.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Mathematically:</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P(X,Y)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This means:</a:t>
            </a: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2800" b="0" i="0" u="none" strike="noStrike" cap="none" normalizeH="0" baseline="0" dirty="0">
                <a:ln>
                  <a:noFill/>
                </a:ln>
                <a:solidFill>
                  <a:schemeClr val="tx1"/>
                </a:solidFill>
                <a:effectLst/>
                <a:latin typeface="Arial" panose="020B0604020202020204" pitchFamily="34" charset="0"/>
              </a:rPr>
              <a:t>“The probability that </a:t>
            </a:r>
            <a:r>
              <a:rPr kumimoji="0" lang="en-US" altLang="en-US" sz="2800" b="1" i="0" u="none" strike="noStrike" cap="none" normalizeH="0" baseline="0" dirty="0">
                <a:ln>
                  <a:noFill/>
                </a:ln>
                <a:solidFill>
                  <a:schemeClr val="tx1"/>
                </a:solidFill>
                <a:effectLst/>
                <a:latin typeface="Arial" panose="020B0604020202020204" pitchFamily="34" charset="0"/>
              </a:rPr>
              <a:t>input is X</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and</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output is Y</a:t>
            </a:r>
            <a:r>
              <a:rPr kumimoji="0" lang="en-US" altLang="en-US" sz="2800" b="0" i="0" u="none" strike="noStrike" cap="none" normalizeH="0" baseline="0" dirty="0">
                <a:ln>
                  <a:noFill/>
                </a:ln>
                <a:solidFill>
                  <a:schemeClr val="tx1"/>
                </a:solidFill>
                <a:effectLst/>
                <a:latin typeface="Arial" panose="020B0604020202020204" pitchFamily="34" charset="0"/>
              </a:rPr>
              <a:t> at the same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132125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172D4-C3B8-BDA6-8F6C-96C592B2DF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267E94-638D-43E3-563B-BCF2D4ED2C8D}"/>
              </a:ext>
            </a:extLst>
          </p:cNvPr>
          <p:cNvPicPr>
            <a:picLocks noChangeAspect="1"/>
          </p:cNvPicPr>
          <p:nvPr/>
        </p:nvPicPr>
        <p:blipFill>
          <a:blip r:embed="rId2"/>
          <a:stretch>
            <a:fillRect/>
          </a:stretch>
        </p:blipFill>
        <p:spPr>
          <a:xfrm>
            <a:off x="457200" y="240030"/>
            <a:ext cx="11247120" cy="6277927"/>
          </a:xfrm>
          <a:prstGeom prst="rect">
            <a:avLst/>
          </a:prstGeom>
        </p:spPr>
      </p:pic>
    </p:spTree>
    <p:extLst>
      <p:ext uri="{BB962C8B-B14F-4D97-AF65-F5344CB8AC3E}">
        <p14:creationId xmlns:p14="http://schemas.microsoft.com/office/powerpoint/2010/main" val="251114108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65E4-72AF-4973-FB67-C9AEAAD9F8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A5CC13-DF62-E816-068D-A6DC65386B23}"/>
              </a:ext>
            </a:extLst>
          </p:cNvPr>
          <p:cNvPicPr>
            <a:picLocks noChangeAspect="1"/>
          </p:cNvPicPr>
          <p:nvPr/>
        </p:nvPicPr>
        <p:blipFill>
          <a:blip r:embed="rId2"/>
          <a:stretch>
            <a:fillRect/>
          </a:stretch>
        </p:blipFill>
        <p:spPr>
          <a:xfrm>
            <a:off x="617220" y="525779"/>
            <a:ext cx="11087100" cy="4937761"/>
          </a:xfrm>
          <a:prstGeom prst="rect">
            <a:avLst/>
          </a:prstGeom>
        </p:spPr>
      </p:pic>
    </p:spTree>
    <p:extLst>
      <p:ext uri="{BB962C8B-B14F-4D97-AF65-F5344CB8AC3E}">
        <p14:creationId xmlns:p14="http://schemas.microsoft.com/office/powerpoint/2010/main" val="34013501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9ABD7-EB2C-FFB7-C8FF-BEB24EC5ED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C21875-7D0F-67AA-F271-8F64B14D1259}"/>
              </a:ext>
            </a:extLst>
          </p:cNvPr>
          <p:cNvPicPr>
            <a:picLocks noChangeAspect="1"/>
          </p:cNvPicPr>
          <p:nvPr/>
        </p:nvPicPr>
        <p:blipFill>
          <a:blip r:embed="rId2"/>
          <a:stretch>
            <a:fillRect/>
          </a:stretch>
        </p:blipFill>
        <p:spPr>
          <a:xfrm>
            <a:off x="697231" y="331470"/>
            <a:ext cx="11049978" cy="6104772"/>
          </a:xfrm>
          <a:prstGeom prst="rect">
            <a:avLst/>
          </a:prstGeom>
        </p:spPr>
      </p:pic>
    </p:spTree>
    <p:extLst>
      <p:ext uri="{BB962C8B-B14F-4D97-AF65-F5344CB8AC3E}">
        <p14:creationId xmlns:p14="http://schemas.microsoft.com/office/powerpoint/2010/main" val="417684292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9C97-01BE-C91A-841B-B58F4A3AAE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DF9355-7C85-BEF9-C3C0-EB008BE10BB8}"/>
              </a:ext>
            </a:extLst>
          </p:cNvPr>
          <p:cNvPicPr>
            <a:picLocks noChangeAspect="1"/>
          </p:cNvPicPr>
          <p:nvPr/>
        </p:nvPicPr>
        <p:blipFill>
          <a:blip r:embed="rId2"/>
          <a:stretch>
            <a:fillRect/>
          </a:stretch>
        </p:blipFill>
        <p:spPr>
          <a:xfrm>
            <a:off x="502921" y="422910"/>
            <a:ext cx="11155680" cy="5781446"/>
          </a:xfrm>
          <a:prstGeom prst="rect">
            <a:avLst/>
          </a:prstGeom>
        </p:spPr>
      </p:pic>
    </p:spTree>
    <p:extLst>
      <p:ext uri="{BB962C8B-B14F-4D97-AF65-F5344CB8AC3E}">
        <p14:creationId xmlns:p14="http://schemas.microsoft.com/office/powerpoint/2010/main" val="130632495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C30F9-B62D-17BC-F4E1-DF7A699F1B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B572DB-527A-94BD-E02B-D984C2E78ED4}"/>
              </a:ext>
            </a:extLst>
          </p:cNvPr>
          <p:cNvPicPr>
            <a:picLocks noChangeAspect="1"/>
          </p:cNvPicPr>
          <p:nvPr/>
        </p:nvPicPr>
        <p:blipFill>
          <a:blip r:embed="rId2"/>
          <a:stretch>
            <a:fillRect/>
          </a:stretch>
        </p:blipFill>
        <p:spPr>
          <a:xfrm>
            <a:off x="581438" y="1051560"/>
            <a:ext cx="11171334" cy="4514850"/>
          </a:xfrm>
          <a:prstGeom prst="rect">
            <a:avLst/>
          </a:prstGeom>
        </p:spPr>
      </p:pic>
    </p:spTree>
    <p:extLst>
      <p:ext uri="{BB962C8B-B14F-4D97-AF65-F5344CB8AC3E}">
        <p14:creationId xmlns:p14="http://schemas.microsoft.com/office/powerpoint/2010/main" val="271384804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94864-C1AD-9ACA-D3DA-A2FC5F251DF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04C6E1-6773-AA9D-1027-E59A3A0D71EC}"/>
              </a:ext>
            </a:extLst>
          </p:cNvPr>
          <p:cNvPicPr>
            <a:picLocks noChangeAspect="1"/>
          </p:cNvPicPr>
          <p:nvPr/>
        </p:nvPicPr>
        <p:blipFill>
          <a:blip r:embed="rId2"/>
          <a:stretch>
            <a:fillRect/>
          </a:stretch>
        </p:blipFill>
        <p:spPr>
          <a:xfrm>
            <a:off x="462914" y="388620"/>
            <a:ext cx="11460409" cy="5577840"/>
          </a:xfrm>
          <a:prstGeom prst="rect">
            <a:avLst/>
          </a:prstGeom>
        </p:spPr>
      </p:pic>
    </p:spTree>
    <p:extLst>
      <p:ext uri="{BB962C8B-B14F-4D97-AF65-F5344CB8AC3E}">
        <p14:creationId xmlns:p14="http://schemas.microsoft.com/office/powerpoint/2010/main" val="327009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872C9-F9BA-898A-B4DC-2AD3A78331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087E69-2A43-704E-360E-1D5E784036A5}"/>
              </a:ext>
            </a:extLst>
          </p:cNvPr>
          <p:cNvSpPr txBox="1"/>
          <p:nvPr/>
        </p:nvSpPr>
        <p:spPr>
          <a:xfrm>
            <a:off x="125730" y="137160"/>
            <a:ext cx="11830050" cy="6093976"/>
          </a:xfrm>
          <a:prstGeom prst="rect">
            <a:avLst/>
          </a:prstGeom>
          <a:noFill/>
        </p:spPr>
        <p:txBody>
          <a:bodyPr wrap="square">
            <a:spAutoFit/>
          </a:bodyPr>
          <a:lstStyle/>
          <a:p>
            <a:pPr>
              <a:buNone/>
            </a:pPr>
            <a:r>
              <a:rPr lang="en-US" sz="2600" b="1" dirty="0"/>
              <a:t>Questions</a:t>
            </a:r>
          </a:p>
          <a:p>
            <a:pPr>
              <a:buNone/>
            </a:pPr>
            <a:r>
              <a:rPr lang="en-US" sz="2600" b="1" dirty="0"/>
              <a:t>1. Joint Probability</a:t>
            </a:r>
            <a:endParaRPr lang="en-US" sz="2600" dirty="0"/>
          </a:p>
          <a:p>
            <a:pPr>
              <a:buNone/>
            </a:pPr>
            <a:r>
              <a:rPr lang="en-US" sz="2600" dirty="0"/>
              <a:t>(a) What is the probability that it rained </a:t>
            </a:r>
            <a:r>
              <a:rPr lang="en-US" sz="2600" b="1" dirty="0"/>
              <a:t>and</a:t>
            </a:r>
            <a:r>
              <a:rPr lang="en-US" sz="2600" dirty="0"/>
              <a:t> the person carried an umbrella?</a:t>
            </a:r>
          </a:p>
          <a:p>
            <a:r>
              <a:rPr lang="en-US" sz="2600" dirty="0"/>
              <a:t>(b) What is the probability that it did </a:t>
            </a:r>
            <a:r>
              <a:rPr lang="en-US" sz="2600" b="1" dirty="0"/>
              <a:t>not</a:t>
            </a:r>
            <a:r>
              <a:rPr lang="en-US" sz="2600" dirty="0"/>
              <a:t> rain and the person did </a:t>
            </a:r>
            <a:r>
              <a:rPr lang="en-US" sz="2600" b="1" dirty="0"/>
              <a:t>not</a:t>
            </a:r>
            <a:r>
              <a:rPr lang="en-US" sz="2600" dirty="0"/>
              <a:t> carry an umbrella?</a:t>
            </a:r>
          </a:p>
          <a:p>
            <a:endParaRPr lang="en-US" sz="2600" dirty="0"/>
          </a:p>
          <a:p>
            <a:r>
              <a:rPr lang="en-US" sz="2600" b="1" dirty="0"/>
              <a:t>2. Marginal Probability</a:t>
            </a:r>
            <a:endParaRPr lang="en-US" sz="2600" dirty="0"/>
          </a:p>
          <a:p>
            <a:r>
              <a:rPr lang="en-US" sz="2600" dirty="0"/>
              <a:t>(c) What is the probability that it rained on a given day?</a:t>
            </a:r>
          </a:p>
          <a:p>
            <a:r>
              <a:rPr lang="en-US" sz="2600" dirty="0"/>
              <a:t>(d) What is the probability that a person carried an umbrella?</a:t>
            </a:r>
          </a:p>
          <a:p>
            <a:endParaRPr lang="en-US" sz="2600" dirty="0"/>
          </a:p>
          <a:p>
            <a:endParaRPr lang="en-US" sz="2600" dirty="0"/>
          </a:p>
          <a:p>
            <a:r>
              <a:rPr lang="en-US" sz="2600" b="1" dirty="0"/>
              <a:t>3. Conditional Probability</a:t>
            </a:r>
            <a:endParaRPr lang="en-US" sz="2600" dirty="0"/>
          </a:p>
          <a:p>
            <a:r>
              <a:rPr lang="en-US" sz="2600" dirty="0"/>
              <a:t>(e) What is the probability that a person carried an umbrella </a:t>
            </a:r>
            <a:r>
              <a:rPr lang="en-US" sz="2600" b="1" dirty="0"/>
              <a:t>given that it rained</a:t>
            </a:r>
            <a:r>
              <a:rPr lang="en-US" sz="2600" dirty="0"/>
              <a:t>?</a:t>
            </a:r>
          </a:p>
          <a:p>
            <a:r>
              <a:rPr lang="en-US" sz="2600" dirty="0"/>
              <a:t>(f) What is the probability that it rained </a:t>
            </a:r>
            <a:r>
              <a:rPr lang="en-US" sz="2600" b="1" dirty="0"/>
              <a:t>given that the person carried an umbrella</a:t>
            </a:r>
            <a:r>
              <a:rPr lang="en-US" sz="2600" dirty="0"/>
              <a:t>?</a:t>
            </a:r>
          </a:p>
          <a:p>
            <a:endParaRPr lang="en-US" sz="2600" dirty="0"/>
          </a:p>
        </p:txBody>
      </p:sp>
    </p:spTree>
    <p:extLst>
      <p:ext uri="{BB962C8B-B14F-4D97-AF65-F5344CB8AC3E}">
        <p14:creationId xmlns:p14="http://schemas.microsoft.com/office/powerpoint/2010/main" val="4421842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AE807-E48E-527E-74BF-5E1ECA63C85A}"/>
            </a:ext>
          </a:extLst>
        </p:cNvPr>
        <p:cNvGrpSpPr/>
        <p:nvPr/>
      </p:nvGrpSpPr>
      <p:grpSpPr>
        <a:xfrm>
          <a:off x="0" y="0"/>
          <a:ext cx="0" cy="0"/>
          <a:chOff x="0" y="0"/>
          <a:chExt cx="0" cy="0"/>
        </a:xfrm>
      </p:grpSpPr>
    </p:spTree>
    <p:extLst>
      <p:ext uri="{BB962C8B-B14F-4D97-AF65-F5344CB8AC3E}">
        <p14:creationId xmlns:p14="http://schemas.microsoft.com/office/powerpoint/2010/main" val="169868767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14D8-2813-8898-DE37-8F639354D7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145FA8-009F-73A4-5826-03936B11BC7D}"/>
              </a:ext>
            </a:extLst>
          </p:cNvPr>
          <p:cNvSpPr txBox="1"/>
          <p:nvPr/>
        </p:nvSpPr>
        <p:spPr>
          <a:xfrm>
            <a:off x="511629" y="304801"/>
            <a:ext cx="11549742" cy="5078313"/>
          </a:xfrm>
          <a:prstGeom prst="rect">
            <a:avLst/>
          </a:prstGeom>
          <a:noFill/>
        </p:spPr>
        <p:txBody>
          <a:bodyPr wrap="square">
            <a:spAutoFit/>
          </a:bodyPr>
          <a:lstStyle/>
          <a:p>
            <a:pPr>
              <a:buNone/>
            </a:pPr>
            <a:r>
              <a:rPr lang="en-US" sz="3600" b="1" dirty="0"/>
              <a:t>What are Directed Graphical Models (DGMs)?</a:t>
            </a:r>
          </a:p>
          <a:p>
            <a:r>
              <a:rPr lang="en-US" sz="3600" dirty="0"/>
              <a:t>“A Directed Graphical Model (also called a Bayesian Network) is a probabilistic model that uses a directed acyclic graph (DAG) to represent:</a:t>
            </a:r>
          </a:p>
          <a:p>
            <a:pPr marL="571500" indent="-571500">
              <a:buFont typeface="Wingdings" panose="05000000000000000000" pitchFamily="2" charset="2"/>
              <a:buChar char="ü"/>
            </a:pPr>
            <a:r>
              <a:rPr lang="en-US" sz="3600" dirty="0"/>
              <a:t>Random variables as nodes</a:t>
            </a:r>
          </a:p>
          <a:p>
            <a:pPr marL="571500" indent="-571500">
              <a:buFont typeface="Wingdings" panose="05000000000000000000" pitchFamily="2" charset="2"/>
              <a:buChar char="ü"/>
            </a:pPr>
            <a:r>
              <a:rPr lang="en-US" sz="3600" dirty="0"/>
              <a:t>Conditional dependencies as directed edges</a:t>
            </a:r>
          </a:p>
          <a:p>
            <a:r>
              <a:rPr lang="en-US" sz="3600" dirty="0"/>
              <a:t>Each node represents a variable, and an arrow from node A to node B means that B is conditionally dependent on A.”</a:t>
            </a:r>
          </a:p>
          <a:p>
            <a:pPr>
              <a:buNone/>
            </a:pPr>
            <a:endParaRPr lang="en-US" sz="3600" dirty="0"/>
          </a:p>
        </p:txBody>
      </p:sp>
    </p:spTree>
    <p:extLst>
      <p:ext uri="{BB962C8B-B14F-4D97-AF65-F5344CB8AC3E}">
        <p14:creationId xmlns:p14="http://schemas.microsoft.com/office/powerpoint/2010/main" val="174751315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C0E6-D249-50B6-EFC2-B2BBD3DC26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210B01E-0BA9-E0FD-ED11-53D2CD9A6688}"/>
              </a:ext>
            </a:extLst>
          </p:cNvPr>
          <p:cNvSpPr>
            <a:spLocks noChangeArrowheads="1"/>
          </p:cNvSpPr>
          <p:nvPr/>
        </p:nvSpPr>
        <p:spPr bwMode="auto">
          <a:xfrm>
            <a:off x="468085" y="685152"/>
            <a:ext cx="1154974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sng" strike="noStrike" cap="none" normalizeH="0" baseline="0" dirty="0">
                <a:ln>
                  <a:noFill/>
                </a:ln>
                <a:solidFill>
                  <a:schemeClr val="tx1"/>
                </a:solidFill>
                <a:effectLst/>
                <a:latin typeface="Arial" panose="020B0604020202020204" pitchFamily="34" charset="0"/>
              </a:rPr>
              <a:t>Inference in Directed Graphical Models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36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Inference</a:t>
            </a:r>
            <a:r>
              <a:rPr kumimoji="0" lang="en-US" altLang="en-US" sz="2800" b="0" i="0" u="none" strike="noStrike" cap="none" normalizeH="0" baseline="0" dirty="0">
                <a:ln>
                  <a:noFill/>
                </a:ln>
                <a:solidFill>
                  <a:schemeClr val="tx1"/>
                </a:solidFill>
                <a:effectLst/>
                <a:latin typeface="Arial" panose="020B0604020202020204" pitchFamily="34" charset="0"/>
              </a:rPr>
              <a:t> means computing the probability of unknown variables given the known ones. &amp; as per our textbook prescribed we can say</a:t>
            </a:r>
            <a:r>
              <a:rPr kumimoji="0" lang="en-US" altLang="en-US" sz="28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highlight>
                  <a:srgbClr val="00FF00"/>
                </a:highlight>
                <a:latin typeface="Arial" panose="020B0604020202020204" pitchFamily="34" charset="0"/>
              </a:rPr>
              <a:t>Inference is the process of computing a marginal or conditional probability of interest, typically of a hidden variable, given observed evidence.</a:t>
            </a:r>
          </a:p>
        </p:txBody>
      </p:sp>
    </p:spTree>
    <p:extLst>
      <p:ext uri="{BB962C8B-B14F-4D97-AF65-F5344CB8AC3E}">
        <p14:creationId xmlns:p14="http://schemas.microsoft.com/office/powerpoint/2010/main" val="323584600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CB615-BF19-111F-21D1-D57F8A9226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204F3D-4BA3-ECA9-FF72-976A68428290}"/>
              </a:ext>
            </a:extLst>
          </p:cNvPr>
          <p:cNvSpPr txBox="1"/>
          <p:nvPr/>
        </p:nvSpPr>
        <p:spPr>
          <a:xfrm>
            <a:off x="195942" y="215665"/>
            <a:ext cx="11756571" cy="6001643"/>
          </a:xfrm>
          <a:prstGeom prst="rect">
            <a:avLst/>
          </a:prstGeom>
          <a:noFill/>
        </p:spPr>
        <p:txBody>
          <a:bodyPr wrap="square">
            <a:spAutoFit/>
          </a:bodyPr>
          <a:lstStyle/>
          <a:p>
            <a:pPr>
              <a:buNone/>
            </a:pPr>
            <a:r>
              <a:rPr lang="en-US" sz="3200" b="1" dirty="0"/>
              <a:t>Why use DGMs in Machine Learning Optimization?</a:t>
            </a:r>
          </a:p>
          <a:p>
            <a:pPr>
              <a:buNone/>
            </a:pPr>
            <a:r>
              <a:rPr lang="en-US" sz="3200" b="1" dirty="0"/>
              <a:t>a. Efficient Factorization:</a:t>
            </a:r>
          </a:p>
          <a:p>
            <a:pPr>
              <a:buNone/>
            </a:pPr>
            <a:r>
              <a:rPr lang="en-US" sz="3200" dirty="0"/>
              <a:t>By capturing </a:t>
            </a:r>
            <a:r>
              <a:rPr lang="en-US" sz="3200" b="1" dirty="0"/>
              <a:t>conditional independencies</a:t>
            </a:r>
            <a:r>
              <a:rPr lang="en-US" sz="3200" dirty="0"/>
              <a:t>, DGMs help break down complex joint distributions into </a:t>
            </a:r>
            <a:r>
              <a:rPr lang="en-US" sz="3200" b="1" dirty="0"/>
              <a:t>simpler local distributions</a:t>
            </a:r>
            <a:r>
              <a:rPr lang="en-US" sz="3200" dirty="0"/>
              <a:t>, which reduces computational complexity.</a:t>
            </a:r>
          </a:p>
          <a:p>
            <a:pPr>
              <a:buNone/>
            </a:pPr>
            <a:r>
              <a:rPr lang="en-US" sz="3200" b="1" dirty="0"/>
              <a:t>b. Optimization of Parameters:</a:t>
            </a:r>
          </a:p>
          <a:p>
            <a:pPr>
              <a:buNone/>
            </a:pPr>
            <a:r>
              <a:rPr lang="en-US" sz="3200" dirty="0"/>
              <a:t>Learning the parameters of the local conditional distributions involves:</a:t>
            </a:r>
          </a:p>
          <a:p>
            <a:pPr>
              <a:buFont typeface="Arial" panose="020B0604020202020204" pitchFamily="34" charset="0"/>
              <a:buChar char="•"/>
            </a:pPr>
            <a:r>
              <a:rPr lang="en-US" sz="3200" b="1" dirty="0"/>
              <a:t>Maximum Likelihood Estimation (MLE)</a:t>
            </a:r>
            <a:r>
              <a:rPr lang="en-US" sz="3200" dirty="0"/>
              <a:t> or</a:t>
            </a:r>
          </a:p>
          <a:p>
            <a:pPr>
              <a:buFont typeface="Arial" panose="020B0604020202020204" pitchFamily="34" charset="0"/>
              <a:buChar char="•"/>
            </a:pPr>
            <a:r>
              <a:rPr lang="en-US" sz="3200" b="1" dirty="0"/>
              <a:t>Maximum A Posteriori (MAP) estimation</a:t>
            </a:r>
            <a:endParaRPr lang="en-US" sz="3200" dirty="0"/>
          </a:p>
          <a:p>
            <a:r>
              <a:rPr lang="en-US" sz="3200" dirty="0"/>
              <a:t>These are </a:t>
            </a:r>
            <a:r>
              <a:rPr lang="en-US" sz="3200" b="1" dirty="0"/>
              <a:t>optimization problems</a:t>
            </a:r>
            <a:r>
              <a:rPr lang="en-US" sz="3200" dirty="0"/>
              <a:t>, where we maximize the log-likelihood:</a:t>
            </a:r>
          </a:p>
        </p:txBody>
      </p:sp>
    </p:spTree>
    <p:extLst>
      <p:ext uri="{BB962C8B-B14F-4D97-AF65-F5344CB8AC3E}">
        <p14:creationId xmlns:p14="http://schemas.microsoft.com/office/powerpoint/2010/main" val="377869043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57EF-27AF-547B-8A48-77BB583B39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AEA2D4-96BE-D3C6-EE58-735F7EA6D41D}"/>
              </a:ext>
            </a:extLst>
          </p:cNvPr>
          <p:cNvSpPr txBox="1"/>
          <p:nvPr/>
        </p:nvSpPr>
        <p:spPr>
          <a:xfrm>
            <a:off x="283028" y="228601"/>
            <a:ext cx="10787743" cy="1815882"/>
          </a:xfrm>
          <a:prstGeom prst="rect">
            <a:avLst/>
          </a:prstGeom>
          <a:noFill/>
        </p:spPr>
        <p:txBody>
          <a:bodyPr wrap="square">
            <a:spAutoFit/>
          </a:bodyPr>
          <a:lstStyle/>
          <a:p>
            <a:pPr algn="ctr">
              <a:buNone/>
            </a:pPr>
            <a:r>
              <a:rPr lang="en-US" sz="2800" b="1" dirty="0"/>
              <a:t>Types of Inference Tasks in DGMs </a:t>
            </a:r>
          </a:p>
          <a:p>
            <a:pPr>
              <a:buNone/>
            </a:pPr>
            <a:r>
              <a:rPr lang="en-US" sz="2800" dirty="0"/>
              <a:t>Directed Graphical Models (like Bayesian Networks) allow us to </a:t>
            </a:r>
            <a:r>
              <a:rPr lang="en-US" sz="2800" b="1" dirty="0"/>
              <a:t>infer unknown values</a:t>
            </a:r>
            <a:r>
              <a:rPr lang="en-US" sz="2800" dirty="0"/>
              <a:t> from known information using </a:t>
            </a:r>
            <a:r>
              <a:rPr lang="en-US" sz="2800" b="1" dirty="0"/>
              <a:t>probability</a:t>
            </a:r>
            <a:r>
              <a:rPr lang="en-US" sz="2800" dirty="0"/>
              <a:t>. There are three main types of inference tasks.</a:t>
            </a:r>
          </a:p>
        </p:txBody>
      </p:sp>
      <p:pic>
        <p:nvPicPr>
          <p:cNvPr id="5" name="Picture 4">
            <a:extLst>
              <a:ext uri="{FF2B5EF4-FFF2-40B4-BE49-F238E27FC236}">
                <a16:creationId xmlns:a16="http://schemas.microsoft.com/office/drawing/2014/main" id="{63983BEF-D89A-3B4E-D496-4EDACAB169B7}"/>
              </a:ext>
            </a:extLst>
          </p:cNvPr>
          <p:cNvPicPr>
            <a:picLocks noChangeAspect="1"/>
          </p:cNvPicPr>
          <p:nvPr/>
        </p:nvPicPr>
        <p:blipFill>
          <a:blip r:embed="rId2"/>
          <a:stretch>
            <a:fillRect/>
          </a:stretch>
        </p:blipFill>
        <p:spPr>
          <a:xfrm>
            <a:off x="336943" y="1981200"/>
            <a:ext cx="10911506" cy="4560179"/>
          </a:xfrm>
          <a:prstGeom prst="rect">
            <a:avLst/>
          </a:prstGeom>
        </p:spPr>
      </p:pic>
    </p:spTree>
    <p:extLst>
      <p:ext uri="{BB962C8B-B14F-4D97-AF65-F5344CB8AC3E}">
        <p14:creationId xmlns:p14="http://schemas.microsoft.com/office/powerpoint/2010/main" val="302044236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6B6AA-87C4-8344-DC9E-AD38A89F8F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7BEA294-F0F9-CB73-59D2-4ACCE3DAF5CA}"/>
              </a:ext>
            </a:extLst>
          </p:cNvPr>
          <p:cNvPicPr>
            <a:picLocks noChangeAspect="1"/>
          </p:cNvPicPr>
          <p:nvPr/>
        </p:nvPicPr>
        <p:blipFill>
          <a:blip r:embed="rId2"/>
          <a:stretch>
            <a:fillRect/>
          </a:stretch>
        </p:blipFill>
        <p:spPr>
          <a:xfrm>
            <a:off x="308590" y="500743"/>
            <a:ext cx="10649694" cy="5388427"/>
          </a:xfrm>
          <a:prstGeom prst="rect">
            <a:avLst/>
          </a:prstGeom>
        </p:spPr>
      </p:pic>
    </p:spTree>
    <p:extLst>
      <p:ext uri="{BB962C8B-B14F-4D97-AF65-F5344CB8AC3E}">
        <p14:creationId xmlns:p14="http://schemas.microsoft.com/office/powerpoint/2010/main" val="35265940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9113-73F0-AAE2-ADB3-C020EBB1DF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4D7ABCF-5F1B-397D-D440-00E686918900}"/>
              </a:ext>
            </a:extLst>
          </p:cNvPr>
          <p:cNvPicPr>
            <a:picLocks noChangeAspect="1"/>
          </p:cNvPicPr>
          <p:nvPr/>
        </p:nvPicPr>
        <p:blipFill>
          <a:blip r:embed="rId2"/>
          <a:stretch>
            <a:fillRect/>
          </a:stretch>
        </p:blipFill>
        <p:spPr>
          <a:xfrm>
            <a:off x="914401" y="478971"/>
            <a:ext cx="9960428" cy="3927540"/>
          </a:xfrm>
          <a:prstGeom prst="rect">
            <a:avLst/>
          </a:prstGeom>
        </p:spPr>
      </p:pic>
    </p:spTree>
    <p:extLst>
      <p:ext uri="{BB962C8B-B14F-4D97-AF65-F5344CB8AC3E}">
        <p14:creationId xmlns:p14="http://schemas.microsoft.com/office/powerpoint/2010/main" val="4241289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EBD82-3133-22A6-63C4-8C84FE5ABA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284CAD-71C4-CADB-11B8-C79A079B2728}"/>
              </a:ext>
            </a:extLst>
          </p:cNvPr>
          <p:cNvPicPr>
            <a:picLocks noChangeAspect="1"/>
          </p:cNvPicPr>
          <p:nvPr/>
        </p:nvPicPr>
        <p:blipFill>
          <a:blip r:embed="rId2"/>
          <a:stretch>
            <a:fillRect/>
          </a:stretch>
        </p:blipFill>
        <p:spPr>
          <a:xfrm>
            <a:off x="2438400" y="1033462"/>
            <a:ext cx="7315200" cy="4791075"/>
          </a:xfrm>
          <a:prstGeom prst="rect">
            <a:avLst/>
          </a:prstGeom>
        </p:spPr>
      </p:pic>
      <p:sp>
        <p:nvSpPr>
          <p:cNvPr id="4" name="TextBox 3">
            <a:extLst>
              <a:ext uri="{FF2B5EF4-FFF2-40B4-BE49-F238E27FC236}">
                <a16:creationId xmlns:a16="http://schemas.microsoft.com/office/drawing/2014/main" id="{95E8689F-6B7E-0CC6-DD98-6A62A99F309B}"/>
              </a:ext>
            </a:extLst>
          </p:cNvPr>
          <p:cNvSpPr txBox="1"/>
          <p:nvPr/>
        </p:nvSpPr>
        <p:spPr>
          <a:xfrm>
            <a:off x="1273629" y="381000"/>
            <a:ext cx="10014857" cy="523220"/>
          </a:xfrm>
          <a:prstGeom prst="rect">
            <a:avLst/>
          </a:prstGeom>
          <a:noFill/>
        </p:spPr>
        <p:txBody>
          <a:bodyPr wrap="square" rtlCol="0">
            <a:spAutoFit/>
          </a:bodyPr>
          <a:lstStyle/>
          <a:p>
            <a:r>
              <a:rPr lang="en-IN" sz="2800" b="1" dirty="0"/>
              <a:t>Solve for Marginal Inference in DGM DIRECTED GRAPH MODEL</a:t>
            </a:r>
          </a:p>
        </p:txBody>
      </p:sp>
    </p:spTree>
    <p:extLst>
      <p:ext uri="{BB962C8B-B14F-4D97-AF65-F5344CB8AC3E}">
        <p14:creationId xmlns:p14="http://schemas.microsoft.com/office/powerpoint/2010/main" val="258565080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A6E78-19EE-544F-7D33-15A2B75F21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097266-BFB1-6EFF-B533-55B4A286305D}"/>
              </a:ext>
            </a:extLst>
          </p:cNvPr>
          <p:cNvPicPr>
            <a:picLocks noChangeAspect="1"/>
          </p:cNvPicPr>
          <p:nvPr/>
        </p:nvPicPr>
        <p:blipFill>
          <a:blip r:embed="rId2"/>
          <a:stretch>
            <a:fillRect/>
          </a:stretch>
        </p:blipFill>
        <p:spPr>
          <a:xfrm>
            <a:off x="1752601" y="315686"/>
            <a:ext cx="8024812" cy="5399314"/>
          </a:xfrm>
          <a:prstGeom prst="rect">
            <a:avLst/>
          </a:prstGeom>
        </p:spPr>
      </p:pic>
    </p:spTree>
    <p:extLst>
      <p:ext uri="{BB962C8B-B14F-4D97-AF65-F5344CB8AC3E}">
        <p14:creationId xmlns:p14="http://schemas.microsoft.com/office/powerpoint/2010/main" val="429492016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C0A0A-845E-B1DB-C220-A156D9DF74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5DE91A-03D7-F6E7-D4B1-8F3B42BA303F}"/>
              </a:ext>
            </a:extLst>
          </p:cNvPr>
          <p:cNvPicPr>
            <a:picLocks noChangeAspect="1"/>
          </p:cNvPicPr>
          <p:nvPr/>
        </p:nvPicPr>
        <p:blipFill>
          <a:blip r:embed="rId2"/>
          <a:stretch>
            <a:fillRect/>
          </a:stretch>
        </p:blipFill>
        <p:spPr>
          <a:xfrm>
            <a:off x="1719943" y="382654"/>
            <a:ext cx="8904513" cy="5708583"/>
          </a:xfrm>
          <a:prstGeom prst="rect">
            <a:avLst/>
          </a:prstGeom>
        </p:spPr>
      </p:pic>
    </p:spTree>
    <p:extLst>
      <p:ext uri="{BB962C8B-B14F-4D97-AF65-F5344CB8AC3E}">
        <p14:creationId xmlns:p14="http://schemas.microsoft.com/office/powerpoint/2010/main" val="9561142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5BA3-F797-03E6-0C27-0305416D58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F23BBD-5E56-21CD-C555-2182C921A0A5}"/>
              </a:ext>
            </a:extLst>
          </p:cNvPr>
          <p:cNvPicPr>
            <a:picLocks noChangeAspect="1"/>
          </p:cNvPicPr>
          <p:nvPr/>
        </p:nvPicPr>
        <p:blipFill>
          <a:blip r:embed="rId2"/>
          <a:stretch>
            <a:fillRect/>
          </a:stretch>
        </p:blipFill>
        <p:spPr>
          <a:xfrm>
            <a:off x="1534885" y="646959"/>
            <a:ext cx="9546772" cy="5617200"/>
          </a:xfrm>
          <a:prstGeom prst="rect">
            <a:avLst/>
          </a:prstGeom>
        </p:spPr>
      </p:pic>
    </p:spTree>
    <p:extLst>
      <p:ext uri="{BB962C8B-B14F-4D97-AF65-F5344CB8AC3E}">
        <p14:creationId xmlns:p14="http://schemas.microsoft.com/office/powerpoint/2010/main" val="141665071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668D-537F-367D-2780-C9C465AEFB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E9CAF2-6F6E-4DDA-9308-0D332FB3C70A}"/>
              </a:ext>
            </a:extLst>
          </p:cNvPr>
          <p:cNvSpPr txBox="1"/>
          <p:nvPr/>
        </p:nvSpPr>
        <p:spPr>
          <a:xfrm>
            <a:off x="544286" y="337848"/>
            <a:ext cx="10036628" cy="2677656"/>
          </a:xfrm>
          <a:prstGeom prst="rect">
            <a:avLst/>
          </a:prstGeom>
          <a:noFill/>
        </p:spPr>
        <p:txBody>
          <a:bodyPr wrap="square">
            <a:spAutoFit/>
          </a:bodyPr>
          <a:lstStyle/>
          <a:p>
            <a:r>
              <a:rPr lang="en-IN" sz="3000" dirty="0"/>
              <a:t>What is Gradient Descent?</a:t>
            </a:r>
          </a:p>
          <a:p>
            <a:r>
              <a:rPr lang="en-US" sz="3000" b="1" dirty="0"/>
              <a:t>What is Gradient Descent?</a:t>
            </a:r>
          </a:p>
          <a:p>
            <a:r>
              <a:rPr lang="en-US" sz="3000" b="1" dirty="0"/>
              <a:t>Gradient Descent</a:t>
            </a:r>
            <a:r>
              <a:rPr lang="en-US" sz="3000" dirty="0"/>
              <a:t> is a first-order optimization algorithm used to </a:t>
            </a:r>
            <a:r>
              <a:rPr lang="en-US" sz="3000" b="1" dirty="0"/>
              <a:t>minimize the loss function</a:t>
            </a:r>
            <a:r>
              <a:rPr lang="en-US" sz="3000" dirty="0"/>
              <a:t> by iteratively updating the model parameters in the </a:t>
            </a:r>
            <a:r>
              <a:rPr lang="en-US" sz="3000" b="1" dirty="0"/>
              <a:t>opposite direction of the gradient</a:t>
            </a:r>
            <a:r>
              <a:rPr lang="en-US" sz="3000" dirty="0"/>
              <a:t>.</a:t>
            </a:r>
          </a:p>
          <a:p>
            <a:endParaRPr lang="en-IN" dirty="0"/>
          </a:p>
        </p:txBody>
      </p:sp>
      <p:pic>
        <p:nvPicPr>
          <p:cNvPr id="5" name="Picture 4">
            <a:extLst>
              <a:ext uri="{FF2B5EF4-FFF2-40B4-BE49-F238E27FC236}">
                <a16:creationId xmlns:a16="http://schemas.microsoft.com/office/drawing/2014/main" id="{1FA72CCC-88FD-CEBF-187E-F0CCDA4BB8AE}"/>
              </a:ext>
            </a:extLst>
          </p:cNvPr>
          <p:cNvPicPr>
            <a:picLocks noChangeAspect="1"/>
          </p:cNvPicPr>
          <p:nvPr/>
        </p:nvPicPr>
        <p:blipFill>
          <a:blip r:embed="rId2"/>
          <a:stretch>
            <a:fillRect/>
          </a:stretch>
        </p:blipFill>
        <p:spPr>
          <a:xfrm>
            <a:off x="1556657" y="2786743"/>
            <a:ext cx="8212995" cy="3900523"/>
          </a:xfrm>
          <a:prstGeom prst="rect">
            <a:avLst/>
          </a:prstGeom>
        </p:spPr>
      </p:pic>
    </p:spTree>
    <p:extLst>
      <p:ext uri="{BB962C8B-B14F-4D97-AF65-F5344CB8AC3E}">
        <p14:creationId xmlns:p14="http://schemas.microsoft.com/office/powerpoint/2010/main" val="410278105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B4468-8484-723B-56F1-C0748CFF8A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13D417-10E3-365B-32FA-6BD305C4AD29}"/>
              </a:ext>
            </a:extLst>
          </p:cNvPr>
          <p:cNvSpPr txBox="1"/>
          <p:nvPr/>
        </p:nvSpPr>
        <p:spPr>
          <a:xfrm>
            <a:off x="544286" y="337848"/>
            <a:ext cx="10036628" cy="2677656"/>
          </a:xfrm>
          <a:prstGeom prst="rect">
            <a:avLst/>
          </a:prstGeom>
          <a:noFill/>
        </p:spPr>
        <p:txBody>
          <a:bodyPr wrap="square">
            <a:spAutoFit/>
          </a:bodyPr>
          <a:lstStyle/>
          <a:p>
            <a:r>
              <a:rPr lang="en-IN" sz="3000" dirty="0"/>
              <a:t>What is Gradient Descent?</a:t>
            </a:r>
          </a:p>
          <a:p>
            <a:r>
              <a:rPr lang="en-US" sz="3000" b="1" dirty="0"/>
              <a:t>What is Gradient Descent?</a:t>
            </a:r>
          </a:p>
          <a:p>
            <a:r>
              <a:rPr lang="en-US" sz="3000" b="1" dirty="0"/>
              <a:t>Gradient Descent</a:t>
            </a:r>
            <a:r>
              <a:rPr lang="en-US" sz="3000" dirty="0"/>
              <a:t> is a first-order optimization algorithm used to </a:t>
            </a:r>
            <a:r>
              <a:rPr lang="en-US" sz="3000" b="1" dirty="0"/>
              <a:t>minimize the loss function</a:t>
            </a:r>
            <a:r>
              <a:rPr lang="en-US" sz="3000" dirty="0"/>
              <a:t> by iteratively updating the model parameters in the </a:t>
            </a:r>
            <a:r>
              <a:rPr lang="en-US" sz="3000" b="1" dirty="0"/>
              <a:t>opposite direction of the gradient</a:t>
            </a:r>
            <a:r>
              <a:rPr lang="en-US" sz="3000" dirty="0"/>
              <a:t>.</a:t>
            </a:r>
          </a:p>
          <a:p>
            <a:endParaRPr lang="en-IN" dirty="0"/>
          </a:p>
        </p:txBody>
      </p:sp>
      <p:pic>
        <p:nvPicPr>
          <p:cNvPr id="5" name="Picture 4">
            <a:extLst>
              <a:ext uri="{FF2B5EF4-FFF2-40B4-BE49-F238E27FC236}">
                <a16:creationId xmlns:a16="http://schemas.microsoft.com/office/drawing/2014/main" id="{FB047C01-E3F8-9A7C-5304-487B7F3D1373}"/>
              </a:ext>
            </a:extLst>
          </p:cNvPr>
          <p:cNvPicPr>
            <a:picLocks noChangeAspect="1"/>
          </p:cNvPicPr>
          <p:nvPr/>
        </p:nvPicPr>
        <p:blipFill>
          <a:blip r:embed="rId2"/>
          <a:stretch>
            <a:fillRect/>
          </a:stretch>
        </p:blipFill>
        <p:spPr>
          <a:xfrm>
            <a:off x="1556657" y="2786743"/>
            <a:ext cx="8212995" cy="3900523"/>
          </a:xfrm>
          <a:prstGeom prst="rect">
            <a:avLst/>
          </a:prstGeom>
        </p:spPr>
      </p:pic>
    </p:spTree>
    <p:extLst>
      <p:ext uri="{BB962C8B-B14F-4D97-AF65-F5344CB8AC3E}">
        <p14:creationId xmlns:p14="http://schemas.microsoft.com/office/powerpoint/2010/main" val="278995008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0AC2-E3F2-18D4-C908-FCC5B88F6A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14CA4C-3194-DBD8-9866-40936726138E}"/>
              </a:ext>
            </a:extLst>
          </p:cNvPr>
          <p:cNvSpPr txBox="1"/>
          <p:nvPr/>
        </p:nvSpPr>
        <p:spPr>
          <a:xfrm>
            <a:off x="990600" y="533400"/>
            <a:ext cx="10112829" cy="4524315"/>
          </a:xfrm>
          <a:prstGeom prst="rect">
            <a:avLst/>
          </a:prstGeom>
          <a:noFill/>
        </p:spPr>
        <p:txBody>
          <a:bodyPr wrap="square">
            <a:spAutoFit/>
          </a:bodyPr>
          <a:lstStyle/>
          <a:p>
            <a:pPr>
              <a:buNone/>
            </a:pPr>
            <a:r>
              <a:rPr lang="en-US" sz="3200" b="1" dirty="0"/>
              <a:t>3. Why Gradient Descent in ML Optimization?</a:t>
            </a:r>
          </a:p>
          <a:p>
            <a:pPr>
              <a:buNone/>
            </a:pPr>
            <a:endParaRPr lang="en-US" sz="3200" b="1" dirty="0"/>
          </a:p>
          <a:p>
            <a:pPr marL="457200" indent="-457200">
              <a:buFont typeface="Wingdings" panose="05000000000000000000" pitchFamily="2" charset="2"/>
              <a:buChar char="v"/>
            </a:pPr>
            <a:r>
              <a:rPr lang="en-US" sz="3200" dirty="0"/>
              <a:t>Many ML models </a:t>
            </a:r>
            <a:r>
              <a:rPr lang="en-US" sz="3200" b="1" dirty="0"/>
              <a:t>do not have closed-form solutions</a:t>
            </a:r>
            <a:r>
              <a:rPr lang="en-US" sz="3200" dirty="0"/>
              <a:t> (e.g., deep neural networks).</a:t>
            </a:r>
          </a:p>
          <a:p>
            <a:pPr marL="457200" indent="-457200">
              <a:buFont typeface="Wingdings" panose="05000000000000000000" pitchFamily="2" charset="2"/>
              <a:buChar char="v"/>
            </a:pPr>
            <a:endParaRPr lang="en-US" sz="3200" dirty="0"/>
          </a:p>
          <a:p>
            <a:pPr marL="457200" indent="-457200">
              <a:buFont typeface="Wingdings" panose="05000000000000000000" pitchFamily="2" charset="2"/>
              <a:buChar char="v"/>
            </a:pPr>
            <a:r>
              <a:rPr lang="en-US" sz="3200" dirty="0"/>
              <a:t>The loss surface is often </a:t>
            </a:r>
            <a:r>
              <a:rPr lang="en-US" sz="3200" b="1" dirty="0"/>
              <a:t>nonlinear</a:t>
            </a:r>
            <a:r>
              <a:rPr lang="en-US" sz="3200" dirty="0"/>
              <a:t>, so numerical optimization is needed.</a:t>
            </a:r>
          </a:p>
          <a:p>
            <a:pPr marL="457200" indent="-457200">
              <a:buFont typeface="Wingdings" panose="05000000000000000000" pitchFamily="2" charset="2"/>
              <a:buChar char="v"/>
            </a:pPr>
            <a:endParaRPr lang="en-US" sz="3200" dirty="0"/>
          </a:p>
          <a:p>
            <a:pPr marL="457200" indent="-457200">
              <a:buFont typeface="Wingdings" panose="05000000000000000000" pitchFamily="2" charset="2"/>
              <a:buChar char="v"/>
            </a:pPr>
            <a:r>
              <a:rPr lang="en-US" sz="3200" dirty="0"/>
              <a:t>Gradient Descent is </a:t>
            </a:r>
            <a:r>
              <a:rPr lang="en-US" sz="3200" b="1" dirty="0"/>
              <a:t>simple, efficient</a:t>
            </a:r>
            <a:r>
              <a:rPr lang="en-US" sz="3200" dirty="0"/>
              <a:t>, and widely used.</a:t>
            </a:r>
          </a:p>
        </p:txBody>
      </p:sp>
    </p:spTree>
    <p:extLst>
      <p:ext uri="{BB962C8B-B14F-4D97-AF65-F5344CB8AC3E}">
        <p14:creationId xmlns:p14="http://schemas.microsoft.com/office/powerpoint/2010/main" val="428160317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B97B2-C0C6-8B1B-A676-86F5F632143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E7E1A6-DD71-FCF8-6C05-5A8AF216EDCC}"/>
              </a:ext>
            </a:extLst>
          </p:cNvPr>
          <p:cNvGraphicFramePr>
            <a:graphicFrameLocks noGrp="1"/>
          </p:cNvGraphicFramePr>
          <p:nvPr>
            <p:extLst>
              <p:ext uri="{D42A27DB-BD31-4B8C-83A1-F6EECF244321}">
                <p14:modId xmlns:p14="http://schemas.microsoft.com/office/powerpoint/2010/main" val="3357170310"/>
              </p:ext>
            </p:extLst>
          </p:nvPr>
        </p:nvGraphicFramePr>
        <p:xfrm>
          <a:off x="1197429" y="925285"/>
          <a:ext cx="9731828" cy="3918860"/>
        </p:xfrm>
        <a:graphic>
          <a:graphicData uri="http://schemas.openxmlformats.org/drawingml/2006/table">
            <a:tbl>
              <a:tblPr/>
              <a:tblGrid>
                <a:gridCol w="2302952">
                  <a:extLst>
                    <a:ext uri="{9D8B030D-6E8A-4147-A177-3AD203B41FA5}">
                      <a16:colId xmlns:a16="http://schemas.microsoft.com/office/drawing/2014/main" val="2014305775"/>
                    </a:ext>
                  </a:extLst>
                </a:gridCol>
                <a:gridCol w="3714438">
                  <a:extLst>
                    <a:ext uri="{9D8B030D-6E8A-4147-A177-3AD203B41FA5}">
                      <a16:colId xmlns:a16="http://schemas.microsoft.com/office/drawing/2014/main" val="2160013878"/>
                    </a:ext>
                  </a:extLst>
                </a:gridCol>
                <a:gridCol w="3714438">
                  <a:extLst>
                    <a:ext uri="{9D8B030D-6E8A-4147-A177-3AD203B41FA5}">
                      <a16:colId xmlns:a16="http://schemas.microsoft.com/office/drawing/2014/main" val="3838664234"/>
                    </a:ext>
                  </a:extLst>
                </a:gridCol>
              </a:tblGrid>
              <a:tr h="979715">
                <a:tc>
                  <a:txBody>
                    <a:bodyPr/>
                    <a:lstStyle/>
                    <a:p>
                      <a:r>
                        <a:rPr lang="en-IN" dirty="0"/>
                        <a:t>Type</a:t>
                      </a:r>
                    </a:p>
                  </a:txBody>
                  <a:tcPr anchor="ctr">
                    <a:lnL>
                      <a:noFill/>
                    </a:lnL>
                    <a:lnR>
                      <a:noFill/>
                    </a:lnR>
                    <a:lnT>
                      <a:noFill/>
                    </a:lnT>
                    <a:lnB>
                      <a:noFill/>
                    </a:lnB>
                    <a:noFill/>
                  </a:tcPr>
                </a:tc>
                <a:tc>
                  <a:txBody>
                    <a:bodyPr/>
                    <a:lstStyle/>
                    <a:p>
                      <a:r>
                        <a:rPr lang="en-IN"/>
                        <a:t>Description</a:t>
                      </a:r>
                    </a:p>
                  </a:txBody>
                  <a:tcPr anchor="ctr">
                    <a:lnL>
                      <a:noFill/>
                    </a:lnL>
                    <a:lnR>
                      <a:noFill/>
                    </a:lnR>
                    <a:lnT>
                      <a:noFill/>
                    </a:lnT>
                    <a:lnB>
                      <a:noFill/>
                    </a:lnB>
                    <a:noFill/>
                  </a:tcPr>
                </a:tc>
                <a:tc>
                  <a:txBody>
                    <a:bodyPr/>
                    <a:lstStyle/>
                    <a:p>
                      <a:r>
                        <a:rPr lang="en-IN"/>
                        <a:t>Use Case</a:t>
                      </a:r>
                    </a:p>
                  </a:txBody>
                  <a:tcPr anchor="ctr">
                    <a:lnL>
                      <a:noFill/>
                    </a:lnL>
                    <a:lnR>
                      <a:noFill/>
                    </a:lnR>
                    <a:lnT>
                      <a:noFill/>
                    </a:lnT>
                    <a:lnB>
                      <a:noFill/>
                    </a:lnB>
                    <a:noFill/>
                  </a:tcPr>
                </a:tc>
                <a:extLst>
                  <a:ext uri="{0D108BD9-81ED-4DB2-BD59-A6C34878D82A}">
                    <a16:rowId xmlns:a16="http://schemas.microsoft.com/office/drawing/2014/main" val="1441049306"/>
                  </a:ext>
                </a:extLst>
              </a:tr>
              <a:tr h="979715">
                <a:tc>
                  <a:txBody>
                    <a:bodyPr/>
                    <a:lstStyle/>
                    <a:p>
                      <a:r>
                        <a:rPr lang="en-IN" b="1"/>
                        <a:t>Batch Gradient Descent</a:t>
                      </a:r>
                      <a:endParaRPr lang="en-IN"/>
                    </a:p>
                  </a:txBody>
                  <a:tcPr anchor="ctr">
                    <a:lnL>
                      <a:noFill/>
                    </a:lnL>
                    <a:lnR>
                      <a:noFill/>
                    </a:lnR>
                    <a:lnT>
                      <a:noFill/>
                    </a:lnT>
                    <a:lnB>
                      <a:noFill/>
                    </a:lnB>
                    <a:noFill/>
                  </a:tcPr>
                </a:tc>
                <a:tc>
                  <a:txBody>
                    <a:bodyPr/>
                    <a:lstStyle/>
                    <a:p>
                      <a:r>
                        <a:rPr lang="en-US"/>
                        <a:t>Uses all data at each step</a:t>
                      </a:r>
                    </a:p>
                  </a:txBody>
                  <a:tcPr anchor="ctr">
                    <a:lnL>
                      <a:noFill/>
                    </a:lnL>
                    <a:lnR>
                      <a:noFill/>
                    </a:lnR>
                    <a:lnT>
                      <a:noFill/>
                    </a:lnT>
                    <a:lnB>
                      <a:noFill/>
                    </a:lnB>
                    <a:noFill/>
                  </a:tcPr>
                </a:tc>
                <a:tc>
                  <a:txBody>
                    <a:bodyPr/>
                    <a:lstStyle/>
                    <a:p>
                      <a:r>
                        <a:rPr lang="en-IN"/>
                        <a:t>Small datasets</a:t>
                      </a:r>
                    </a:p>
                  </a:txBody>
                  <a:tcPr anchor="ctr">
                    <a:lnL>
                      <a:noFill/>
                    </a:lnL>
                    <a:lnR>
                      <a:noFill/>
                    </a:lnR>
                    <a:lnT>
                      <a:noFill/>
                    </a:lnT>
                    <a:lnB>
                      <a:noFill/>
                    </a:lnB>
                    <a:noFill/>
                  </a:tcPr>
                </a:tc>
                <a:extLst>
                  <a:ext uri="{0D108BD9-81ED-4DB2-BD59-A6C34878D82A}">
                    <a16:rowId xmlns:a16="http://schemas.microsoft.com/office/drawing/2014/main" val="2006107160"/>
                  </a:ext>
                </a:extLst>
              </a:tr>
              <a:tr h="979715">
                <a:tc>
                  <a:txBody>
                    <a:bodyPr/>
                    <a:lstStyle/>
                    <a:p>
                      <a:r>
                        <a:rPr lang="en-IN" b="1"/>
                        <a:t>Stochastic Gradient Descent (SGD)</a:t>
                      </a:r>
                      <a:endParaRPr lang="en-IN"/>
                    </a:p>
                  </a:txBody>
                  <a:tcPr anchor="ctr">
                    <a:lnL>
                      <a:noFill/>
                    </a:lnL>
                    <a:lnR>
                      <a:noFill/>
                    </a:lnR>
                    <a:lnT>
                      <a:noFill/>
                    </a:lnT>
                    <a:lnB>
                      <a:noFill/>
                    </a:lnB>
                    <a:noFill/>
                  </a:tcPr>
                </a:tc>
                <a:tc>
                  <a:txBody>
                    <a:bodyPr/>
                    <a:lstStyle/>
                    <a:p>
                      <a:r>
                        <a:rPr lang="en-US" dirty="0"/>
                        <a:t>Updates for each training example</a:t>
                      </a:r>
                    </a:p>
                  </a:txBody>
                  <a:tcPr anchor="ctr">
                    <a:lnL>
                      <a:noFill/>
                    </a:lnL>
                    <a:lnR>
                      <a:noFill/>
                    </a:lnR>
                    <a:lnT>
                      <a:noFill/>
                    </a:lnT>
                    <a:lnB>
                      <a:noFill/>
                    </a:lnB>
                    <a:noFill/>
                  </a:tcPr>
                </a:tc>
                <a:tc>
                  <a:txBody>
                    <a:bodyPr/>
                    <a:lstStyle/>
                    <a:p>
                      <a:r>
                        <a:rPr lang="en-IN"/>
                        <a:t>Large-scale learning</a:t>
                      </a:r>
                    </a:p>
                  </a:txBody>
                  <a:tcPr anchor="ctr">
                    <a:lnL>
                      <a:noFill/>
                    </a:lnL>
                    <a:lnR>
                      <a:noFill/>
                    </a:lnR>
                    <a:lnT>
                      <a:noFill/>
                    </a:lnT>
                    <a:lnB>
                      <a:noFill/>
                    </a:lnB>
                    <a:noFill/>
                  </a:tcPr>
                </a:tc>
                <a:extLst>
                  <a:ext uri="{0D108BD9-81ED-4DB2-BD59-A6C34878D82A}">
                    <a16:rowId xmlns:a16="http://schemas.microsoft.com/office/drawing/2014/main" val="1917612078"/>
                  </a:ext>
                </a:extLst>
              </a:tr>
              <a:tr h="979715">
                <a:tc>
                  <a:txBody>
                    <a:bodyPr/>
                    <a:lstStyle/>
                    <a:p>
                      <a:r>
                        <a:rPr lang="en-IN" b="1"/>
                        <a:t>Mini-batch Gradient Descent</a:t>
                      </a:r>
                      <a:endParaRPr lang="en-IN"/>
                    </a:p>
                  </a:txBody>
                  <a:tcPr anchor="ctr">
                    <a:lnL>
                      <a:noFill/>
                    </a:lnL>
                    <a:lnR>
                      <a:noFill/>
                    </a:lnR>
                    <a:lnT>
                      <a:noFill/>
                    </a:lnT>
                    <a:lnB>
                      <a:noFill/>
                    </a:lnB>
                    <a:noFill/>
                  </a:tcPr>
                </a:tc>
                <a:tc>
                  <a:txBody>
                    <a:bodyPr/>
                    <a:lstStyle/>
                    <a:p>
                      <a:r>
                        <a:rPr lang="en-US"/>
                        <a:t>Uses a small batch at each step</a:t>
                      </a:r>
                    </a:p>
                  </a:txBody>
                  <a:tcPr anchor="ctr">
                    <a:lnL>
                      <a:noFill/>
                    </a:lnL>
                    <a:lnR>
                      <a:noFill/>
                    </a:lnR>
                    <a:lnT>
                      <a:noFill/>
                    </a:lnT>
                    <a:lnB>
                      <a:noFill/>
                    </a:lnB>
                    <a:noFill/>
                  </a:tcPr>
                </a:tc>
                <a:tc>
                  <a:txBody>
                    <a:bodyPr/>
                    <a:lstStyle/>
                    <a:p>
                      <a:r>
                        <a:rPr lang="en-IN" dirty="0"/>
                        <a:t>Combines speed and stability</a:t>
                      </a:r>
                    </a:p>
                  </a:txBody>
                  <a:tcPr anchor="ctr">
                    <a:lnL>
                      <a:noFill/>
                    </a:lnL>
                    <a:lnR>
                      <a:noFill/>
                    </a:lnR>
                    <a:lnT>
                      <a:noFill/>
                    </a:lnT>
                    <a:lnB>
                      <a:noFill/>
                    </a:lnB>
                    <a:noFill/>
                  </a:tcPr>
                </a:tc>
                <a:extLst>
                  <a:ext uri="{0D108BD9-81ED-4DB2-BD59-A6C34878D82A}">
                    <a16:rowId xmlns:a16="http://schemas.microsoft.com/office/drawing/2014/main" val="1149419413"/>
                  </a:ext>
                </a:extLst>
              </a:tr>
            </a:tbl>
          </a:graphicData>
        </a:graphic>
      </p:graphicFrame>
    </p:spTree>
    <p:extLst>
      <p:ext uri="{BB962C8B-B14F-4D97-AF65-F5344CB8AC3E}">
        <p14:creationId xmlns:p14="http://schemas.microsoft.com/office/powerpoint/2010/main" val="405808593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CCF1-9450-594B-AD14-FF15DB51BF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DF8C7B-EAD6-0BC4-F683-348779396F68}"/>
              </a:ext>
            </a:extLst>
          </p:cNvPr>
          <p:cNvSpPr txBox="1"/>
          <p:nvPr/>
        </p:nvSpPr>
        <p:spPr>
          <a:xfrm>
            <a:off x="228599" y="76201"/>
            <a:ext cx="11854544" cy="6548514"/>
          </a:xfrm>
          <a:prstGeom prst="rect">
            <a:avLst/>
          </a:prstGeom>
          <a:noFill/>
        </p:spPr>
        <p:txBody>
          <a:bodyPr wrap="square">
            <a:spAutoFit/>
          </a:bodyPr>
          <a:lstStyle/>
          <a:p>
            <a:r>
              <a:rPr lang="en-US" sz="3200" b="1" dirty="0"/>
              <a:t>1.What is Constrained Optimization?</a:t>
            </a:r>
            <a:r>
              <a:rPr lang="en-US" sz="3200" dirty="0"/>
              <a:t> </a:t>
            </a:r>
          </a:p>
          <a:p>
            <a:r>
              <a:rPr lang="en-US" sz="3200" dirty="0"/>
              <a:t>In machine learning and optimization, constrained optimization refers to minimizing (or maximizing) an objective function </a:t>
            </a:r>
          </a:p>
          <a:p>
            <a:endParaRPr lang="en-US" sz="3200" dirty="0"/>
          </a:p>
          <a:p>
            <a:r>
              <a:rPr lang="en-US" sz="3200" dirty="0"/>
              <a:t>subject to certain restrictions (constraints).</a:t>
            </a:r>
          </a:p>
          <a:p>
            <a:r>
              <a:rPr lang="en-US" sz="3200" dirty="0"/>
              <a:t>General form: </a:t>
            </a:r>
          </a:p>
          <a:p>
            <a:r>
              <a:rPr lang="en-US" sz="3200" dirty="0"/>
              <a:t>                                      Minimize:𝑓(𝑥)</a:t>
            </a:r>
          </a:p>
          <a:p>
            <a:r>
              <a:rPr lang="en-US" sz="3200" dirty="0"/>
              <a:t>Subject to:</a:t>
            </a:r>
          </a:p>
          <a:p>
            <a:r>
              <a:rPr lang="en-US" sz="6400" dirty="0"/>
              <a:t>𝑔</a:t>
            </a:r>
            <a:r>
              <a:rPr lang="en-US" sz="6400" baseline="-25000" dirty="0"/>
              <a:t>𝑖</a:t>
            </a:r>
            <a:r>
              <a:rPr lang="en-US" sz="6400" dirty="0"/>
              <a:t>(𝑥)=0</a:t>
            </a:r>
            <a:r>
              <a:rPr lang="en-US" sz="3200" dirty="0"/>
              <a:t>(equality constraints) </a:t>
            </a:r>
          </a:p>
          <a:p>
            <a:r>
              <a:rPr lang="en-US" sz="3200" dirty="0"/>
              <a:t>and/or </a:t>
            </a:r>
          </a:p>
          <a:p>
            <a:r>
              <a:rPr lang="en-US" sz="6400" dirty="0"/>
              <a:t>ℎ</a:t>
            </a:r>
            <a:r>
              <a:rPr lang="en-US" sz="6400" baseline="-25000" dirty="0"/>
              <a:t>𝑗</a:t>
            </a:r>
            <a:r>
              <a:rPr lang="en-US" sz="6400" dirty="0"/>
              <a:t>(𝑥)≤0</a:t>
            </a:r>
            <a:r>
              <a:rPr lang="en-US" sz="3200" dirty="0"/>
              <a:t>(inequality constraints)</a:t>
            </a:r>
          </a:p>
        </p:txBody>
      </p:sp>
    </p:spTree>
    <p:extLst>
      <p:ext uri="{BB962C8B-B14F-4D97-AF65-F5344CB8AC3E}">
        <p14:creationId xmlns:p14="http://schemas.microsoft.com/office/powerpoint/2010/main" val="26280612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8F1B-C53A-7307-475C-37293A503B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01AAC5-1AFE-DC06-C776-D3C799AF62C7}"/>
              </a:ext>
            </a:extLst>
          </p:cNvPr>
          <p:cNvSpPr txBox="1"/>
          <p:nvPr/>
        </p:nvSpPr>
        <p:spPr>
          <a:xfrm>
            <a:off x="326572" y="250371"/>
            <a:ext cx="10276114" cy="3644997"/>
          </a:xfrm>
          <a:prstGeom prst="rect">
            <a:avLst/>
          </a:prstGeom>
          <a:noFill/>
        </p:spPr>
        <p:txBody>
          <a:bodyPr wrap="square">
            <a:spAutoFit/>
          </a:bodyPr>
          <a:lstStyle/>
          <a:p>
            <a:pPr>
              <a:buNone/>
            </a:pPr>
            <a:r>
              <a:rPr lang="en-US" sz="3200" b="1" dirty="0"/>
              <a:t>2. Why Constraints in Machine Learning?</a:t>
            </a:r>
          </a:p>
          <a:p>
            <a:pPr>
              <a:buNone/>
            </a:pPr>
            <a:r>
              <a:rPr lang="en-US" sz="3200" dirty="0"/>
              <a:t>Constraints arise in ML when:</a:t>
            </a:r>
          </a:p>
          <a:p>
            <a:pPr>
              <a:buFont typeface="Arial" panose="020B0604020202020204" pitchFamily="34" charset="0"/>
              <a:buChar char="•"/>
            </a:pPr>
            <a:r>
              <a:rPr lang="en-US" sz="3200" dirty="0"/>
              <a:t>Model parameters must satisfy certain conditions (e.g., probabilities must sum to 1)</a:t>
            </a:r>
          </a:p>
          <a:p>
            <a:pPr>
              <a:buFont typeface="Arial" panose="020B0604020202020204" pitchFamily="34" charset="0"/>
              <a:buChar char="•"/>
            </a:pPr>
            <a:r>
              <a:rPr lang="en-US" sz="3200" dirty="0"/>
              <a:t>Regularization introduces constraint-like behavior</a:t>
            </a:r>
          </a:p>
          <a:p>
            <a:pPr>
              <a:buFont typeface="Arial" panose="020B0604020202020204" pitchFamily="34" charset="0"/>
              <a:buChar char="•"/>
            </a:pPr>
            <a:r>
              <a:rPr lang="en-US" sz="3200" dirty="0"/>
              <a:t>Optimization is subject to resource limits (e.g., budget, time, fairness)</a:t>
            </a:r>
          </a:p>
        </p:txBody>
      </p:sp>
      <p:sp>
        <p:nvSpPr>
          <p:cNvPr id="4" name="TextBox 3">
            <a:extLst>
              <a:ext uri="{FF2B5EF4-FFF2-40B4-BE49-F238E27FC236}">
                <a16:creationId xmlns:a16="http://schemas.microsoft.com/office/drawing/2014/main" id="{2960AAFB-465C-22AA-453E-0DED53F57B97}"/>
              </a:ext>
            </a:extLst>
          </p:cNvPr>
          <p:cNvSpPr txBox="1"/>
          <p:nvPr/>
        </p:nvSpPr>
        <p:spPr>
          <a:xfrm>
            <a:off x="397192" y="4144625"/>
            <a:ext cx="11581447" cy="1754326"/>
          </a:xfrm>
          <a:prstGeom prst="rect">
            <a:avLst/>
          </a:prstGeom>
          <a:noFill/>
        </p:spPr>
        <p:txBody>
          <a:bodyPr wrap="square">
            <a:spAutoFit/>
          </a:bodyPr>
          <a:lstStyle/>
          <a:p>
            <a:r>
              <a:rPr lang="en-US" sz="3600" dirty="0"/>
              <a:t>when </a:t>
            </a:r>
            <a:r>
              <a:rPr lang="en-US" sz="3600" b="1" dirty="0"/>
              <a:t>constraints</a:t>
            </a:r>
            <a:r>
              <a:rPr lang="en-US" sz="3600" dirty="0"/>
              <a:t> are present, </a:t>
            </a:r>
            <a:r>
              <a:rPr lang="en-US" sz="3600" b="1" dirty="0"/>
              <a:t>plain gradient descent fails</a:t>
            </a:r>
            <a:r>
              <a:rPr lang="en-US" sz="3600" dirty="0"/>
              <a:t> to give a valid solution. That’s </a:t>
            </a:r>
            <a:r>
              <a:rPr lang="en-US" sz="3600" b="1" dirty="0"/>
              <a:t>why we need Lagrange multipliers</a:t>
            </a:r>
            <a:r>
              <a:rPr lang="en-US" sz="3600" dirty="0"/>
              <a:t> or similar constrained optimization techniques</a:t>
            </a:r>
            <a:r>
              <a:rPr lang="en-US" dirty="0"/>
              <a:t>.</a:t>
            </a:r>
            <a:endParaRPr lang="en-IN" dirty="0"/>
          </a:p>
        </p:txBody>
      </p:sp>
    </p:spTree>
    <p:extLst>
      <p:ext uri="{BB962C8B-B14F-4D97-AF65-F5344CB8AC3E}">
        <p14:creationId xmlns:p14="http://schemas.microsoft.com/office/powerpoint/2010/main" val="415443535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019E3-4511-6699-5A20-7C274BBA72A0}"/>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C224E11B-533B-D698-E426-62A5AC31F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810" y="0"/>
            <a:ext cx="738378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84067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4E0C9-1FE0-67BC-27BB-4985D6132961}"/>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E3351512-BC4F-0A2A-2EE6-4AF6481CF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1790" y="0"/>
            <a:ext cx="549021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13125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C1238-E82C-E86C-CF89-F6BD368B94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17D5D9-9838-9773-FFF0-B84F0402B9AE}"/>
              </a:ext>
            </a:extLst>
          </p:cNvPr>
          <p:cNvPicPr>
            <a:picLocks noChangeAspect="1"/>
          </p:cNvPicPr>
          <p:nvPr/>
        </p:nvPicPr>
        <p:blipFill>
          <a:blip r:embed="rId2"/>
          <a:stretch>
            <a:fillRect/>
          </a:stretch>
        </p:blipFill>
        <p:spPr>
          <a:xfrm>
            <a:off x="674914" y="425425"/>
            <a:ext cx="9650186" cy="5346725"/>
          </a:xfrm>
          <a:prstGeom prst="rect">
            <a:avLst/>
          </a:prstGeom>
        </p:spPr>
      </p:pic>
    </p:spTree>
    <p:extLst>
      <p:ext uri="{BB962C8B-B14F-4D97-AF65-F5344CB8AC3E}">
        <p14:creationId xmlns:p14="http://schemas.microsoft.com/office/powerpoint/2010/main" val="71598891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B9EF-AE03-A92C-A089-8E6D82A3A1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ECF28D-2302-D02B-F7DB-911118A120E8}"/>
              </a:ext>
            </a:extLst>
          </p:cNvPr>
          <p:cNvPicPr>
            <a:picLocks noChangeAspect="1"/>
          </p:cNvPicPr>
          <p:nvPr/>
        </p:nvPicPr>
        <p:blipFill>
          <a:blip r:embed="rId2"/>
          <a:stretch>
            <a:fillRect/>
          </a:stretch>
        </p:blipFill>
        <p:spPr>
          <a:xfrm>
            <a:off x="584703" y="413657"/>
            <a:ext cx="9149847" cy="5006068"/>
          </a:xfrm>
          <a:prstGeom prst="rect">
            <a:avLst/>
          </a:prstGeom>
        </p:spPr>
      </p:pic>
    </p:spTree>
    <p:extLst>
      <p:ext uri="{BB962C8B-B14F-4D97-AF65-F5344CB8AC3E}">
        <p14:creationId xmlns:p14="http://schemas.microsoft.com/office/powerpoint/2010/main" val="206024181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F056E-A6E2-FE2C-D919-662F970D9A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C25E39-B729-3E77-6FBE-63BF7164C4B3}"/>
              </a:ext>
            </a:extLst>
          </p:cNvPr>
          <p:cNvPicPr>
            <a:picLocks noChangeAspect="1"/>
          </p:cNvPicPr>
          <p:nvPr/>
        </p:nvPicPr>
        <p:blipFill>
          <a:blip r:embed="rId2"/>
          <a:stretch>
            <a:fillRect/>
          </a:stretch>
        </p:blipFill>
        <p:spPr>
          <a:xfrm>
            <a:off x="1012372" y="439348"/>
            <a:ext cx="8828314" cy="5554339"/>
          </a:xfrm>
          <a:prstGeom prst="rect">
            <a:avLst/>
          </a:prstGeom>
        </p:spPr>
      </p:pic>
    </p:spTree>
    <p:extLst>
      <p:ext uri="{BB962C8B-B14F-4D97-AF65-F5344CB8AC3E}">
        <p14:creationId xmlns:p14="http://schemas.microsoft.com/office/powerpoint/2010/main" val="301070133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8A4B3-0685-74A9-B5EE-98FE292903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F6268-3715-A8EB-0F22-0EE5F2C1B130}"/>
              </a:ext>
            </a:extLst>
          </p:cNvPr>
          <p:cNvSpPr txBox="1"/>
          <p:nvPr/>
        </p:nvSpPr>
        <p:spPr>
          <a:xfrm>
            <a:off x="609600" y="704281"/>
            <a:ext cx="10602686" cy="5078313"/>
          </a:xfrm>
          <a:prstGeom prst="rect">
            <a:avLst/>
          </a:prstGeom>
          <a:noFill/>
        </p:spPr>
        <p:txBody>
          <a:bodyPr wrap="square">
            <a:spAutoFit/>
          </a:bodyPr>
          <a:lstStyle/>
          <a:p>
            <a:pPr>
              <a:buNone/>
            </a:pPr>
            <a:r>
              <a:rPr lang="en-US" sz="3600" b="1" dirty="0"/>
              <a:t>1. What is Convex Optimization?</a:t>
            </a:r>
          </a:p>
          <a:p>
            <a:pPr>
              <a:buNone/>
            </a:pPr>
            <a:r>
              <a:rPr lang="en-US" sz="3600" b="1" dirty="0"/>
              <a:t>Convex Optimization</a:t>
            </a:r>
            <a:r>
              <a:rPr lang="en-US" sz="3600" dirty="0"/>
              <a:t> is a subfield of optimization where:</a:t>
            </a:r>
          </a:p>
          <a:p>
            <a:pPr marL="571500" indent="-571500">
              <a:buFont typeface="Wingdings" panose="05000000000000000000" pitchFamily="2" charset="2"/>
              <a:buChar char="q"/>
            </a:pPr>
            <a:r>
              <a:rPr lang="en-US" sz="3600" dirty="0"/>
              <a:t>The </a:t>
            </a:r>
            <a:r>
              <a:rPr lang="en-US" sz="3600" b="1" dirty="0"/>
              <a:t>objective function</a:t>
            </a:r>
            <a:r>
              <a:rPr lang="en-US" sz="3600" dirty="0"/>
              <a:t> is convex</a:t>
            </a:r>
          </a:p>
          <a:p>
            <a:pPr marL="571500" indent="-571500">
              <a:buFont typeface="Wingdings" panose="05000000000000000000" pitchFamily="2" charset="2"/>
              <a:buChar char="q"/>
            </a:pPr>
            <a:r>
              <a:rPr lang="en-US" sz="3600" dirty="0"/>
              <a:t>The </a:t>
            </a:r>
            <a:r>
              <a:rPr lang="en-US" sz="3600" b="1" dirty="0"/>
              <a:t>feasible region</a:t>
            </a:r>
            <a:r>
              <a:rPr lang="en-US" sz="3600" dirty="0"/>
              <a:t> (set of solutions allowed by constraints) is also convex</a:t>
            </a:r>
          </a:p>
          <a:p>
            <a:r>
              <a:rPr lang="en-US" sz="3600" dirty="0"/>
              <a:t>This structure ensures that </a:t>
            </a:r>
            <a:r>
              <a:rPr lang="en-US" sz="3600" b="1" dirty="0"/>
              <a:t>any local minimum is also a global minimum</a:t>
            </a:r>
            <a:r>
              <a:rPr lang="en-US" sz="3600" dirty="0"/>
              <a:t>, which is very desirable in machine learning.</a:t>
            </a:r>
          </a:p>
        </p:txBody>
      </p:sp>
    </p:spTree>
    <p:extLst>
      <p:ext uri="{BB962C8B-B14F-4D97-AF65-F5344CB8AC3E}">
        <p14:creationId xmlns:p14="http://schemas.microsoft.com/office/powerpoint/2010/main" val="43671249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B8D97-C3EC-4499-4915-89CF203C8B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8224B4-6366-E6C3-5DD0-FE245511AC9C}"/>
              </a:ext>
            </a:extLst>
          </p:cNvPr>
          <p:cNvPicPr>
            <a:picLocks noChangeAspect="1"/>
          </p:cNvPicPr>
          <p:nvPr/>
        </p:nvPicPr>
        <p:blipFill>
          <a:blip r:embed="rId2"/>
          <a:stretch>
            <a:fillRect/>
          </a:stretch>
        </p:blipFill>
        <p:spPr>
          <a:xfrm>
            <a:off x="699320" y="1349829"/>
            <a:ext cx="10927835" cy="3167741"/>
          </a:xfrm>
          <a:prstGeom prst="rect">
            <a:avLst/>
          </a:prstGeom>
        </p:spPr>
      </p:pic>
    </p:spTree>
    <p:extLst>
      <p:ext uri="{BB962C8B-B14F-4D97-AF65-F5344CB8AC3E}">
        <p14:creationId xmlns:p14="http://schemas.microsoft.com/office/powerpoint/2010/main" val="115322924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30559-A64D-5A6C-A06D-9A7DC1D141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096D07-A37E-917C-383D-4828FBD906D4}"/>
              </a:ext>
            </a:extLst>
          </p:cNvPr>
          <p:cNvSpPr txBox="1"/>
          <p:nvPr/>
        </p:nvSpPr>
        <p:spPr>
          <a:xfrm>
            <a:off x="707571" y="287608"/>
            <a:ext cx="9764486" cy="3970318"/>
          </a:xfrm>
          <a:prstGeom prst="rect">
            <a:avLst/>
          </a:prstGeom>
          <a:noFill/>
        </p:spPr>
        <p:txBody>
          <a:bodyPr wrap="square">
            <a:spAutoFit/>
          </a:bodyPr>
          <a:lstStyle/>
          <a:p>
            <a:pPr>
              <a:buNone/>
            </a:pPr>
            <a:r>
              <a:rPr lang="en-US" sz="3600" b="1" dirty="0"/>
              <a:t>3. Why Convex Optimization is Important in ML</a:t>
            </a:r>
          </a:p>
          <a:p>
            <a:pPr>
              <a:buNone/>
            </a:pPr>
            <a:r>
              <a:rPr lang="en-US" sz="3600" dirty="0"/>
              <a:t>Many machine learning models involve </a:t>
            </a:r>
            <a:r>
              <a:rPr lang="en-US" sz="3600" b="1" dirty="0"/>
              <a:t>minimizing a loss function</a:t>
            </a:r>
            <a:r>
              <a:rPr lang="en-US" sz="3600" dirty="0"/>
              <a:t>, and if that function is convex, we benefit from:</a:t>
            </a:r>
          </a:p>
          <a:p>
            <a:pPr marL="571500" indent="-571500">
              <a:buFont typeface="Wingdings" panose="05000000000000000000" pitchFamily="2" charset="2"/>
              <a:buChar char="q"/>
            </a:pPr>
            <a:r>
              <a:rPr lang="en-US" sz="3600" b="1" dirty="0"/>
              <a:t>Guaranteed global optimum</a:t>
            </a:r>
            <a:endParaRPr lang="en-US" sz="3600" dirty="0"/>
          </a:p>
          <a:p>
            <a:pPr marL="571500" indent="-571500">
              <a:buFont typeface="Wingdings" panose="05000000000000000000" pitchFamily="2" charset="2"/>
              <a:buChar char="q"/>
            </a:pPr>
            <a:r>
              <a:rPr lang="en-US" sz="3600" b="1" dirty="0"/>
              <a:t>Efficient algorithms</a:t>
            </a:r>
            <a:r>
              <a:rPr lang="en-US" sz="3600" dirty="0"/>
              <a:t> like gradient descent</a:t>
            </a:r>
          </a:p>
          <a:p>
            <a:pPr marL="571500" indent="-571500">
              <a:buFont typeface="Wingdings" panose="05000000000000000000" pitchFamily="2" charset="2"/>
              <a:buChar char="q"/>
            </a:pPr>
            <a:r>
              <a:rPr lang="en-US" sz="3600" b="1" dirty="0"/>
              <a:t>Well-understood convergence behavior</a:t>
            </a:r>
            <a:endParaRPr lang="en-US" sz="3600" dirty="0"/>
          </a:p>
        </p:txBody>
      </p:sp>
    </p:spTree>
    <p:extLst>
      <p:ext uri="{BB962C8B-B14F-4D97-AF65-F5344CB8AC3E}">
        <p14:creationId xmlns:p14="http://schemas.microsoft.com/office/powerpoint/2010/main" val="15667623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CB98-C549-80D4-73AF-450B47C7AE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456746-EFEC-B702-E012-5FB916FD1B8A}"/>
              </a:ext>
            </a:extLst>
          </p:cNvPr>
          <p:cNvPicPr>
            <a:picLocks noChangeAspect="1"/>
          </p:cNvPicPr>
          <p:nvPr/>
        </p:nvPicPr>
        <p:blipFill>
          <a:blip r:embed="rId2"/>
          <a:stretch>
            <a:fillRect/>
          </a:stretch>
        </p:blipFill>
        <p:spPr>
          <a:xfrm>
            <a:off x="536169" y="103001"/>
            <a:ext cx="11314208" cy="5405169"/>
          </a:xfrm>
          <a:prstGeom prst="rect">
            <a:avLst/>
          </a:prstGeom>
        </p:spPr>
      </p:pic>
    </p:spTree>
    <p:extLst>
      <p:ext uri="{BB962C8B-B14F-4D97-AF65-F5344CB8AC3E}">
        <p14:creationId xmlns:p14="http://schemas.microsoft.com/office/powerpoint/2010/main" val="312938198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A0B1-1351-CCBA-F060-1B6F096EEF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B70CE0-8485-AE1D-A8A0-F15F047CEAAB}"/>
              </a:ext>
            </a:extLst>
          </p:cNvPr>
          <p:cNvPicPr>
            <a:picLocks noChangeAspect="1"/>
          </p:cNvPicPr>
          <p:nvPr/>
        </p:nvPicPr>
        <p:blipFill>
          <a:blip r:embed="rId2"/>
          <a:stretch>
            <a:fillRect/>
          </a:stretch>
        </p:blipFill>
        <p:spPr>
          <a:xfrm>
            <a:off x="1054554" y="1963511"/>
            <a:ext cx="9047390" cy="1581150"/>
          </a:xfrm>
          <a:prstGeom prst="rect">
            <a:avLst/>
          </a:prstGeom>
        </p:spPr>
      </p:pic>
    </p:spTree>
    <p:extLst>
      <p:ext uri="{BB962C8B-B14F-4D97-AF65-F5344CB8AC3E}">
        <p14:creationId xmlns:p14="http://schemas.microsoft.com/office/powerpoint/2010/main" val="30136457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D8E90-36BB-7287-ECB4-8A6F13F19A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04DE91F-BCF6-E8F3-C358-8556F4361352}"/>
              </a:ext>
            </a:extLst>
          </p:cNvPr>
          <p:cNvPicPr>
            <a:picLocks noChangeAspect="1"/>
          </p:cNvPicPr>
          <p:nvPr/>
        </p:nvPicPr>
        <p:blipFill>
          <a:blip r:embed="rId2"/>
          <a:stretch>
            <a:fillRect/>
          </a:stretch>
        </p:blipFill>
        <p:spPr>
          <a:xfrm>
            <a:off x="1012371" y="217715"/>
            <a:ext cx="10399115" cy="6313714"/>
          </a:xfrm>
          <a:prstGeom prst="rect">
            <a:avLst/>
          </a:prstGeom>
        </p:spPr>
      </p:pic>
    </p:spTree>
    <p:extLst>
      <p:ext uri="{BB962C8B-B14F-4D97-AF65-F5344CB8AC3E}">
        <p14:creationId xmlns:p14="http://schemas.microsoft.com/office/powerpoint/2010/main" val="25299723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BFF22-4B74-6CAB-63EA-A366C6B453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3E90AB-B0EA-6FB2-C01A-CE656914F9DC}"/>
              </a:ext>
            </a:extLst>
          </p:cNvPr>
          <p:cNvPicPr>
            <a:picLocks noChangeAspect="1"/>
          </p:cNvPicPr>
          <p:nvPr/>
        </p:nvPicPr>
        <p:blipFill>
          <a:blip r:embed="rId2"/>
          <a:stretch>
            <a:fillRect/>
          </a:stretch>
        </p:blipFill>
        <p:spPr>
          <a:xfrm>
            <a:off x="1225566" y="228600"/>
            <a:ext cx="9540405" cy="6193971"/>
          </a:xfrm>
          <a:prstGeom prst="rect">
            <a:avLst/>
          </a:prstGeom>
        </p:spPr>
      </p:pic>
    </p:spTree>
    <p:extLst>
      <p:ext uri="{BB962C8B-B14F-4D97-AF65-F5344CB8AC3E}">
        <p14:creationId xmlns:p14="http://schemas.microsoft.com/office/powerpoint/2010/main" val="409341994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FA578-14D4-29B9-A225-9C6E1A363C20}"/>
            </a:ext>
          </a:extLst>
        </p:cNvPr>
        <p:cNvGrpSpPr/>
        <p:nvPr/>
      </p:nvGrpSpPr>
      <p:grpSpPr>
        <a:xfrm>
          <a:off x="0" y="0"/>
          <a:ext cx="0" cy="0"/>
          <a:chOff x="0" y="0"/>
          <a:chExt cx="0" cy="0"/>
        </a:xfrm>
      </p:grpSpPr>
      <p:sp>
        <p:nvSpPr>
          <p:cNvPr id="2" name="Isosceles Triangle 1">
            <a:extLst>
              <a:ext uri="{FF2B5EF4-FFF2-40B4-BE49-F238E27FC236}">
                <a16:creationId xmlns:a16="http://schemas.microsoft.com/office/drawing/2014/main" id="{2C16DDBD-F223-800B-6A1C-2CCC15FB4E2C}"/>
              </a:ext>
            </a:extLst>
          </p:cNvPr>
          <p:cNvSpPr/>
          <p:nvPr/>
        </p:nvSpPr>
        <p:spPr>
          <a:xfrm>
            <a:off x="1211580" y="377190"/>
            <a:ext cx="10492740" cy="5246370"/>
          </a:xfrm>
          <a:prstGeom prst="triangle">
            <a:avLst>
              <a:gd name="adj" fmla="val 45238"/>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10000" dirty="0"/>
              <a:t>THANKS</a:t>
            </a:r>
          </a:p>
        </p:txBody>
      </p:sp>
    </p:spTree>
    <p:extLst>
      <p:ext uri="{BB962C8B-B14F-4D97-AF65-F5344CB8AC3E}">
        <p14:creationId xmlns:p14="http://schemas.microsoft.com/office/powerpoint/2010/main" val="3930115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22849</TotalTime>
  <Words>5864</Words>
  <Application>Microsoft Office PowerPoint</Application>
  <PresentationFormat>Widescreen</PresentationFormat>
  <Paragraphs>506</Paragraphs>
  <Slides>197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197</vt:i4>
      </vt:variant>
    </vt:vector>
  </HeadingPairs>
  <TitlesOfParts>
    <vt:vector size="205" baseType="lpstr">
      <vt:lpstr>Arial</vt:lpstr>
      <vt:lpstr>Arial Black</vt:lpstr>
      <vt:lpstr>Arial Rounded MT Bold</vt:lpstr>
      <vt:lpstr>Calibri</vt:lpstr>
      <vt:lpstr>Calibri Light</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MANISH CHHABRA</dc:creator>
  <cp:lastModifiedBy>MANISH CHHABRA</cp:lastModifiedBy>
  <cp:revision>99</cp:revision>
  <dcterms:created xsi:type="dcterms:W3CDTF">2025-06-13T09:33:11Z</dcterms:created>
  <dcterms:modified xsi:type="dcterms:W3CDTF">2026-04-13T09:01:19Z</dcterms:modified>
</cp:coreProperties>
</file>